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Coverage depth</c:v>
                </c:pt>
              </c:strCache>
            </c:strRef>
          </c:tx>
          <c:spPr>
            <a:solidFill>
              <a:srgbClr val="065A82">
                <a:alpha val="100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Programs</c:v>
                  </c:pt>
                  <c:pt idx="1">
                    <c:v>Cardholders</c:v>
                  </c:pt>
                  <c:pt idx="2">
                    <c:v>Accounts &amp; Cards</c:v>
                  </c:pt>
                  <c:pt idx="3">
                    <c:v>Value Loads</c:v>
                  </c:pt>
                </c:lvl>
              </c:multiLvlStrCache>
            </c:multiLvlStrRef>
          </c:cat>
          <c:val>
            <c:numRef>
              <c:f>Sheet1!$B$2:$B$5</c:f>
              <c:numCache>
                <c:formatCode>General</c:formatCode>
                <c:ptCount val="4"/>
                <c:pt idx="0">
                  <c:v>50</c:v>
                </c:pt>
                <c:pt idx="1">
                  <c:v>70</c:v>
                </c:pt>
                <c:pt idx="2">
                  <c:v>85</c:v>
                </c:pt>
                <c:pt idx="3">
                  <c:v>100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A2330"/>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One line: “I built a black-box test suite for Berkeley's Card Issuing APIs, organised around money movement and risk. I'll walk the strategy, then show the Postman suite and Playwright scaffold.” Keep it to 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Land the middle one hardest: black-box is the correct posture for a third-party API, not a limitation. The framing line at the bottom is your transition into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visual is deliberately an inverted pyramid — widest where we spend the most effort. Point at the Berkeley-owned grey layer and say that's where you'd recommend white-box, which sets up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all eight. Name them, then dwell on the two highlighted cards. Money conservation: a $20 load moves exactly $20 on both sides. State transition: lost/stolen are terminal — you can't revert, and that's a real fraud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to justify the ranking. Value Loads highest because money moves; Programs lowest because it's largely read-only. The bottom callout is important — pre-empt the “what's your coverage percentage” question by reframing to risk/requirement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Playwright as the programmatic backbone, Postman as living docs + smoke. Name-drop that this reuses your existing GitHub Actions / TS / Appium experience so it's not a net-new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strongest defensive slide. The address-cooldown discovery is real evidence that exploratory black-box testing surfaces undocumented rules. Deliver the quote at the bottom verbatim — it's the thesis of the whole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answering the new question. Key nuance to say out loud: black-box performance testing measures behaviour at the boundary — latency percentiles, throughput, rate-limit and concurrency — without seeing internals. CRITICAL caveat: never load-test a payments provider's environment without explicit permission; you can trip fraud/DDoS controls and it's a contractual issue. Always staging, always with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columns left-to-right = increasing access required. Be explicit that grey and white are recommendations to Berkeley's eng org or our integration team, not things you'd claim to do today. The single most important white-box test: unit coverage on balance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Deliver the four beats as a single fluid narrative in under two minutes, then land the one-liner: if money conservation is wrong, nothing else matters. Then invite questions — and be ready for: how do you test idempotency without server access; how do you decide what NOT to automate; what's your single highest-priority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869680" y="-2011680"/>
            <a:ext cx="5669280" cy="5669280"/>
          </a:xfrm>
          <a:prstGeom prst="ellipse">
            <a:avLst/>
          </a:prstGeom>
          <a:solidFill>
            <a:srgbClr val="065A82">
              <a:alpha val="30000"/>
            </a:srgbClr>
          </a:solidFill>
          <a:ln/>
        </p:spPr>
      </p:sp>
      <p:sp>
        <p:nvSpPr>
          <p:cNvPr id="3" name="Shape 1"/>
          <p:cNvSpPr/>
          <p:nvPr/>
        </p:nvSpPr>
        <p:spPr>
          <a:xfrm>
            <a:off x="10058400" y="-914400"/>
            <a:ext cx="3474720" cy="3474720"/>
          </a:xfrm>
          <a:prstGeom prst="ellipse">
            <a:avLst/>
          </a:prstGeom>
          <a:solidFill>
            <a:srgbClr val="1C7293">
              <a:alpha val="45000"/>
            </a:srgbClr>
          </a:solidFill>
          <a:ln/>
        </p:spPr>
      </p:sp>
      <p:sp>
        <p:nvSpPr>
          <p:cNvPr id="4" name="Text 2"/>
          <p:cNvSpPr/>
          <p:nvPr/>
        </p:nvSpPr>
        <p:spPr>
          <a:xfrm>
            <a:off x="731520" y="2148840"/>
            <a:ext cx="10058400" cy="457200"/>
          </a:xfrm>
          <a:prstGeom prst="rect">
            <a:avLst/>
          </a:prstGeom>
          <a:noFill/>
          <a:ln/>
        </p:spPr>
        <p:txBody>
          <a:bodyPr wrap="square" rtlCol="0" anchor="ctr"/>
          <a:lstStyle/>
          <a:p>
            <a:pPr indent="0" marL="0">
              <a:buNone/>
            </a:pPr>
            <a:r>
              <a:rPr lang="en-US" sz="1800" b="1" spc="500" kern="0" dirty="0">
                <a:solidFill>
                  <a:srgbClr val="F2A65A"/>
                </a:solidFill>
                <a:latin typeface="Calibri" pitchFamily="34" charset="0"/>
                <a:ea typeface="Calibri" pitchFamily="34" charset="-122"/>
                <a:cs typeface="Calibri" pitchFamily="34" charset="-120"/>
              </a:rPr>
              <a:t>QA TEST STRATEGY</a:t>
            </a:r>
            <a:endParaRPr lang="en-US" sz="1800" dirty="0"/>
          </a:p>
        </p:txBody>
      </p:sp>
      <p:sp>
        <p:nvSpPr>
          <p:cNvPr id="5" name="Text 3"/>
          <p:cNvSpPr/>
          <p:nvPr/>
        </p:nvSpPr>
        <p:spPr>
          <a:xfrm>
            <a:off x="731520" y="2697480"/>
            <a:ext cx="105156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Testing the Card Issuing APIs</a:t>
            </a:r>
            <a:endParaRPr lang="en-US" sz="4400" dirty="0"/>
          </a:p>
        </p:txBody>
      </p:sp>
      <p:sp>
        <p:nvSpPr>
          <p:cNvPr id="6" name="Text 4"/>
          <p:cNvSpPr/>
          <p:nvPr/>
        </p:nvSpPr>
        <p:spPr>
          <a:xfrm>
            <a:off x="749808" y="3703320"/>
            <a:ext cx="10058400" cy="45720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Berkeley Payments · Staging Environment</a:t>
            </a:r>
            <a:endParaRPr lang="en-US" sz="2000" dirty="0"/>
          </a:p>
        </p:txBody>
      </p:sp>
      <p:sp>
        <p:nvSpPr>
          <p:cNvPr id="7" name="Shape 5"/>
          <p:cNvSpPr/>
          <p:nvPr/>
        </p:nvSpPr>
        <p:spPr>
          <a:xfrm>
            <a:off x="749808" y="4434840"/>
            <a:ext cx="1540764" cy="457200"/>
          </a:xfrm>
          <a:prstGeom prst="roundRect">
            <a:avLst>
              <a:gd name="adj" fmla="val 50000"/>
            </a:avLst>
          </a:prstGeom>
          <a:solidFill>
            <a:srgbClr val="FFFFFF">
              <a:alpha val="12000"/>
            </a:srgbClr>
          </a:solidFill>
          <a:ln w="9525">
            <a:solidFill>
              <a:srgbClr val="CADCFC"/>
            </a:solidFill>
            <a:prstDash val="solid"/>
          </a:ln>
        </p:spPr>
      </p:sp>
      <p:sp>
        <p:nvSpPr>
          <p:cNvPr id="8" name="Text 6"/>
          <p:cNvSpPr/>
          <p:nvPr/>
        </p:nvSpPr>
        <p:spPr>
          <a:xfrm>
            <a:off x="749808" y="4434840"/>
            <a:ext cx="1540764"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Cardholders</a:t>
            </a:r>
            <a:endParaRPr lang="en-US" sz="1300" dirty="0"/>
          </a:p>
        </p:txBody>
      </p:sp>
      <p:sp>
        <p:nvSpPr>
          <p:cNvPr id="9" name="Shape 7"/>
          <p:cNvSpPr/>
          <p:nvPr/>
        </p:nvSpPr>
        <p:spPr>
          <a:xfrm>
            <a:off x="2519172" y="4434840"/>
            <a:ext cx="2066544" cy="457200"/>
          </a:xfrm>
          <a:prstGeom prst="roundRect">
            <a:avLst>
              <a:gd name="adj" fmla="val 50000"/>
            </a:avLst>
          </a:prstGeom>
          <a:solidFill>
            <a:srgbClr val="FFFFFF">
              <a:alpha val="12000"/>
            </a:srgbClr>
          </a:solidFill>
          <a:ln w="9525">
            <a:solidFill>
              <a:srgbClr val="CADCFC"/>
            </a:solidFill>
            <a:prstDash val="solid"/>
          </a:ln>
        </p:spPr>
      </p:sp>
      <p:sp>
        <p:nvSpPr>
          <p:cNvPr id="10" name="Text 8"/>
          <p:cNvSpPr/>
          <p:nvPr/>
        </p:nvSpPr>
        <p:spPr>
          <a:xfrm>
            <a:off x="2519172" y="4434840"/>
            <a:ext cx="2066544"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Accounts &amp; Cards</a:t>
            </a:r>
            <a:endParaRPr lang="en-US" sz="1300" dirty="0"/>
          </a:p>
        </p:txBody>
      </p:sp>
      <p:sp>
        <p:nvSpPr>
          <p:cNvPr id="11" name="Shape 9"/>
          <p:cNvSpPr/>
          <p:nvPr/>
        </p:nvSpPr>
        <p:spPr>
          <a:xfrm>
            <a:off x="4814316" y="4434840"/>
            <a:ext cx="1540764" cy="457200"/>
          </a:xfrm>
          <a:prstGeom prst="roundRect">
            <a:avLst>
              <a:gd name="adj" fmla="val 50000"/>
            </a:avLst>
          </a:prstGeom>
          <a:solidFill>
            <a:srgbClr val="FFFFFF">
              <a:alpha val="12000"/>
            </a:srgbClr>
          </a:solidFill>
          <a:ln w="9525">
            <a:solidFill>
              <a:srgbClr val="CADCFC"/>
            </a:solidFill>
            <a:prstDash val="solid"/>
          </a:ln>
        </p:spPr>
      </p:sp>
      <p:sp>
        <p:nvSpPr>
          <p:cNvPr id="12" name="Text 10"/>
          <p:cNvSpPr/>
          <p:nvPr/>
        </p:nvSpPr>
        <p:spPr>
          <a:xfrm>
            <a:off x="4814316" y="4434840"/>
            <a:ext cx="1540764"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Value Loads</a:t>
            </a:r>
            <a:endParaRPr lang="en-US" sz="1300" dirty="0"/>
          </a:p>
        </p:txBody>
      </p:sp>
      <p:sp>
        <p:nvSpPr>
          <p:cNvPr id="13" name="Shape 11"/>
          <p:cNvSpPr/>
          <p:nvPr/>
        </p:nvSpPr>
        <p:spPr>
          <a:xfrm>
            <a:off x="6583680" y="4434840"/>
            <a:ext cx="1225296" cy="457200"/>
          </a:xfrm>
          <a:prstGeom prst="roundRect">
            <a:avLst>
              <a:gd name="adj" fmla="val 50000"/>
            </a:avLst>
          </a:prstGeom>
          <a:solidFill>
            <a:srgbClr val="FFFFFF">
              <a:alpha val="12000"/>
            </a:srgbClr>
          </a:solidFill>
          <a:ln w="9525">
            <a:solidFill>
              <a:srgbClr val="CADCFC"/>
            </a:solidFill>
            <a:prstDash val="solid"/>
          </a:ln>
        </p:spPr>
      </p:sp>
      <p:sp>
        <p:nvSpPr>
          <p:cNvPr id="14" name="Text 12"/>
          <p:cNvSpPr/>
          <p:nvPr/>
        </p:nvSpPr>
        <p:spPr>
          <a:xfrm>
            <a:off x="6583680" y="4434840"/>
            <a:ext cx="1225296"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Programs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1 · PHILOSOPHY</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Test the business flows, not just the endpoints</a:t>
            </a:r>
            <a:endParaRPr lang="en-US" sz="3200" dirty="0"/>
          </a:p>
        </p:txBody>
      </p:sp>
      <p:sp>
        <p:nvSpPr>
          <p:cNvPr id="4" name="Shape 2"/>
          <p:cNvSpPr/>
          <p:nvPr/>
        </p:nvSpPr>
        <p:spPr>
          <a:xfrm>
            <a:off x="548640" y="1828800"/>
            <a:ext cx="3520440" cy="2834640"/>
          </a:xfrm>
          <a:prstGeom prst="roundRect">
            <a:avLst>
              <a:gd name="adj" fmla="val 2581"/>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68680" y="2148840"/>
            <a:ext cx="868680" cy="868680"/>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094537" y="2374697"/>
            <a:ext cx="416966" cy="416966"/>
          </a:xfrm>
          <a:prstGeom prst="rect">
            <a:avLst/>
          </a:prstGeom>
        </p:spPr>
      </p:pic>
      <p:sp>
        <p:nvSpPr>
          <p:cNvPr id="7" name="Text 4"/>
          <p:cNvSpPr/>
          <p:nvPr/>
        </p:nvSpPr>
        <p:spPr>
          <a:xfrm>
            <a:off x="868680" y="3154680"/>
            <a:ext cx="2880360" cy="457200"/>
          </a:xfrm>
          <a:prstGeom prst="rect">
            <a:avLst/>
          </a:prstGeom>
          <a:noFill/>
          <a:ln/>
        </p:spPr>
        <p:txBody>
          <a:bodyPr wrap="square" lIns="0" tIns="0" rIns="0" bIns="0" rtlCol="0" anchor="ctr"/>
          <a:lstStyle/>
          <a:p>
            <a:pPr indent="0" marL="0">
              <a:buNone/>
            </a:pPr>
            <a:r>
              <a:rPr lang="en-US" sz="1900" b="1" dirty="0">
                <a:solidFill>
                  <a:srgbClr val="1A2330"/>
                </a:solidFill>
                <a:latin typeface="Cambria" pitchFamily="34" charset="0"/>
                <a:ea typeface="Cambria" pitchFamily="34" charset="-122"/>
                <a:cs typeface="Cambria" pitchFamily="34" charset="-120"/>
              </a:rPr>
              <a:t>Risk-based depth</a:t>
            </a:r>
            <a:endParaRPr lang="en-US" sz="1900" dirty="0"/>
          </a:p>
        </p:txBody>
      </p:sp>
      <p:sp>
        <p:nvSpPr>
          <p:cNvPr id="8" name="Text 5"/>
          <p:cNvSpPr/>
          <p:nvPr/>
        </p:nvSpPr>
        <p:spPr>
          <a:xfrm>
            <a:off x="868680" y="3657600"/>
            <a:ext cx="2880360" cy="914400"/>
          </a:xfrm>
          <a:prstGeom prst="rect">
            <a:avLst/>
          </a:prstGeom>
          <a:noFill/>
          <a:ln/>
        </p:spPr>
        <p:txBody>
          <a:bodyPr wrap="square" lIns="0" tIns="0" rIns="0" bIns="0" rtlCol="0" anchor="ctr"/>
          <a:lstStyle/>
          <a:p>
            <a:pPr indent="0" marL="0">
              <a:lnSpc>
                <a:spcPct val="105000"/>
              </a:lnSpc>
              <a:buNone/>
            </a:pPr>
            <a:r>
              <a:rPr lang="en-US" sz="1350" dirty="0">
                <a:solidFill>
                  <a:srgbClr val="6B7A8D"/>
                </a:solidFill>
                <a:latin typeface="Calibri" pitchFamily="34" charset="0"/>
                <a:ea typeface="Calibri" pitchFamily="34" charset="-122"/>
                <a:cs typeface="Calibri" pitchFamily="34" charset="-120"/>
              </a:rPr>
              <a:t>A bug in value loading or balance math is catastrophic; a pagination offset is cosmetic. Coverage follows financial and compliance risk.</a:t>
            </a:r>
            <a:endParaRPr lang="en-US" sz="1350" dirty="0"/>
          </a:p>
        </p:txBody>
      </p:sp>
      <p:sp>
        <p:nvSpPr>
          <p:cNvPr id="9" name="Shape 6"/>
          <p:cNvSpPr/>
          <p:nvPr/>
        </p:nvSpPr>
        <p:spPr>
          <a:xfrm>
            <a:off x="4343400" y="1828800"/>
            <a:ext cx="3520440" cy="2834640"/>
          </a:xfrm>
          <a:prstGeom prst="roundRect">
            <a:avLst>
              <a:gd name="adj" fmla="val 2581"/>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10" name="Shape 7"/>
          <p:cNvSpPr/>
          <p:nvPr/>
        </p:nvSpPr>
        <p:spPr>
          <a:xfrm>
            <a:off x="4663440" y="2148840"/>
            <a:ext cx="868680" cy="868680"/>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4889297" y="2374697"/>
            <a:ext cx="416966" cy="416966"/>
          </a:xfrm>
          <a:prstGeom prst="rect">
            <a:avLst/>
          </a:prstGeom>
        </p:spPr>
      </p:pic>
      <p:sp>
        <p:nvSpPr>
          <p:cNvPr id="12" name="Text 8"/>
          <p:cNvSpPr/>
          <p:nvPr/>
        </p:nvSpPr>
        <p:spPr>
          <a:xfrm>
            <a:off x="4663440" y="3154680"/>
            <a:ext cx="2880360" cy="457200"/>
          </a:xfrm>
          <a:prstGeom prst="rect">
            <a:avLst/>
          </a:prstGeom>
          <a:noFill/>
          <a:ln/>
        </p:spPr>
        <p:txBody>
          <a:bodyPr wrap="square" lIns="0" tIns="0" rIns="0" bIns="0" rtlCol="0" anchor="ctr"/>
          <a:lstStyle/>
          <a:p>
            <a:pPr indent="0" marL="0">
              <a:buNone/>
            </a:pPr>
            <a:r>
              <a:rPr lang="en-US" sz="1900" b="1" dirty="0">
                <a:solidFill>
                  <a:srgbClr val="1A2330"/>
                </a:solidFill>
                <a:latin typeface="Cambria" pitchFamily="34" charset="0"/>
                <a:ea typeface="Cambria" pitchFamily="34" charset="-122"/>
                <a:cs typeface="Cambria" pitchFamily="34" charset="-120"/>
              </a:rPr>
              <a:t>Black-box first</a:t>
            </a:r>
            <a:endParaRPr lang="en-US" sz="1900" dirty="0"/>
          </a:p>
        </p:txBody>
      </p:sp>
      <p:sp>
        <p:nvSpPr>
          <p:cNvPr id="13" name="Text 9"/>
          <p:cNvSpPr/>
          <p:nvPr/>
        </p:nvSpPr>
        <p:spPr>
          <a:xfrm>
            <a:off x="4663440" y="3657600"/>
            <a:ext cx="2880360" cy="914400"/>
          </a:xfrm>
          <a:prstGeom prst="rect">
            <a:avLst/>
          </a:prstGeom>
          <a:noFill/>
          <a:ln/>
        </p:spPr>
        <p:txBody>
          <a:bodyPr wrap="square" lIns="0" tIns="0" rIns="0" bIns="0" rtlCol="0" anchor="ctr"/>
          <a:lstStyle/>
          <a:p>
            <a:pPr indent="0" marL="0">
              <a:lnSpc>
                <a:spcPct val="105000"/>
              </a:lnSpc>
              <a:buNone/>
            </a:pPr>
            <a:r>
              <a:rPr lang="en-US" sz="1350" dirty="0">
                <a:solidFill>
                  <a:srgbClr val="6B7A8D"/>
                </a:solidFill>
                <a:latin typeface="Calibri" pitchFamily="34" charset="0"/>
                <a:ea typeface="Calibri" pitchFamily="34" charset="-122"/>
                <a:cs typeface="Calibri" pitchFamily="34" charset="-120"/>
              </a:rPr>
              <a:t>We integrate against Berkeley as a third party. We own our test data and assertions — not their source. That reflects reality.</a:t>
            </a:r>
            <a:endParaRPr lang="en-US" sz="1350" dirty="0"/>
          </a:p>
        </p:txBody>
      </p:sp>
      <p:sp>
        <p:nvSpPr>
          <p:cNvPr id="14" name="Shape 10"/>
          <p:cNvSpPr/>
          <p:nvPr/>
        </p:nvSpPr>
        <p:spPr>
          <a:xfrm>
            <a:off x="8138160" y="1828800"/>
            <a:ext cx="3520440" cy="2834640"/>
          </a:xfrm>
          <a:prstGeom prst="roundRect">
            <a:avLst>
              <a:gd name="adj" fmla="val 2581"/>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15" name="Shape 11"/>
          <p:cNvSpPr/>
          <p:nvPr/>
        </p:nvSpPr>
        <p:spPr>
          <a:xfrm>
            <a:off x="8458200" y="2148840"/>
            <a:ext cx="868680" cy="868680"/>
          </a:xfrm>
          <a:prstGeom prst="ellipse">
            <a:avLst/>
          </a:prstGeom>
          <a:solidFill>
            <a:srgbClr val="F2A65A"/>
          </a:solidFill>
          <a:ln/>
          <a:effectLst>
            <a:outerShdw sx="100000" sy="100000" kx="0" ky="0" algn="bl" rotWithShape="0" blurRad="88900" dist="381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8684057" y="2374697"/>
            <a:ext cx="416966" cy="416966"/>
          </a:xfrm>
          <a:prstGeom prst="rect">
            <a:avLst/>
          </a:prstGeom>
        </p:spPr>
      </p:pic>
      <p:sp>
        <p:nvSpPr>
          <p:cNvPr id="17" name="Text 12"/>
          <p:cNvSpPr/>
          <p:nvPr/>
        </p:nvSpPr>
        <p:spPr>
          <a:xfrm>
            <a:off x="8458200" y="3154680"/>
            <a:ext cx="2880360" cy="457200"/>
          </a:xfrm>
          <a:prstGeom prst="rect">
            <a:avLst/>
          </a:prstGeom>
          <a:noFill/>
          <a:ln/>
        </p:spPr>
        <p:txBody>
          <a:bodyPr wrap="square" lIns="0" tIns="0" rIns="0" bIns="0" rtlCol="0" anchor="ctr"/>
          <a:lstStyle/>
          <a:p>
            <a:pPr indent="0" marL="0">
              <a:buNone/>
            </a:pPr>
            <a:r>
              <a:rPr lang="en-US" sz="1900" b="1" dirty="0">
                <a:solidFill>
                  <a:srgbClr val="1A2330"/>
                </a:solidFill>
                <a:latin typeface="Cambria" pitchFamily="34" charset="0"/>
                <a:ea typeface="Cambria" pitchFamily="34" charset="-122"/>
                <a:cs typeface="Cambria" pitchFamily="34" charset="-120"/>
              </a:rPr>
              <a:t>Shift left &amp; right</a:t>
            </a:r>
            <a:endParaRPr lang="en-US" sz="1900" dirty="0"/>
          </a:p>
        </p:txBody>
      </p:sp>
      <p:sp>
        <p:nvSpPr>
          <p:cNvPr id="18" name="Text 13"/>
          <p:cNvSpPr/>
          <p:nvPr/>
        </p:nvSpPr>
        <p:spPr>
          <a:xfrm>
            <a:off x="8458200" y="3657600"/>
            <a:ext cx="2880360" cy="914400"/>
          </a:xfrm>
          <a:prstGeom prst="rect">
            <a:avLst/>
          </a:prstGeom>
          <a:noFill/>
          <a:ln/>
        </p:spPr>
        <p:txBody>
          <a:bodyPr wrap="square" lIns="0" tIns="0" rIns="0" bIns="0" rtlCol="0" anchor="ctr"/>
          <a:lstStyle/>
          <a:p>
            <a:pPr indent="0" marL="0">
              <a:lnSpc>
                <a:spcPct val="105000"/>
              </a:lnSpc>
              <a:buNone/>
            </a:pPr>
            <a:r>
              <a:rPr lang="en-US" sz="1350" dirty="0">
                <a:solidFill>
                  <a:srgbClr val="6B7A8D"/>
                </a:solidFill>
                <a:latin typeface="Calibri" pitchFamily="34" charset="0"/>
                <a:ea typeface="Calibri" pitchFamily="34" charset="-122"/>
                <a:cs typeface="Calibri" pitchFamily="34" charset="-120"/>
              </a:rPr>
              <a:t>Unit + contract tests where we own code; contract, observability and production monitoring for what we don't.</a:t>
            </a:r>
            <a:endParaRPr lang="en-US" sz="1350" dirty="0"/>
          </a:p>
        </p:txBody>
      </p:sp>
      <p:sp>
        <p:nvSpPr>
          <p:cNvPr id="19" name="Text 14"/>
          <p:cNvSpPr/>
          <p:nvPr/>
        </p:nvSpPr>
        <p:spPr>
          <a:xfrm>
            <a:off x="548640" y="5029200"/>
            <a:ext cx="11064240" cy="1005840"/>
          </a:xfrm>
          <a:prstGeom prst="rect">
            <a:avLst/>
          </a:prstGeom>
          <a:solidFill>
            <a:srgbClr val="FFF6EC"/>
          </a:solidFill>
          <a:ln w="12700">
            <a:solidFill>
              <a:srgbClr val="F2A65A"/>
            </a:solidFill>
          </a:ln>
        </p:spPr>
        <p:txBody>
          <a:bodyPr wrap="square" lIns="152400" tIns="152400" rIns="152400" bIns="152400" rtlCol="0" anchor="ctr"/>
          <a:lstStyle/>
          <a:p>
            <a:pPr algn="l" indent="0" marL="0">
              <a:buNone/>
            </a:pPr>
            <a:r>
              <a:rPr lang="en-US" sz="1450" b="1" dirty="0">
                <a:solidFill>
                  <a:srgbClr val="065A82"/>
                </a:solidFill>
                <a:latin typeface="Calibri" pitchFamily="34" charset="0"/>
                <a:ea typeface="Calibri" pitchFamily="34" charset="-122"/>
                <a:cs typeface="Calibri" pitchFamily="34" charset="-120"/>
              </a:rPr>
              <a:t>Framing line:  </a:t>
            </a:r>
            <a:pPr algn="l" indent="0" marL="0">
              <a:buNone/>
            </a:pPr>
            <a:r>
              <a:rPr lang="en-US" sz="1450" i="1" dirty="0">
                <a:solidFill>
                  <a:srgbClr val="1A2330"/>
                </a:solidFill>
                <a:latin typeface="Calibri" pitchFamily="34" charset="0"/>
                <a:ea typeface="Calibri" pitchFamily="34" charset="-122"/>
                <a:cs typeface="Calibri" pitchFamily="34" charset="-120"/>
              </a:rPr>
              <a:t>“I organised the suite around the cardholder and money-movement lifecycles, prioritised by financial risk, then treated Berkeley as a black box — layering contract and monitoring recommendations on top.”</a:t>
            </a:r>
            <a:endParaRPr lang="en-US" sz="1450" dirty="0"/>
          </a:p>
        </p:txBody>
      </p:sp>
      <p:sp>
        <p:nvSpPr>
          <p:cNvPr id="20" name="Text 15"/>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02</a:t>
            </a:r>
            <a:endParaRPr lang="en-US" sz="1000" dirty="0"/>
          </a:p>
        </p:txBody>
      </p:sp>
      <p:sp>
        <p:nvSpPr>
          <p:cNvPr id="21" name="Text 16"/>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2 · HOW IT TIES TOGETHER</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A layered model — the pyramid is inverted</a:t>
            </a:r>
            <a:endParaRPr lang="en-US" sz="3200" dirty="0"/>
          </a:p>
        </p:txBody>
      </p:sp>
      <p:sp>
        <p:nvSpPr>
          <p:cNvPr id="4" name="Shape 2"/>
          <p:cNvSpPr/>
          <p:nvPr/>
        </p:nvSpPr>
        <p:spPr>
          <a:xfrm>
            <a:off x="548640" y="1874520"/>
            <a:ext cx="4206240" cy="566928"/>
          </a:xfrm>
          <a:prstGeom prst="roundRect">
            <a:avLst>
              <a:gd name="adj" fmla="val 8065"/>
            </a:avLst>
          </a:prstGeom>
          <a:solidFill>
            <a:srgbClr val="065A82"/>
          </a:solidFill>
          <a:ln/>
        </p:spPr>
      </p:sp>
      <p:sp>
        <p:nvSpPr>
          <p:cNvPr id="5" name="Text 3"/>
          <p:cNvSpPr/>
          <p:nvPr/>
        </p:nvSpPr>
        <p:spPr>
          <a:xfrm>
            <a:off x="713232" y="1874520"/>
            <a:ext cx="39319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E2E / Journey</a:t>
            </a:r>
            <a:endParaRPr lang="en-US" sz="1250" dirty="0"/>
          </a:p>
        </p:txBody>
      </p:sp>
      <p:sp>
        <p:nvSpPr>
          <p:cNvPr id="6" name="Shape 4"/>
          <p:cNvSpPr/>
          <p:nvPr/>
        </p:nvSpPr>
        <p:spPr>
          <a:xfrm>
            <a:off x="548640" y="2606040"/>
            <a:ext cx="3840480" cy="566928"/>
          </a:xfrm>
          <a:prstGeom prst="roundRect">
            <a:avLst>
              <a:gd name="adj" fmla="val 8065"/>
            </a:avLst>
          </a:prstGeom>
          <a:solidFill>
            <a:srgbClr val="1C7293"/>
          </a:solidFill>
          <a:ln/>
        </p:spPr>
      </p:sp>
      <p:sp>
        <p:nvSpPr>
          <p:cNvPr id="7" name="Text 5"/>
          <p:cNvSpPr/>
          <p:nvPr/>
        </p:nvSpPr>
        <p:spPr>
          <a:xfrm>
            <a:off x="713232" y="2606040"/>
            <a:ext cx="356616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API / Integration</a:t>
            </a:r>
            <a:endParaRPr lang="en-US" sz="1250" dirty="0"/>
          </a:p>
        </p:txBody>
      </p:sp>
      <p:sp>
        <p:nvSpPr>
          <p:cNvPr id="8" name="Shape 6"/>
          <p:cNvSpPr/>
          <p:nvPr/>
        </p:nvSpPr>
        <p:spPr>
          <a:xfrm>
            <a:off x="548640" y="3337560"/>
            <a:ext cx="3108960" cy="566928"/>
          </a:xfrm>
          <a:prstGeom prst="roundRect">
            <a:avLst>
              <a:gd name="adj" fmla="val 8065"/>
            </a:avLst>
          </a:prstGeom>
          <a:solidFill>
            <a:srgbClr val="3E8FA8"/>
          </a:solidFill>
          <a:ln/>
        </p:spPr>
      </p:sp>
      <p:sp>
        <p:nvSpPr>
          <p:cNvPr id="9" name="Text 7"/>
          <p:cNvSpPr/>
          <p:nvPr/>
        </p:nvSpPr>
        <p:spPr>
          <a:xfrm>
            <a:off x="713232" y="3337560"/>
            <a:ext cx="283464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Contract</a:t>
            </a:r>
            <a:endParaRPr lang="en-US" sz="1250" dirty="0"/>
          </a:p>
        </p:txBody>
      </p:sp>
      <p:sp>
        <p:nvSpPr>
          <p:cNvPr id="10" name="Shape 8"/>
          <p:cNvSpPr/>
          <p:nvPr/>
        </p:nvSpPr>
        <p:spPr>
          <a:xfrm>
            <a:off x="548640" y="4069080"/>
            <a:ext cx="2377440" cy="566928"/>
          </a:xfrm>
          <a:prstGeom prst="roundRect">
            <a:avLst>
              <a:gd name="adj" fmla="val 8065"/>
            </a:avLst>
          </a:prstGeom>
          <a:solidFill>
            <a:srgbClr val="6FA9BE"/>
          </a:solidFill>
          <a:ln/>
        </p:spPr>
      </p:sp>
      <p:sp>
        <p:nvSpPr>
          <p:cNvPr id="11" name="Text 9"/>
          <p:cNvSpPr/>
          <p:nvPr/>
        </p:nvSpPr>
        <p:spPr>
          <a:xfrm>
            <a:off x="3063240" y="4069080"/>
            <a:ext cx="2926080" cy="566928"/>
          </a:xfrm>
          <a:prstGeom prst="rect">
            <a:avLst/>
          </a:prstGeom>
          <a:noFill/>
          <a:ln/>
        </p:spPr>
        <p:txBody>
          <a:bodyPr wrap="square" lIns="0" tIns="0" rIns="0" bIns="0" rtlCol="0" anchor="ctr"/>
          <a:lstStyle/>
          <a:p>
            <a:pPr indent="0" marL="0">
              <a:buNone/>
            </a:pPr>
            <a:r>
              <a:rPr lang="en-US" sz="1250" b="1" dirty="0">
                <a:solidFill>
                  <a:srgbClr val="1A2330"/>
                </a:solidFill>
                <a:latin typeface="Calibri" pitchFamily="34" charset="0"/>
                <a:ea typeface="Calibri" pitchFamily="34" charset="-122"/>
                <a:cs typeface="Calibri" pitchFamily="34" charset="-120"/>
              </a:rPr>
              <a:t>Unit (our glue code)</a:t>
            </a:r>
            <a:endParaRPr lang="en-US" sz="1250" dirty="0"/>
          </a:p>
        </p:txBody>
      </p:sp>
      <p:sp>
        <p:nvSpPr>
          <p:cNvPr id="12" name="Shape 10"/>
          <p:cNvSpPr/>
          <p:nvPr/>
        </p:nvSpPr>
        <p:spPr>
          <a:xfrm>
            <a:off x="548640" y="4800600"/>
            <a:ext cx="1645920" cy="566928"/>
          </a:xfrm>
          <a:prstGeom prst="roundRect">
            <a:avLst>
              <a:gd name="adj" fmla="val 8065"/>
            </a:avLst>
          </a:prstGeom>
          <a:solidFill>
            <a:srgbClr val="6B7A8D"/>
          </a:solidFill>
          <a:ln/>
        </p:spPr>
      </p:sp>
      <p:sp>
        <p:nvSpPr>
          <p:cNvPr id="13" name="Text 11"/>
          <p:cNvSpPr/>
          <p:nvPr/>
        </p:nvSpPr>
        <p:spPr>
          <a:xfrm>
            <a:off x="2331720" y="4800600"/>
            <a:ext cx="2926080" cy="566928"/>
          </a:xfrm>
          <a:prstGeom prst="rect">
            <a:avLst/>
          </a:prstGeom>
          <a:noFill/>
          <a:ln/>
        </p:spPr>
        <p:txBody>
          <a:bodyPr wrap="square" lIns="0" tIns="0" rIns="0" bIns="0" rtlCol="0" anchor="ctr"/>
          <a:lstStyle/>
          <a:p>
            <a:pPr indent="0" marL="0">
              <a:buNone/>
            </a:pPr>
            <a:r>
              <a:rPr lang="en-US" sz="1250" b="1" dirty="0">
                <a:solidFill>
                  <a:srgbClr val="1A2330"/>
                </a:solidFill>
                <a:latin typeface="Calibri" pitchFamily="34" charset="0"/>
                <a:ea typeface="Calibri" pitchFamily="34" charset="-122"/>
                <a:cs typeface="Calibri" pitchFamily="34" charset="-120"/>
              </a:rPr>
              <a:t>Service / Unit (Berkeley)</a:t>
            </a:r>
            <a:endParaRPr lang="en-US" sz="1250" dirty="0"/>
          </a:p>
        </p:txBody>
      </p:sp>
      <p:sp>
        <p:nvSpPr>
          <p:cNvPr id="14" name="Text 12"/>
          <p:cNvSpPr/>
          <p:nvPr/>
        </p:nvSpPr>
        <p:spPr>
          <a:xfrm>
            <a:off x="548640" y="5550408"/>
            <a:ext cx="4937760" cy="365760"/>
          </a:xfrm>
          <a:prstGeom prst="rect">
            <a:avLst/>
          </a:prstGeom>
          <a:noFill/>
          <a:ln/>
        </p:spPr>
        <p:txBody>
          <a:bodyPr wrap="square" lIns="0" tIns="0" rIns="0" bIns="0" rtlCol="0" anchor="ctr"/>
          <a:lstStyle/>
          <a:p>
            <a:pPr indent="0" marL="0">
              <a:buNone/>
            </a:pPr>
            <a:r>
              <a:rPr lang="en-US" sz="1150" i="1" dirty="0">
                <a:solidFill>
                  <a:srgbClr val="6B7A8D"/>
                </a:solidFill>
                <a:latin typeface="Calibri" pitchFamily="34" charset="0"/>
                <a:ea typeface="Calibri" pitchFamily="34" charset="-122"/>
                <a:cs typeface="Calibri" pitchFamily="34" charset="-120"/>
              </a:rPr>
              <a:t>Monitoring / synthetic wraps all of it in production</a:t>
            </a:r>
            <a:endParaRPr lang="en-US" sz="1150" dirty="0"/>
          </a:p>
        </p:txBody>
      </p:sp>
      <p:sp>
        <p:nvSpPr>
          <p:cNvPr id="15" name="Text 13"/>
          <p:cNvSpPr/>
          <p:nvPr/>
        </p:nvSpPr>
        <p:spPr>
          <a:xfrm>
            <a:off x="4892040" y="1874520"/>
            <a:ext cx="1463040" cy="566928"/>
          </a:xfrm>
          <a:prstGeom prst="rect">
            <a:avLst/>
          </a:prstGeom>
          <a:noFill/>
          <a:ln/>
        </p:spPr>
        <p:txBody>
          <a:bodyPr wrap="square" lIns="0" tIns="0" rIns="0" bIns="0" rtlCol="0" anchor="ctr"/>
          <a:lstStyle/>
          <a:p>
            <a:pPr indent="0" marL="0">
              <a:buNone/>
            </a:pPr>
            <a:r>
              <a:rPr lang="en-US" sz="1100" b="1" dirty="0">
                <a:solidFill>
                  <a:srgbClr val="065A82"/>
                </a:solidFill>
                <a:latin typeface="Calibri" pitchFamily="34" charset="0"/>
                <a:ea typeface="Calibri" pitchFamily="34" charset="-122"/>
                <a:cs typeface="Calibri" pitchFamily="34" charset="-120"/>
              </a:rPr>
              <a:t>↑  Most of OUR effort</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583680" y="1874520"/>
          <a:ext cx="5029200" cy="914400"/>
        </p:xfrm>
        <a:graphic>
          <a:graphicData uri="http://schemas.openxmlformats.org/drawingml/2006/table">
            <a:tbl>
              <a:tblPr/>
              <a:tblGrid>
                <a:gridCol w="2194560"/>
                <a:gridCol w="283464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Layer</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21295C"/>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Owner / feasibility</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21295C"/>
                    </a:solidFill>
                  </a:tcPr>
                </a:tc>
              </a:tr>
              <a:tr h="457200">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E2E &amp; API tests</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Us — feasible now (black-box)</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Contract tests</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Us — recommend (Pact)</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Unit: our glue code</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Us — recommend (Jest/Vitest)</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Unit: balance/ledger</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Berkeley — white-box</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Monitoring / synthetic</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A2330"/>
                          </a:solidFill>
                          <a:latin typeface="Calibri" pitchFamily="34" charset="0"/>
                          <a:ea typeface="Calibri" pitchFamily="34" charset="-122"/>
                          <a:cs typeface="Calibri" pitchFamily="34" charset="-120"/>
                        </a:rPr>
                        <a:t>Us + Berkeley — recommend</a:t>
                      </a:r>
                      <a:endParaRPr lang="en-US" sz="1200" dirty="0">
                        <a:latin typeface="Calibri" charset="0"/>
                        <a:ea typeface="Calibri" charset="0"/>
                        <a:cs typeface="Calibri" charset="0"/>
                      </a:endParaRPr>
                    </a:p>
                  </a:txBody>
                  <a:tcPr marL="50800" marR="50800" marT="50800" marB="50800" anchor="ctr">
                    <a:lnL w="6350" cap="flat" cmpd="sng" algn="ctr">
                      <a:solidFill>
                        <a:srgbClr val="DCE7F0"/>
                      </a:solidFill>
                      <a:prstDash val="solid"/>
                      <a:round/>
                      <a:headEnd type="none" w="med" len="med"/>
                      <a:tailEnd type="none" w="med" len="med"/>
                    </a:lnL>
                    <a:lnR w="6350" cap="flat" cmpd="sng" algn="ctr">
                      <a:solidFill>
                        <a:srgbClr val="DCE7F0"/>
                      </a:solidFill>
                      <a:prstDash val="solid"/>
                      <a:round/>
                      <a:headEnd type="none" w="med" len="med"/>
                      <a:tailEnd type="none" w="med" len="med"/>
                    </a:lnR>
                    <a:lnT w="6350" cap="flat" cmpd="sng" algn="ctr">
                      <a:solidFill>
                        <a:srgbClr val="DCE7F0"/>
                      </a:solidFill>
                      <a:prstDash val="solid"/>
                      <a:round/>
                      <a:headEnd type="none" w="med" len="med"/>
                      <a:tailEnd type="none" w="med" len="med"/>
                    </a:lnT>
                    <a:lnB w="6350" cap="flat" cmpd="sng" algn="ctr">
                      <a:solidFill>
                        <a:srgbClr val="DCE7F0"/>
                      </a:solidFill>
                      <a:prstDash val="solid"/>
                      <a:round/>
                      <a:headEnd type="none" w="med" len="med"/>
                      <a:tailEnd type="none" w="med" len="med"/>
                    </a:lnB>
                    <a:solidFill>
                      <a:srgbClr val="FFFFFF"/>
                    </a:solidFill>
                  </a:tcPr>
                </a:tc>
              </a:tr>
            </a:tbl>
          </a:graphicData>
        </a:graphic>
      </p:graphicFrame>
      <p:sp>
        <p:nvSpPr>
          <p:cNvPr id="17" name="Text 14"/>
          <p:cNvSpPr/>
          <p:nvPr/>
        </p:nvSpPr>
        <p:spPr>
          <a:xfrm>
            <a:off x="548640" y="5532120"/>
            <a:ext cx="11064240" cy="731520"/>
          </a:xfrm>
          <a:prstGeom prst="rect">
            <a:avLst/>
          </a:prstGeom>
          <a:solidFill>
            <a:srgbClr val="F4F8FB"/>
          </a:solidFill>
          <a:ln w="12700">
            <a:solidFill>
              <a:srgbClr val="DCE7F0"/>
            </a:solidFill>
          </a:ln>
        </p:spPr>
        <p:txBody>
          <a:bodyPr wrap="square" lIns="152400" tIns="152400" rIns="152400" bIns="152400" rtlCol="0" anchor="ctr"/>
          <a:lstStyle/>
          <a:p>
            <a:pPr indent="0" marL="0">
              <a:buNone/>
            </a:pPr>
            <a:r>
              <a:rPr lang="en-US" sz="1350" b="1" dirty="0">
                <a:solidFill>
                  <a:srgbClr val="065A82"/>
                </a:solidFill>
                <a:latin typeface="Calibri" pitchFamily="34" charset="0"/>
                <a:ea typeface="Calibri" pitchFamily="34" charset="-122"/>
                <a:cs typeface="Calibri" pitchFamily="34" charset="-120"/>
              </a:rPr>
              <a:t>Why it matters:  </a:t>
            </a:r>
            <a:pPr indent="0" marL="0">
              <a:buNone/>
            </a:pPr>
            <a:r>
              <a:rPr lang="en-US" sz="1350" dirty="0">
                <a:solidFill>
                  <a:srgbClr val="1A2330"/>
                </a:solidFill>
                <a:latin typeface="Calibri" pitchFamily="34" charset="0"/>
                <a:ea typeface="Calibri" pitchFamily="34" charset="-122"/>
                <a:cs typeface="Calibri" pitchFamily="34" charset="-120"/>
              </a:rPr>
              <a:t>as an API consumer, effort is heaviest at integration and contract, lightest at UI. Strategy adapts to architecture and ownership.</a:t>
            </a:r>
            <a:endParaRPr lang="en-US" sz="1350" dirty="0"/>
          </a:p>
        </p:txBody>
      </p:sp>
      <p:sp>
        <p:nvSpPr>
          <p:cNvPr id="18" name="Text 15"/>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03</a:t>
            </a:r>
            <a:endParaRPr lang="en-US" sz="1000" dirty="0"/>
          </a:p>
        </p:txBody>
      </p:sp>
      <p:sp>
        <p:nvSpPr>
          <p:cNvPr id="19" name="Text 16"/>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3 · TEST TYPES</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Eight categories in the suite</a:t>
            </a:r>
            <a:endParaRPr lang="en-US" sz="3200" dirty="0"/>
          </a:p>
        </p:txBody>
      </p:sp>
      <p:sp>
        <p:nvSpPr>
          <p:cNvPr id="4" name="Shape 2"/>
          <p:cNvSpPr/>
          <p:nvPr/>
        </p:nvSpPr>
        <p:spPr>
          <a:xfrm>
            <a:off x="548640" y="1783080"/>
            <a:ext cx="2697480" cy="1783080"/>
          </a:xfrm>
          <a:prstGeom prst="roundRect">
            <a:avLst>
              <a:gd name="adj" fmla="val 3590"/>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04672" y="2039112"/>
            <a:ext cx="713232" cy="713232"/>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990112" y="2224552"/>
            <a:ext cx="342351" cy="342351"/>
          </a:xfrm>
          <a:prstGeom prst="rect">
            <a:avLst/>
          </a:prstGeom>
        </p:spPr>
      </p:pic>
      <p:sp>
        <p:nvSpPr>
          <p:cNvPr id="7" name="Text 4"/>
          <p:cNvSpPr/>
          <p:nvPr/>
        </p:nvSpPr>
        <p:spPr>
          <a:xfrm>
            <a:off x="1645920" y="2057400"/>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Functional</a:t>
            </a:r>
            <a:endParaRPr lang="en-US" sz="1500" dirty="0"/>
          </a:p>
        </p:txBody>
      </p:sp>
      <p:sp>
        <p:nvSpPr>
          <p:cNvPr id="8" name="Text 5"/>
          <p:cNvSpPr/>
          <p:nvPr/>
        </p:nvSpPr>
        <p:spPr>
          <a:xfrm>
            <a:off x="804672" y="2807208"/>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Each endpoint works with valid input</a:t>
            </a:r>
            <a:endParaRPr lang="en-US" sz="1200" dirty="0"/>
          </a:p>
        </p:txBody>
      </p:sp>
      <p:sp>
        <p:nvSpPr>
          <p:cNvPr id="9" name="Shape 6"/>
          <p:cNvSpPr/>
          <p:nvPr/>
        </p:nvSpPr>
        <p:spPr>
          <a:xfrm>
            <a:off x="3410712" y="1783080"/>
            <a:ext cx="2697480" cy="1783080"/>
          </a:xfrm>
          <a:prstGeom prst="roundRect">
            <a:avLst>
              <a:gd name="adj" fmla="val 3590"/>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10" name="Shape 7"/>
          <p:cNvSpPr/>
          <p:nvPr/>
        </p:nvSpPr>
        <p:spPr>
          <a:xfrm>
            <a:off x="3666744" y="2039112"/>
            <a:ext cx="713232" cy="713232"/>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3852184" y="2224552"/>
            <a:ext cx="342351" cy="342351"/>
          </a:xfrm>
          <a:prstGeom prst="rect">
            <a:avLst/>
          </a:prstGeom>
        </p:spPr>
      </p:pic>
      <p:sp>
        <p:nvSpPr>
          <p:cNvPr id="12" name="Text 8"/>
          <p:cNvSpPr/>
          <p:nvPr/>
        </p:nvSpPr>
        <p:spPr>
          <a:xfrm>
            <a:off x="4507992" y="2057400"/>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Negative &amp; errors</a:t>
            </a:r>
            <a:endParaRPr lang="en-US" sz="1500" dirty="0"/>
          </a:p>
        </p:txBody>
      </p:sp>
      <p:sp>
        <p:nvSpPr>
          <p:cNvPr id="13" name="Text 9"/>
          <p:cNvSpPr/>
          <p:nvPr/>
        </p:nvSpPr>
        <p:spPr>
          <a:xfrm>
            <a:off x="3666744" y="2807208"/>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Fails safely: 4xx, auth, rule rejections</a:t>
            </a:r>
            <a:endParaRPr lang="en-US" sz="1200" dirty="0"/>
          </a:p>
        </p:txBody>
      </p:sp>
      <p:sp>
        <p:nvSpPr>
          <p:cNvPr id="14" name="Shape 10"/>
          <p:cNvSpPr/>
          <p:nvPr/>
        </p:nvSpPr>
        <p:spPr>
          <a:xfrm>
            <a:off x="6272784" y="1783080"/>
            <a:ext cx="2697480" cy="1783080"/>
          </a:xfrm>
          <a:prstGeom prst="roundRect">
            <a:avLst>
              <a:gd name="adj" fmla="val 3590"/>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15" name="Shape 11"/>
          <p:cNvSpPr/>
          <p:nvPr/>
        </p:nvSpPr>
        <p:spPr>
          <a:xfrm>
            <a:off x="6528816" y="2039112"/>
            <a:ext cx="713232" cy="713232"/>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6714256" y="2224552"/>
            <a:ext cx="342351" cy="342351"/>
          </a:xfrm>
          <a:prstGeom prst="rect">
            <a:avLst/>
          </a:prstGeom>
        </p:spPr>
      </p:pic>
      <p:sp>
        <p:nvSpPr>
          <p:cNvPr id="17" name="Text 12"/>
          <p:cNvSpPr/>
          <p:nvPr/>
        </p:nvSpPr>
        <p:spPr>
          <a:xfrm>
            <a:off x="7370064" y="2057400"/>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Boundary</a:t>
            </a:r>
            <a:endParaRPr lang="en-US" sz="1500" dirty="0"/>
          </a:p>
        </p:txBody>
      </p:sp>
      <p:sp>
        <p:nvSpPr>
          <p:cNvPr id="18" name="Text 13"/>
          <p:cNvSpPr/>
          <p:nvPr/>
        </p:nvSpPr>
        <p:spPr>
          <a:xfrm>
            <a:off x="6528816" y="2807208"/>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Amounts, dates, lengths, edge values</a:t>
            </a:r>
            <a:endParaRPr lang="en-US" sz="1200" dirty="0"/>
          </a:p>
        </p:txBody>
      </p:sp>
      <p:sp>
        <p:nvSpPr>
          <p:cNvPr id="19" name="Shape 14"/>
          <p:cNvSpPr/>
          <p:nvPr/>
        </p:nvSpPr>
        <p:spPr>
          <a:xfrm>
            <a:off x="9134856" y="1783080"/>
            <a:ext cx="2697480" cy="1783080"/>
          </a:xfrm>
          <a:prstGeom prst="roundRect">
            <a:avLst>
              <a:gd name="adj" fmla="val 3590"/>
            </a:avLst>
          </a:prstGeom>
          <a:solidFill>
            <a:srgbClr val="FFF6EC"/>
          </a:solidFill>
          <a:ln w="12700">
            <a:solidFill>
              <a:srgbClr val="F2A65A"/>
            </a:solidFill>
            <a:prstDash val="solid"/>
          </a:ln>
          <a:effectLst>
            <a:outerShdw sx="100000" sy="100000" kx="0" ky="0" algn="bl" rotWithShape="0" blurRad="88900" dist="38100" dir="5400000">
              <a:srgbClr val="000000">
                <a:alpha val="12000"/>
              </a:srgbClr>
            </a:outerShdw>
          </a:effectLst>
        </p:spPr>
      </p:sp>
      <p:sp>
        <p:nvSpPr>
          <p:cNvPr id="20" name="Shape 15"/>
          <p:cNvSpPr/>
          <p:nvPr/>
        </p:nvSpPr>
        <p:spPr>
          <a:xfrm>
            <a:off x="9390888" y="2039112"/>
            <a:ext cx="713232" cy="713232"/>
          </a:xfrm>
          <a:prstGeom prst="ellipse">
            <a:avLst/>
          </a:prstGeom>
          <a:solidFill>
            <a:srgbClr val="F2A65A"/>
          </a:solidFill>
          <a:ln/>
          <a:effectLst>
            <a:outerShdw sx="100000" sy="100000" kx="0" ky="0" algn="bl" rotWithShape="0" blurRad="88900" dist="38100" dir="5400000">
              <a:srgbClr val="000000">
                <a:alpha val="12000"/>
              </a:srgbClr>
            </a:outerShdw>
          </a:effectLst>
        </p:spPr>
      </p:sp>
      <p:pic>
        <p:nvPicPr>
          <p:cNvPr id="21" name="Image 3" descr="preencoded.png">    </p:cNvPr>
          <p:cNvPicPr>
            <a:picLocks noChangeAspect="1"/>
          </p:cNvPicPr>
          <p:nvPr/>
        </p:nvPicPr>
        <p:blipFill>
          <a:blip r:embed="rId4"/>
          <a:stretch>
            <a:fillRect/>
          </a:stretch>
        </p:blipFill>
        <p:spPr>
          <a:xfrm>
            <a:off x="9576328" y="2224552"/>
            <a:ext cx="342351" cy="342351"/>
          </a:xfrm>
          <a:prstGeom prst="rect">
            <a:avLst/>
          </a:prstGeom>
        </p:spPr>
      </p:pic>
      <p:sp>
        <p:nvSpPr>
          <p:cNvPr id="22" name="Text 16"/>
          <p:cNvSpPr/>
          <p:nvPr/>
        </p:nvSpPr>
        <p:spPr>
          <a:xfrm>
            <a:off x="10232136" y="2057400"/>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State transition</a:t>
            </a:r>
            <a:endParaRPr lang="en-US" sz="1500" dirty="0"/>
          </a:p>
        </p:txBody>
      </p:sp>
      <p:sp>
        <p:nvSpPr>
          <p:cNvPr id="23" name="Text 17"/>
          <p:cNvSpPr/>
          <p:nvPr/>
        </p:nvSpPr>
        <p:spPr>
          <a:xfrm>
            <a:off x="9390888" y="2807208"/>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active→suspended; lost/stolen terminal</a:t>
            </a:r>
            <a:endParaRPr lang="en-US" sz="1200" dirty="0"/>
          </a:p>
        </p:txBody>
      </p:sp>
      <p:sp>
        <p:nvSpPr>
          <p:cNvPr id="24" name="Shape 18"/>
          <p:cNvSpPr/>
          <p:nvPr/>
        </p:nvSpPr>
        <p:spPr>
          <a:xfrm>
            <a:off x="548640" y="3767328"/>
            <a:ext cx="2697480" cy="1783080"/>
          </a:xfrm>
          <a:prstGeom prst="roundRect">
            <a:avLst>
              <a:gd name="adj" fmla="val 3590"/>
            </a:avLst>
          </a:prstGeom>
          <a:solidFill>
            <a:srgbClr val="FFF6EC"/>
          </a:solidFill>
          <a:ln w="12700">
            <a:solidFill>
              <a:srgbClr val="F2A65A"/>
            </a:solidFill>
            <a:prstDash val="solid"/>
          </a:ln>
          <a:effectLst>
            <a:outerShdw sx="100000" sy="100000" kx="0" ky="0" algn="bl" rotWithShape="0" blurRad="88900" dist="38100" dir="5400000">
              <a:srgbClr val="000000">
                <a:alpha val="12000"/>
              </a:srgbClr>
            </a:outerShdw>
          </a:effectLst>
        </p:spPr>
      </p:sp>
      <p:sp>
        <p:nvSpPr>
          <p:cNvPr id="25" name="Shape 19"/>
          <p:cNvSpPr/>
          <p:nvPr/>
        </p:nvSpPr>
        <p:spPr>
          <a:xfrm>
            <a:off x="804672" y="4023360"/>
            <a:ext cx="713232" cy="713232"/>
          </a:xfrm>
          <a:prstGeom prst="ellipse">
            <a:avLst/>
          </a:prstGeom>
          <a:solidFill>
            <a:srgbClr val="F2A65A"/>
          </a:solidFill>
          <a:ln/>
          <a:effectLst>
            <a:outerShdw sx="100000" sy="100000" kx="0" ky="0" algn="bl" rotWithShape="0" blurRad="88900" dist="38100" dir="5400000">
              <a:srgbClr val="000000">
                <a:alpha val="12000"/>
              </a:srgbClr>
            </a:outerShdw>
          </a:effectLst>
        </p:spPr>
      </p:sp>
      <p:pic>
        <p:nvPicPr>
          <p:cNvPr id="26" name="Image 4" descr="preencoded.png">    </p:cNvPr>
          <p:cNvPicPr>
            <a:picLocks noChangeAspect="1"/>
          </p:cNvPicPr>
          <p:nvPr/>
        </p:nvPicPr>
        <p:blipFill>
          <a:blip r:embed="rId5"/>
          <a:stretch>
            <a:fillRect/>
          </a:stretch>
        </p:blipFill>
        <p:spPr>
          <a:xfrm>
            <a:off x="990112" y="4208800"/>
            <a:ext cx="342351" cy="342351"/>
          </a:xfrm>
          <a:prstGeom prst="rect">
            <a:avLst/>
          </a:prstGeom>
        </p:spPr>
      </p:pic>
      <p:sp>
        <p:nvSpPr>
          <p:cNvPr id="27" name="Text 20"/>
          <p:cNvSpPr/>
          <p:nvPr/>
        </p:nvSpPr>
        <p:spPr>
          <a:xfrm>
            <a:off x="1645920" y="4041648"/>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Data integrity</a:t>
            </a:r>
            <a:endParaRPr lang="en-US" sz="1500" dirty="0"/>
          </a:p>
        </p:txBody>
      </p:sp>
      <p:sp>
        <p:nvSpPr>
          <p:cNvPr id="28" name="Text 21"/>
          <p:cNvSpPr/>
          <p:nvPr/>
        </p:nvSpPr>
        <p:spPr>
          <a:xfrm>
            <a:off x="804672" y="4791456"/>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Money conservation &amp; reconciliation</a:t>
            </a:r>
            <a:endParaRPr lang="en-US" sz="1200" dirty="0"/>
          </a:p>
        </p:txBody>
      </p:sp>
      <p:sp>
        <p:nvSpPr>
          <p:cNvPr id="29" name="Shape 22"/>
          <p:cNvSpPr/>
          <p:nvPr/>
        </p:nvSpPr>
        <p:spPr>
          <a:xfrm>
            <a:off x="3410712" y="3767328"/>
            <a:ext cx="2697480" cy="1783080"/>
          </a:xfrm>
          <a:prstGeom prst="roundRect">
            <a:avLst>
              <a:gd name="adj" fmla="val 3590"/>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30" name="Shape 23"/>
          <p:cNvSpPr/>
          <p:nvPr/>
        </p:nvSpPr>
        <p:spPr>
          <a:xfrm>
            <a:off x="3666744" y="4023360"/>
            <a:ext cx="713232" cy="713232"/>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31" name="Image 5" descr="preencoded.png">    </p:cNvPr>
          <p:cNvPicPr>
            <a:picLocks noChangeAspect="1"/>
          </p:cNvPicPr>
          <p:nvPr/>
        </p:nvPicPr>
        <p:blipFill>
          <a:blip r:embed="rId6"/>
          <a:stretch>
            <a:fillRect/>
          </a:stretch>
        </p:blipFill>
        <p:spPr>
          <a:xfrm>
            <a:off x="3852184" y="4208800"/>
            <a:ext cx="342351" cy="342351"/>
          </a:xfrm>
          <a:prstGeom prst="rect">
            <a:avLst/>
          </a:prstGeom>
        </p:spPr>
      </p:pic>
      <p:sp>
        <p:nvSpPr>
          <p:cNvPr id="32" name="Text 24"/>
          <p:cNvSpPr/>
          <p:nvPr/>
        </p:nvSpPr>
        <p:spPr>
          <a:xfrm>
            <a:off x="4507992" y="4041648"/>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Idempotency</a:t>
            </a:r>
            <a:endParaRPr lang="en-US" sz="1500" dirty="0"/>
          </a:p>
        </p:txBody>
      </p:sp>
      <p:sp>
        <p:nvSpPr>
          <p:cNvPr id="33" name="Text 25"/>
          <p:cNvSpPr/>
          <p:nvPr/>
        </p:nvSpPr>
        <p:spPr>
          <a:xfrm>
            <a:off x="3666744" y="4791456"/>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Replayed load must not double-charge</a:t>
            </a:r>
            <a:endParaRPr lang="en-US" sz="1200" dirty="0"/>
          </a:p>
        </p:txBody>
      </p:sp>
      <p:sp>
        <p:nvSpPr>
          <p:cNvPr id="34" name="Shape 26"/>
          <p:cNvSpPr/>
          <p:nvPr/>
        </p:nvSpPr>
        <p:spPr>
          <a:xfrm>
            <a:off x="6272784" y="3767328"/>
            <a:ext cx="2697480" cy="1783080"/>
          </a:xfrm>
          <a:prstGeom prst="roundRect">
            <a:avLst>
              <a:gd name="adj" fmla="val 3590"/>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35" name="Shape 27"/>
          <p:cNvSpPr/>
          <p:nvPr/>
        </p:nvSpPr>
        <p:spPr>
          <a:xfrm>
            <a:off x="6528816" y="4023360"/>
            <a:ext cx="713232" cy="713232"/>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36" name="Image 6" descr="preencoded.png">    </p:cNvPr>
          <p:cNvPicPr>
            <a:picLocks noChangeAspect="1"/>
          </p:cNvPicPr>
          <p:nvPr/>
        </p:nvPicPr>
        <p:blipFill>
          <a:blip r:embed="rId7"/>
          <a:stretch>
            <a:fillRect/>
          </a:stretch>
        </p:blipFill>
        <p:spPr>
          <a:xfrm>
            <a:off x="6714256" y="4208800"/>
            <a:ext cx="342351" cy="342351"/>
          </a:xfrm>
          <a:prstGeom prst="rect">
            <a:avLst/>
          </a:prstGeom>
        </p:spPr>
      </p:pic>
      <p:sp>
        <p:nvSpPr>
          <p:cNvPr id="37" name="Text 28"/>
          <p:cNvSpPr/>
          <p:nvPr/>
        </p:nvSpPr>
        <p:spPr>
          <a:xfrm>
            <a:off x="7370064" y="4041648"/>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Security</a:t>
            </a:r>
            <a:endParaRPr lang="en-US" sz="1500" dirty="0"/>
          </a:p>
        </p:txBody>
      </p:sp>
      <p:sp>
        <p:nvSpPr>
          <p:cNvPr id="38" name="Text 29"/>
          <p:cNvSpPr/>
          <p:nvPr/>
        </p:nvSpPr>
        <p:spPr>
          <a:xfrm>
            <a:off x="6528816" y="4791456"/>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Auth isolation, masked PAN/CVV/PIN</a:t>
            </a:r>
            <a:endParaRPr lang="en-US" sz="1200" dirty="0"/>
          </a:p>
        </p:txBody>
      </p:sp>
      <p:sp>
        <p:nvSpPr>
          <p:cNvPr id="39" name="Shape 30"/>
          <p:cNvSpPr/>
          <p:nvPr/>
        </p:nvSpPr>
        <p:spPr>
          <a:xfrm>
            <a:off x="9134856" y="3767328"/>
            <a:ext cx="2697480" cy="1783080"/>
          </a:xfrm>
          <a:prstGeom prst="roundRect">
            <a:avLst>
              <a:gd name="adj" fmla="val 3590"/>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40" name="Shape 31"/>
          <p:cNvSpPr/>
          <p:nvPr/>
        </p:nvSpPr>
        <p:spPr>
          <a:xfrm>
            <a:off x="9390888" y="4023360"/>
            <a:ext cx="713232" cy="713232"/>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41" name="Image 7" descr="preencoded.png">    </p:cNvPr>
          <p:cNvPicPr>
            <a:picLocks noChangeAspect="1"/>
          </p:cNvPicPr>
          <p:nvPr/>
        </p:nvPicPr>
        <p:blipFill>
          <a:blip r:embed="rId8"/>
          <a:stretch>
            <a:fillRect/>
          </a:stretch>
        </p:blipFill>
        <p:spPr>
          <a:xfrm>
            <a:off x="9576328" y="4208800"/>
            <a:ext cx="342351" cy="342351"/>
          </a:xfrm>
          <a:prstGeom prst="rect">
            <a:avLst/>
          </a:prstGeom>
        </p:spPr>
      </p:pic>
      <p:sp>
        <p:nvSpPr>
          <p:cNvPr id="42" name="Text 32"/>
          <p:cNvSpPr/>
          <p:nvPr/>
        </p:nvSpPr>
        <p:spPr>
          <a:xfrm>
            <a:off x="10232136" y="4041648"/>
            <a:ext cx="1463040" cy="640080"/>
          </a:xfrm>
          <a:prstGeom prst="rect">
            <a:avLst/>
          </a:prstGeom>
          <a:noFill/>
          <a:ln/>
        </p:spPr>
        <p:txBody>
          <a:bodyPr wrap="square" lIns="0" tIns="0" rIns="0" bIns="0" rtlCol="0" anchor="ctr"/>
          <a:lstStyle/>
          <a:p>
            <a:pPr indent="0" marL="0">
              <a:buNone/>
            </a:pPr>
            <a:r>
              <a:rPr lang="en-US" sz="1500" b="1" dirty="0">
                <a:solidFill>
                  <a:srgbClr val="1A2330"/>
                </a:solidFill>
                <a:latin typeface="Cambria" pitchFamily="34" charset="0"/>
                <a:ea typeface="Cambria" pitchFamily="34" charset="-122"/>
                <a:cs typeface="Cambria" pitchFamily="34" charset="-120"/>
              </a:rPr>
              <a:t>Non-functional</a:t>
            </a:r>
            <a:endParaRPr lang="en-US" sz="1500" dirty="0"/>
          </a:p>
        </p:txBody>
      </p:sp>
      <p:sp>
        <p:nvSpPr>
          <p:cNvPr id="43" name="Text 33"/>
          <p:cNvSpPr/>
          <p:nvPr/>
        </p:nvSpPr>
        <p:spPr>
          <a:xfrm>
            <a:off x="9390888" y="4791456"/>
            <a:ext cx="2240280" cy="640080"/>
          </a:xfrm>
          <a:prstGeom prst="rect">
            <a:avLst/>
          </a:prstGeom>
          <a:noFill/>
          <a:ln/>
        </p:spPr>
        <p:txBody>
          <a:bodyPr wrap="square" lIns="0" tIns="0" rIns="0" bIns="0" rtlCol="0" anchor="ctr"/>
          <a:lstStyle/>
          <a:p>
            <a:pPr indent="0" marL="0">
              <a:lnSpc>
                <a:spcPct val="100000"/>
              </a:lnSpc>
              <a:buNone/>
            </a:pPr>
            <a:r>
              <a:rPr lang="en-US" sz="1200" dirty="0">
                <a:solidFill>
                  <a:srgbClr val="6B7A8D"/>
                </a:solidFill>
                <a:latin typeface="Calibri" pitchFamily="34" charset="0"/>
                <a:ea typeface="Calibri" pitchFamily="34" charset="-122"/>
                <a:cs typeface="Calibri" pitchFamily="34" charset="-120"/>
              </a:rPr>
              <a:t>Performance, resilience, rate limits</a:t>
            </a:r>
            <a:endParaRPr lang="en-US" sz="1200" dirty="0"/>
          </a:p>
        </p:txBody>
      </p:sp>
      <p:sp>
        <p:nvSpPr>
          <p:cNvPr id="44" name="Text 34"/>
          <p:cNvSpPr/>
          <p:nvPr/>
        </p:nvSpPr>
        <p:spPr>
          <a:xfrm>
            <a:off x="548640" y="5943600"/>
            <a:ext cx="11064240" cy="365760"/>
          </a:xfrm>
          <a:prstGeom prst="rect">
            <a:avLst/>
          </a:prstGeom>
          <a:noFill/>
          <a:ln/>
        </p:spPr>
        <p:txBody>
          <a:bodyPr wrap="square" lIns="0" tIns="0" rIns="0" bIns="0" rtlCol="0" anchor="ctr"/>
          <a:lstStyle/>
          <a:p>
            <a:pPr indent="0" marL="0">
              <a:buNone/>
            </a:pPr>
            <a:r>
              <a:rPr lang="en-US" sz="1300" b="1" dirty="0">
                <a:solidFill>
                  <a:srgbClr val="F2A65A"/>
                </a:solidFill>
                <a:latin typeface="Calibri" pitchFamily="34" charset="0"/>
                <a:ea typeface="Calibri" pitchFamily="34" charset="-122"/>
                <a:cs typeface="Calibri" pitchFamily="34" charset="-120"/>
              </a:rPr>
              <a:t>Emphasise verbally:  </a:t>
            </a:r>
            <a:pPr indent="0" marL="0">
              <a:buNone/>
            </a:pPr>
            <a:r>
              <a:rPr lang="en-US" sz="1300" i="1" dirty="0">
                <a:solidFill>
                  <a:srgbClr val="6B7A8D"/>
                </a:solidFill>
                <a:latin typeface="Calibri" pitchFamily="34" charset="0"/>
                <a:ea typeface="Calibri" pitchFamily="34" charset="-122"/>
                <a:cs typeface="Calibri" pitchFamily="34" charset="-120"/>
              </a:rPr>
              <a:t>money conservation and state-transition — both payments-specific and memorable.</a:t>
            </a:r>
            <a:endParaRPr lang="en-US" sz="1300" dirty="0"/>
          </a:p>
        </p:txBody>
      </p:sp>
      <p:sp>
        <p:nvSpPr>
          <p:cNvPr id="45" name="Text 35"/>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04</a:t>
            </a:r>
            <a:endParaRPr lang="en-US" sz="1000" dirty="0"/>
          </a:p>
        </p:txBody>
      </p:sp>
      <p:sp>
        <p:nvSpPr>
          <p:cNvPr id="46" name="Text 36"/>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4 · COVERAGE</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Coverage is risk-weighted, not even</a:t>
            </a:r>
            <a:endParaRPr lang="en-US" sz="3200" dirty="0"/>
          </a:p>
        </p:txBody>
      </p:sp>
      <p:graphicFrame>
        <p:nvGraphicFramePr>
          <p:cNvPr id="4" name="Chart 0" descr=""/>
          <p:cNvGraphicFramePr/>
          <p:nvPr/>
        </p:nvGraphicFramePr>
        <p:xfrm>
          <a:off x="548640" y="1828800"/>
          <a:ext cx="5852160" cy="35204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629400" y="1783080"/>
            <a:ext cx="4983480" cy="896112"/>
          </a:xfrm>
          <a:prstGeom prst="roundRect">
            <a:avLst>
              <a:gd name="adj" fmla="val 6122"/>
            </a:avLst>
          </a:prstGeom>
          <a:solidFill>
            <a:srgbClr val="F4F8FB"/>
          </a:solidFill>
          <a:ln w="12700">
            <a:solidFill>
              <a:srgbClr val="DCE7F0"/>
            </a:solidFill>
            <a:prstDash val="solid"/>
          </a:ln>
        </p:spPr>
      </p:sp>
      <p:sp>
        <p:nvSpPr>
          <p:cNvPr id="6" name="Shape 3"/>
          <p:cNvSpPr/>
          <p:nvPr/>
        </p:nvSpPr>
        <p:spPr>
          <a:xfrm>
            <a:off x="6830568" y="2103120"/>
            <a:ext cx="256032" cy="256032"/>
          </a:xfrm>
          <a:prstGeom prst="ellipse">
            <a:avLst/>
          </a:prstGeom>
          <a:solidFill>
            <a:srgbClr val="F2A65A"/>
          </a:solidFill>
          <a:ln/>
        </p:spPr>
      </p:sp>
      <p:sp>
        <p:nvSpPr>
          <p:cNvPr id="7" name="Text 4"/>
          <p:cNvSpPr/>
          <p:nvPr/>
        </p:nvSpPr>
        <p:spPr>
          <a:xfrm>
            <a:off x="7223760" y="1874520"/>
            <a:ext cx="4251960" cy="301752"/>
          </a:xfrm>
          <a:prstGeom prst="rect">
            <a:avLst/>
          </a:prstGeom>
          <a:noFill/>
          <a:ln/>
        </p:spPr>
        <p:txBody>
          <a:bodyPr wrap="square" lIns="0" tIns="0" rIns="0" bIns="0" rtlCol="0" anchor="ctr"/>
          <a:lstStyle/>
          <a:p>
            <a:pPr indent="0" marL="0">
              <a:buNone/>
            </a:pPr>
            <a:r>
              <a:rPr lang="en-US" sz="1450" b="1" dirty="0">
                <a:solidFill>
                  <a:srgbClr val="1A2330"/>
                </a:solidFill>
                <a:latin typeface="Cambria" pitchFamily="34" charset="0"/>
                <a:ea typeface="Cambria" pitchFamily="34" charset="-122"/>
                <a:cs typeface="Cambria" pitchFamily="34" charset="-120"/>
              </a:rPr>
              <a:t>Value Loads</a:t>
            </a:r>
            <a:endParaRPr lang="en-US" sz="1450" dirty="0"/>
          </a:p>
        </p:txBody>
      </p:sp>
      <p:sp>
        <p:nvSpPr>
          <p:cNvPr id="8" name="Text 5"/>
          <p:cNvSpPr/>
          <p:nvPr/>
        </p:nvSpPr>
        <p:spPr>
          <a:xfrm>
            <a:off x="7223760" y="2167128"/>
            <a:ext cx="4206240" cy="475488"/>
          </a:xfrm>
          <a:prstGeom prst="rect">
            <a:avLst/>
          </a:prstGeom>
          <a:noFill/>
          <a:ln/>
        </p:spPr>
        <p:txBody>
          <a:bodyPr wrap="square" lIns="0" tIns="0" rIns="0" bIns="0" rtlCol="0" anchor="ctr"/>
          <a:lstStyle/>
          <a:p>
            <a:pPr indent="0" marL="0">
              <a:lnSpc>
                <a:spcPct val="96000"/>
              </a:lnSpc>
              <a:buNone/>
            </a:pPr>
            <a:r>
              <a:rPr lang="en-US" sz="1100" dirty="0">
                <a:solidFill>
                  <a:srgbClr val="6B7A8D"/>
                </a:solidFill>
                <a:latin typeface="Calibri" pitchFamily="34" charset="0"/>
                <a:ea typeface="Calibri" pitchFamily="34" charset="-122"/>
                <a:cs typeface="Calibri" pitchFamily="34" charset="-120"/>
              </a:rPr>
              <a:t>Direct money movement — highest loss risk. Exhaustive: happy, negative, boundary, idempotency, concurrency, reconciliation.</a:t>
            </a:r>
            <a:endParaRPr lang="en-US" sz="1100" dirty="0"/>
          </a:p>
        </p:txBody>
      </p:sp>
      <p:sp>
        <p:nvSpPr>
          <p:cNvPr id="9" name="Shape 6"/>
          <p:cNvSpPr/>
          <p:nvPr/>
        </p:nvSpPr>
        <p:spPr>
          <a:xfrm>
            <a:off x="6629400" y="2770632"/>
            <a:ext cx="4983480" cy="896112"/>
          </a:xfrm>
          <a:prstGeom prst="roundRect">
            <a:avLst>
              <a:gd name="adj" fmla="val 6122"/>
            </a:avLst>
          </a:prstGeom>
          <a:solidFill>
            <a:srgbClr val="F4F8FB"/>
          </a:solidFill>
          <a:ln w="12700">
            <a:solidFill>
              <a:srgbClr val="DCE7F0"/>
            </a:solidFill>
            <a:prstDash val="solid"/>
          </a:ln>
        </p:spPr>
      </p:sp>
      <p:sp>
        <p:nvSpPr>
          <p:cNvPr id="10" name="Shape 7"/>
          <p:cNvSpPr/>
          <p:nvPr/>
        </p:nvSpPr>
        <p:spPr>
          <a:xfrm>
            <a:off x="6830568" y="3090672"/>
            <a:ext cx="256032" cy="256032"/>
          </a:xfrm>
          <a:prstGeom prst="ellipse">
            <a:avLst/>
          </a:prstGeom>
          <a:solidFill>
            <a:srgbClr val="065A82"/>
          </a:solidFill>
          <a:ln/>
        </p:spPr>
      </p:sp>
      <p:sp>
        <p:nvSpPr>
          <p:cNvPr id="11" name="Text 8"/>
          <p:cNvSpPr/>
          <p:nvPr/>
        </p:nvSpPr>
        <p:spPr>
          <a:xfrm>
            <a:off x="7223760" y="2862072"/>
            <a:ext cx="4251960" cy="301752"/>
          </a:xfrm>
          <a:prstGeom prst="rect">
            <a:avLst/>
          </a:prstGeom>
          <a:noFill/>
          <a:ln/>
        </p:spPr>
        <p:txBody>
          <a:bodyPr wrap="square" lIns="0" tIns="0" rIns="0" bIns="0" rtlCol="0" anchor="ctr"/>
          <a:lstStyle/>
          <a:p>
            <a:pPr indent="0" marL="0">
              <a:buNone/>
            </a:pPr>
            <a:r>
              <a:rPr lang="en-US" sz="1450" b="1" dirty="0">
                <a:solidFill>
                  <a:srgbClr val="1A2330"/>
                </a:solidFill>
                <a:latin typeface="Cambria" pitchFamily="34" charset="0"/>
                <a:ea typeface="Cambria" pitchFamily="34" charset="-122"/>
                <a:cs typeface="Cambria" pitchFamily="34" charset="-120"/>
              </a:rPr>
              <a:t>Accounts &amp; Cards</a:t>
            </a:r>
            <a:endParaRPr lang="en-US" sz="1450" dirty="0"/>
          </a:p>
        </p:txBody>
      </p:sp>
      <p:sp>
        <p:nvSpPr>
          <p:cNvPr id="12" name="Text 9"/>
          <p:cNvSpPr/>
          <p:nvPr/>
        </p:nvSpPr>
        <p:spPr>
          <a:xfrm>
            <a:off x="7223760" y="3154680"/>
            <a:ext cx="4206240" cy="475488"/>
          </a:xfrm>
          <a:prstGeom prst="rect">
            <a:avLst/>
          </a:prstGeom>
          <a:noFill/>
          <a:ln/>
        </p:spPr>
        <p:txBody>
          <a:bodyPr wrap="square" lIns="0" tIns="0" rIns="0" bIns="0" rtlCol="0" anchor="ctr"/>
          <a:lstStyle/>
          <a:p>
            <a:pPr indent="0" marL="0">
              <a:lnSpc>
                <a:spcPct val="96000"/>
              </a:lnSpc>
              <a:buNone/>
            </a:pPr>
            <a:r>
              <a:rPr lang="en-US" sz="1100" dirty="0">
                <a:solidFill>
                  <a:srgbClr val="6B7A8D"/>
                </a:solidFill>
                <a:latin typeface="Calibri" pitchFamily="34" charset="0"/>
                <a:ea typeface="Calibri" pitchFamily="34" charset="-122"/>
                <a:cs typeface="Calibri" pitchFamily="34" charset="-120"/>
              </a:rPr>
              <a:t>Controls spend &amp; fraud response. Full state-transition matrix, balance/auth/settlement integrity.</a:t>
            </a:r>
            <a:endParaRPr lang="en-US" sz="1100" dirty="0"/>
          </a:p>
        </p:txBody>
      </p:sp>
      <p:sp>
        <p:nvSpPr>
          <p:cNvPr id="13" name="Shape 10"/>
          <p:cNvSpPr/>
          <p:nvPr/>
        </p:nvSpPr>
        <p:spPr>
          <a:xfrm>
            <a:off x="6629400" y="3758184"/>
            <a:ext cx="4983480" cy="896112"/>
          </a:xfrm>
          <a:prstGeom prst="roundRect">
            <a:avLst>
              <a:gd name="adj" fmla="val 6122"/>
            </a:avLst>
          </a:prstGeom>
          <a:solidFill>
            <a:srgbClr val="F4F8FB"/>
          </a:solidFill>
          <a:ln w="12700">
            <a:solidFill>
              <a:srgbClr val="DCE7F0"/>
            </a:solidFill>
            <a:prstDash val="solid"/>
          </a:ln>
        </p:spPr>
      </p:sp>
      <p:sp>
        <p:nvSpPr>
          <p:cNvPr id="14" name="Shape 11"/>
          <p:cNvSpPr/>
          <p:nvPr/>
        </p:nvSpPr>
        <p:spPr>
          <a:xfrm>
            <a:off x="6830568" y="4078224"/>
            <a:ext cx="256032" cy="256032"/>
          </a:xfrm>
          <a:prstGeom prst="ellipse">
            <a:avLst/>
          </a:prstGeom>
          <a:solidFill>
            <a:srgbClr val="1C7293"/>
          </a:solidFill>
          <a:ln/>
        </p:spPr>
      </p:sp>
      <p:sp>
        <p:nvSpPr>
          <p:cNvPr id="15" name="Text 12"/>
          <p:cNvSpPr/>
          <p:nvPr/>
        </p:nvSpPr>
        <p:spPr>
          <a:xfrm>
            <a:off x="7223760" y="3849624"/>
            <a:ext cx="4251960" cy="301752"/>
          </a:xfrm>
          <a:prstGeom prst="rect">
            <a:avLst/>
          </a:prstGeom>
          <a:noFill/>
          <a:ln/>
        </p:spPr>
        <p:txBody>
          <a:bodyPr wrap="square" lIns="0" tIns="0" rIns="0" bIns="0" rtlCol="0" anchor="ctr"/>
          <a:lstStyle/>
          <a:p>
            <a:pPr indent="0" marL="0">
              <a:buNone/>
            </a:pPr>
            <a:r>
              <a:rPr lang="en-US" sz="1450" b="1" dirty="0">
                <a:solidFill>
                  <a:srgbClr val="1A2330"/>
                </a:solidFill>
                <a:latin typeface="Cambria" pitchFamily="34" charset="0"/>
                <a:ea typeface="Cambria" pitchFamily="34" charset="-122"/>
                <a:cs typeface="Cambria" pitchFamily="34" charset="-120"/>
              </a:rPr>
              <a:t>Cardholders</a:t>
            </a:r>
            <a:endParaRPr lang="en-US" sz="1450" dirty="0"/>
          </a:p>
        </p:txBody>
      </p:sp>
      <p:sp>
        <p:nvSpPr>
          <p:cNvPr id="16" name="Text 13"/>
          <p:cNvSpPr/>
          <p:nvPr/>
        </p:nvSpPr>
        <p:spPr>
          <a:xfrm>
            <a:off x="7223760" y="4142232"/>
            <a:ext cx="4206240" cy="475488"/>
          </a:xfrm>
          <a:prstGeom prst="rect">
            <a:avLst/>
          </a:prstGeom>
          <a:noFill/>
          <a:ln/>
        </p:spPr>
        <p:txBody>
          <a:bodyPr wrap="square" lIns="0" tIns="0" rIns="0" bIns="0" rtlCol="0" anchor="ctr"/>
          <a:lstStyle/>
          <a:p>
            <a:pPr indent="0" marL="0">
              <a:lnSpc>
                <a:spcPct val="96000"/>
              </a:lnSpc>
              <a:buNone/>
            </a:pPr>
            <a:r>
              <a:rPr lang="en-US" sz="1100" dirty="0">
                <a:solidFill>
                  <a:srgbClr val="6B7A8D"/>
                </a:solidFill>
                <a:latin typeface="Calibri" pitchFamily="34" charset="0"/>
                <a:ea typeface="Calibri" pitchFamily="34" charset="-122"/>
                <a:cs typeface="Calibri" pitchFamily="34" charset="-120"/>
              </a:rPr>
              <a:t>Entry point; KYC-sensitive. Full CRUD, field validation, address-update cooldown.</a:t>
            </a:r>
            <a:endParaRPr lang="en-US" sz="1100" dirty="0"/>
          </a:p>
        </p:txBody>
      </p:sp>
      <p:sp>
        <p:nvSpPr>
          <p:cNvPr id="17" name="Shape 14"/>
          <p:cNvSpPr/>
          <p:nvPr/>
        </p:nvSpPr>
        <p:spPr>
          <a:xfrm>
            <a:off x="6629400" y="4745736"/>
            <a:ext cx="4983480" cy="896112"/>
          </a:xfrm>
          <a:prstGeom prst="roundRect">
            <a:avLst>
              <a:gd name="adj" fmla="val 6122"/>
            </a:avLst>
          </a:prstGeom>
          <a:solidFill>
            <a:srgbClr val="F4F8FB"/>
          </a:solidFill>
          <a:ln w="12700">
            <a:solidFill>
              <a:srgbClr val="DCE7F0"/>
            </a:solidFill>
            <a:prstDash val="solid"/>
          </a:ln>
        </p:spPr>
      </p:sp>
      <p:sp>
        <p:nvSpPr>
          <p:cNvPr id="18" name="Shape 15"/>
          <p:cNvSpPr/>
          <p:nvPr/>
        </p:nvSpPr>
        <p:spPr>
          <a:xfrm>
            <a:off x="6830568" y="5065776"/>
            <a:ext cx="256032" cy="256032"/>
          </a:xfrm>
          <a:prstGeom prst="ellipse">
            <a:avLst/>
          </a:prstGeom>
          <a:solidFill>
            <a:srgbClr val="6B7A8D"/>
          </a:solidFill>
          <a:ln/>
        </p:spPr>
      </p:sp>
      <p:sp>
        <p:nvSpPr>
          <p:cNvPr id="19" name="Text 16"/>
          <p:cNvSpPr/>
          <p:nvPr/>
        </p:nvSpPr>
        <p:spPr>
          <a:xfrm>
            <a:off x="7223760" y="4837176"/>
            <a:ext cx="4251960" cy="301752"/>
          </a:xfrm>
          <a:prstGeom prst="rect">
            <a:avLst/>
          </a:prstGeom>
          <a:noFill/>
          <a:ln/>
        </p:spPr>
        <p:txBody>
          <a:bodyPr wrap="square" lIns="0" tIns="0" rIns="0" bIns="0" rtlCol="0" anchor="ctr"/>
          <a:lstStyle/>
          <a:p>
            <a:pPr indent="0" marL="0">
              <a:buNone/>
            </a:pPr>
            <a:r>
              <a:rPr lang="en-US" sz="1450" b="1" dirty="0">
                <a:solidFill>
                  <a:srgbClr val="1A2330"/>
                </a:solidFill>
                <a:latin typeface="Cambria" pitchFamily="34" charset="0"/>
                <a:ea typeface="Cambria" pitchFamily="34" charset="-122"/>
                <a:cs typeface="Cambria" pitchFamily="34" charset="-120"/>
              </a:rPr>
              <a:t>Programs</a:t>
            </a:r>
            <a:endParaRPr lang="en-US" sz="1450" dirty="0"/>
          </a:p>
        </p:txBody>
      </p:sp>
      <p:sp>
        <p:nvSpPr>
          <p:cNvPr id="20" name="Text 17"/>
          <p:cNvSpPr/>
          <p:nvPr/>
        </p:nvSpPr>
        <p:spPr>
          <a:xfrm>
            <a:off x="7223760" y="5129784"/>
            <a:ext cx="4206240" cy="475488"/>
          </a:xfrm>
          <a:prstGeom prst="rect">
            <a:avLst/>
          </a:prstGeom>
          <a:noFill/>
          <a:ln/>
        </p:spPr>
        <p:txBody>
          <a:bodyPr wrap="square" lIns="0" tIns="0" rIns="0" bIns="0" rtlCol="0" anchor="ctr"/>
          <a:lstStyle/>
          <a:p>
            <a:pPr indent="0" marL="0">
              <a:lnSpc>
                <a:spcPct val="96000"/>
              </a:lnSpc>
              <a:buNone/>
            </a:pPr>
            <a:r>
              <a:rPr lang="en-US" sz="1100" dirty="0">
                <a:solidFill>
                  <a:srgbClr val="6B7A8D"/>
                </a:solidFill>
                <a:latin typeface="Calibri" pitchFamily="34" charset="0"/>
                <a:ea typeface="Calibri" pitchFamily="34" charset="-122"/>
                <a:cs typeface="Calibri" pitchFamily="34" charset="-120"/>
              </a:rPr>
              <a:t>Mostly read-only config, but the funding-balance source of truth. Auth isolation.</a:t>
            </a:r>
            <a:endParaRPr lang="en-US" sz="1100" dirty="0"/>
          </a:p>
        </p:txBody>
      </p:sp>
      <p:sp>
        <p:nvSpPr>
          <p:cNvPr id="21" name="Text 18"/>
          <p:cNvSpPr/>
          <p:nvPr/>
        </p:nvSpPr>
        <p:spPr>
          <a:xfrm>
            <a:off x="548640" y="5623560"/>
            <a:ext cx="5852160" cy="777240"/>
          </a:xfrm>
          <a:prstGeom prst="rect">
            <a:avLst/>
          </a:prstGeom>
          <a:solidFill>
            <a:srgbClr val="FFF6EC"/>
          </a:solidFill>
          <a:ln w="12700">
            <a:solidFill>
              <a:srgbClr val="F2A65A"/>
            </a:solidFill>
          </a:ln>
        </p:spPr>
        <p:txBody>
          <a:bodyPr wrap="square" lIns="127000" tIns="127000" rIns="127000" bIns="12700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Don't quote a line-coverage %.  </a:t>
            </a:r>
            <a:pPr indent="0" marL="0">
              <a:buNone/>
            </a:pPr>
            <a:r>
              <a:rPr lang="en-US" sz="1250" dirty="0">
                <a:solidFill>
                  <a:srgbClr val="1A2330"/>
                </a:solidFill>
                <a:latin typeface="Calibri" pitchFamily="34" charset="0"/>
                <a:ea typeface="Calibri" pitchFamily="34" charset="-122"/>
                <a:cs typeface="Calibri" pitchFamily="34" charset="-120"/>
              </a:rPr>
              <a:t>No source access — speak in requirement &amp; risk coverage: every endpoint, error, transition, and money invariant has ≥1 test.</a:t>
            </a:r>
            <a:endParaRPr lang="en-US" sz="1250" dirty="0"/>
          </a:p>
        </p:txBody>
      </p:sp>
      <p:sp>
        <p:nvSpPr>
          <p:cNvPr id="22" name="Text 19"/>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05</a:t>
            </a:r>
            <a:endParaRPr lang="en-US" sz="1000" dirty="0"/>
          </a:p>
        </p:txBody>
      </p:sp>
      <p:sp>
        <p:nvSpPr>
          <p:cNvPr id="23" name="Text 20"/>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5 · TOOLING</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Playwright + TypeScript as the backbone</a:t>
            </a:r>
            <a:endParaRPr lang="en-US" sz="3200" dirty="0"/>
          </a:p>
        </p:txBody>
      </p:sp>
      <p:sp>
        <p:nvSpPr>
          <p:cNvPr id="4" name="Shape 2"/>
          <p:cNvSpPr/>
          <p:nvPr/>
        </p:nvSpPr>
        <p:spPr>
          <a:xfrm>
            <a:off x="548640" y="1828800"/>
            <a:ext cx="4114800" cy="4023360"/>
          </a:xfrm>
          <a:prstGeom prst="roundRect">
            <a:avLst>
              <a:gd name="adj" fmla="val 1818"/>
            </a:avLst>
          </a:prstGeom>
          <a:solidFill>
            <a:srgbClr val="21295C"/>
          </a:solidFill>
          <a:ln/>
          <a:effectLst>
            <a:outerShdw sx="100000" sy="100000" kx="0" ky="0" algn="bl" rotWithShape="0" blurRad="88900" dist="38100" dir="5400000">
              <a:srgbClr val="000000">
                <a:alpha val="12000"/>
              </a:srgbClr>
            </a:outerShdw>
          </a:effectLst>
        </p:spPr>
      </p:sp>
      <p:sp>
        <p:nvSpPr>
          <p:cNvPr id="5" name="Shape 3"/>
          <p:cNvSpPr/>
          <p:nvPr/>
        </p:nvSpPr>
        <p:spPr>
          <a:xfrm>
            <a:off x="868680" y="2148840"/>
            <a:ext cx="822960" cy="822960"/>
          </a:xfrm>
          <a:prstGeom prst="ellipse">
            <a:avLst/>
          </a:prstGeom>
          <a:solidFill>
            <a:srgbClr val="F2A65A"/>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082650" y="2362810"/>
            <a:ext cx="395021" cy="395021"/>
          </a:xfrm>
          <a:prstGeom prst="rect">
            <a:avLst/>
          </a:prstGeom>
        </p:spPr>
      </p:pic>
      <p:sp>
        <p:nvSpPr>
          <p:cNvPr id="7" name="Text 4"/>
          <p:cNvSpPr/>
          <p:nvPr/>
        </p:nvSpPr>
        <p:spPr>
          <a:xfrm>
            <a:off x="1783080" y="2286000"/>
            <a:ext cx="2743200" cy="5486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Why Playwright + TS</a:t>
            </a:r>
            <a:endParaRPr lang="en-US" sz="1700" dirty="0"/>
          </a:p>
        </p:txBody>
      </p:sp>
      <p:sp>
        <p:nvSpPr>
          <p:cNvPr id="8" name="Text 5"/>
          <p:cNvSpPr/>
          <p:nvPr/>
        </p:nvSpPr>
        <p:spPr>
          <a:xfrm>
            <a:off x="914400" y="3108960"/>
            <a:ext cx="3566160" cy="2651760"/>
          </a:xfrm>
          <a:prstGeom prst="rect">
            <a:avLst/>
          </a:prstGeom>
          <a:noFill/>
          <a:ln/>
        </p:spPr>
        <p:txBody>
          <a:bodyPr wrap="square" lIns="0" tIns="0" rIns="0" bIns="0" rtlCol="0" anchor="ctr"/>
          <a:lstStyle/>
          <a:p>
            <a:pPr marL="342900" indent="-342900">
              <a:spcAft>
                <a:spcPts val="400"/>
              </a:spcAft>
              <a:buSzPct val="100000"/>
              <a:buChar char="•"/>
            </a:pPr>
            <a:r>
              <a:rPr lang="en-US" sz="1300" b="1" dirty="0">
                <a:solidFill>
                  <a:srgbClr val="FFFFFF"/>
                </a:solidFill>
                <a:latin typeface="Calibri" pitchFamily="34" charset="0"/>
                <a:ea typeface="Calibri" pitchFamily="34" charset="-122"/>
                <a:cs typeface="Calibri" pitchFamily="34" charset="-120"/>
              </a:rPr>
              <a:t>First-class API request context</a:t>
            </a:r>
            <a:endParaRPr lang="en-US" sz="1300" dirty="0"/>
          </a:p>
          <a:p>
            <a:pPr indent="0" marL="0">
              <a:spcAft>
                <a:spcPts val="400"/>
              </a:spcAft>
              <a:buNone/>
            </a:pPr>
            <a:r>
              <a:rPr lang="en-US" sz="1150" dirty="0">
                <a:solidFill>
                  <a:srgbClr val="CADCFC"/>
                </a:solidFill>
                <a:latin typeface="Calibri" pitchFamily="34" charset="0"/>
                <a:ea typeface="Calibri" pitchFamily="34" charset="-122"/>
                <a:cs typeface="Calibri" pitchFamily="34" charset="-120"/>
              </a:rPr>
              <a:t>no browser needed; scales to UI if a portal appears</a:t>
            </a:r>
            <a:endParaRPr lang="en-US" sz="1300" dirty="0"/>
          </a:p>
          <a:p>
            <a:pPr marL="342900" indent="-342900">
              <a:spcAft>
                <a:spcPts val="400"/>
              </a:spcAft>
              <a:buSzPct val="100000"/>
              <a:buChar char="•"/>
            </a:pPr>
            <a:r>
              <a:rPr lang="en-US" sz="1300" b="1" dirty="0">
                <a:solidFill>
                  <a:srgbClr val="FFFFFF"/>
                </a:solidFill>
                <a:latin typeface="Calibri" pitchFamily="34" charset="0"/>
                <a:ea typeface="Calibri" pitchFamily="34" charset="-122"/>
                <a:cs typeface="Calibri" pitchFamily="34" charset="-120"/>
              </a:rPr>
              <a:t>Typed payloads</a:t>
            </a:r>
            <a:endParaRPr lang="en-US" sz="1300" dirty="0"/>
          </a:p>
          <a:p>
            <a:pPr indent="0" marL="0">
              <a:spcAft>
                <a:spcPts val="400"/>
              </a:spcAft>
              <a:buNone/>
            </a:pPr>
            <a:r>
              <a:rPr lang="en-US" sz="1150" dirty="0">
                <a:solidFill>
                  <a:srgbClr val="CADCFC"/>
                </a:solidFill>
                <a:latin typeface="Calibri" pitchFamily="34" charset="0"/>
                <a:ea typeface="Calibri" pitchFamily="34" charset="-122"/>
                <a:cs typeface="Calibri" pitchFamily="34" charset="-120"/>
              </a:rPr>
              <a:t>catch contract drift at compile time</a:t>
            </a:r>
            <a:endParaRPr lang="en-US" sz="1300" dirty="0"/>
          </a:p>
          <a:p>
            <a:pPr marL="342900" indent="-342900">
              <a:spcAft>
                <a:spcPts val="400"/>
              </a:spcAft>
              <a:buSzPct val="100000"/>
              <a:buChar char="•"/>
            </a:pPr>
            <a:r>
              <a:rPr lang="en-US" sz="1300" b="1" dirty="0">
                <a:solidFill>
                  <a:srgbClr val="FFFFFF"/>
                </a:solidFill>
                <a:latin typeface="Calibri" pitchFamily="34" charset="0"/>
                <a:ea typeface="Calibri" pitchFamily="34" charset="-122"/>
                <a:cs typeface="Calibri" pitchFamily="34" charset="-120"/>
              </a:rPr>
              <a:t>Fixtures &amp; projects</a:t>
            </a:r>
            <a:endParaRPr lang="en-US" sz="1300" dirty="0"/>
          </a:p>
          <a:p>
            <a:pPr indent="0" marL="0">
              <a:spcAft>
                <a:spcPts val="400"/>
              </a:spcAft>
              <a:buNone/>
            </a:pPr>
            <a:r>
              <a:rPr lang="en-US" sz="1150" dirty="0">
                <a:solidFill>
                  <a:srgbClr val="CADCFC"/>
                </a:solidFill>
                <a:latin typeface="Calibri" pitchFamily="34" charset="0"/>
                <a:ea typeface="Calibri" pitchFamily="34" charset="-122"/>
                <a:cs typeface="Calibri" pitchFamily="34" charset="-120"/>
              </a:rPr>
              <a:t>clean setup/teardown + env switching</a:t>
            </a:r>
            <a:endParaRPr lang="en-US" sz="1300" dirty="0"/>
          </a:p>
          <a:p>
            <a:pPr marL="342900" indent="-342900">
              <a:spcAft>
                <a:spcPts val="400"/>
              </a:spcAft>
              <a:buSzPct val="100000"/>
              <a:buChar char="•"/>
            </a:pPr>
            <a:r>
              <a:rPr lang="en-US" sz="1300" b="1" dirty="0">
                <a:solidFill>
                  <a:srgbClr val="FFFFFF"/>
                </a:solidFill>
                <a:latin typeface="Calibri" pitchFamily="34" charset="0"/>
                <a:ea typeface="Calibri" pitchFamily="34" charset="-122"/>
                <a:cs typeface="Calibri" pitchFamily="34" charset="-120"/>
              </a:rPr>
              <a:t>Built-in parallelism, retries, tracing, HTML reports</a:t>
            </a:r>
            <a:endParaRPr lang="en-US" sz="1300" dirty="0"/>
          </a:p>
          <a:p>
            <a:pPr indent="0" marL="0">
              <a:spcAft>
                <a:spcPts val="400"/>
              </a:spcAft>
              <a:buNone/>
            </a:pPr>
            <a:r>
              <a:rPr lang="en-US" sz="1150" dirty="0">
                <a:solidFill>
                  <a:srgbClr val="CADCFC"/>
                </a:solidFill>
                <a:latin typeface="Calibri" pitchFamily="34" charset="0"/>
                <a:ea typeface="Calibri" pitchFamily="34" charset="-122"/>
                <a:cs typeface="Calibri" pitchFamily="34" charset="-120"/>
              </a:rPr>
              <a:t>strong CI story; shared Node/TS with devs</a:t>
            </a:r>
            <a:endParaRPr lang="en-US" sz="1300" dirty="0"/>
          </a:p>
        </p:txBody>
      </p:sp>
      <p:sp>
        <p:nvSpPr>
          <p:cNvPr id="9" name="Shape 6"/>
          <p:cNvSpPr/>
          <p:nvPr/>
        </p:nvSpPr>
        <p:spPr>
          <a:xfrm>
            <a:off x="4937760" y="1828800"/>
            <a:ext cx="6675120" cy="621792"/>
          </a:xfrm>
          <a:prstGeom prst="roundRect">
            <a:avLst>
              <a:gd name="adj" fmla="val 8824"/>
            </a:avLst>
          </a:prstGeom>
          <a:solidFill>
            <a:srgbClr val="F4F8FB"/>
          </a:solidFill>
          <a:ln w="12700">
            <a:solidFill>
              <a:srgbClr val="DCE7F0"/>
            </a:solidFill>
            <a:prstDash val="solid"/>
          </a:ln>
        </p:spPr>
      </p:sp>
      <p:sp>
        <p:nvSpPr>
          <p:cNvPr id="10" name="Shape 7"/>
          <p:cNvSpPr/>
          <p:nvPr/>
        </p:nvSpPr>
        <p:spPr>
          <a:xfrm>
            <a:off x="5056632" y="1929384"/>
            <a:ext cx="420624" cy="420624"/>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165994" y="2038746"/>
            <a:ext cx="201900" cy="201900"/>
          </a:xfrm>
          <a:prstGeom prst="rect">
            <a:avLst/>
          </a:prstGeom>
        </p:spPr>
      </p:pic>
      <p:sp>
        <p:nvSpPr>
          <p:cNvPr id="12" name="Text 8"/>
          <p:cNvSpPr/>
          <p:nvPr/>
        </p:nvSpPr>
        <p:spPr>
          <a:xfrm>
            <a:off x="5623560" y="1828800"/>
            <a:ext cx="2377440" cy="621792"/>
          </a:xfrm>
          <a:prstGeom prst="rect">
            <a:avLst/>
          </a:prstGeom>
          <a:noFill/>
          <a:ln/>
        </p:spPr>
        <p:txBody>
          <a:bodyPr wrap="square" lIns="0" tIns="0" rIns="0" bIns="0" rtlCol="0" anchor="ctr"/>
          <a:lstStyle/>
          <a:p>
            <a:pPr indent="0" marL="0">
              <a:buNone/>
            </a:pPr>
            <a:r>
              <a:rPr lang="en-US" sz="1350" b="1" dirty="0">
                <a:solidFill>
                  <a:srgbClr val="1A2330"/>
                </a:solidFill>
                <a:latin typeface="Calibri" pitchFamily="34" charset="0"/>
                <a:ea typeface="Calibri" pitchFamily="34" charset="-122"/>
                <a:cs typeface="Calibri" pitchFamily="34" charset="-120"/>
              </a:rPr>
              <a:t>Postman / Newman</a:t>
            </a:r>
            <a:endParaRPr lang="en-US" sz="1350" dirty="0"/>
          </a:p>
        </p:txBody>
      </p:sp>
      <p:sp>
        <p:nvSpPr>
          <p:cNvPr id="13" name="Text 9"/>
          <p:cNvSpPr/>
          <p:nvPr/>
        </p:nvSpPr>
        <p:spPr>
          <a:xfrm>
            <a:off x="7955280" y="1828800"/>
            <a:ext cx="3520440" cy="621792"/>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Exploratory, living docs, CI smoke</a:t>
            </a:r>
            <a:endParaRPr lang="en-US" sz="1250" dirty="0"/>
          </a:p>
        </p:txBody>
      </p:sp>
      <p:sp>
        <p:nvSpPr>
          <p:cNvPr id="14" name="Shape 10"/>
          <p:cNvSpPr/>
          <p:nvPr/>
        </p:nvSpPr>
        <p:spPr>
          <a:xfrm>
            <a:off x="4937760" y="2560320"/>
            <a:ext cx="6675120" cy="621792"/>
          </a:xfrm>
          <a:prstGeom prst="roundRect">
            <a:avLst>
              <a:gd name="adj" fmla="val 8824"/>
            </a:avLst>
          </a:prstGeom>
          <a:solidFill>
            <a:srgbClr val="F4F8FB"/>
          </a:solidFill>
          <a:ln w="12700">
            <a:solidFill>
              <a:srgbClr val="DCE7F0"/>
            </a:solidFill>
            <a:prstDash val="solid"/>
          </a:ln>
        </p:spPr>
      </p:sp>
      <p:sp>
        <p:nvSpPr>
          <p:cNvPr id="15" name="Shape 11"/>
          <p:cNvSpPr/>
          <p:nvPr/>
        </p:nvSpPr>
        <p:spPr>
          <a:xfrm>
            <a:off x="5056632" y="2660904"/>
            <a:ext cx="420624" cy="420624"/>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5165994" y="2770266"/>
            <a:ext cx="201900" cy="201900"/>
          </a:xfrm>
          <a:prstGeom prst="rect">
            <a:avLst/>
          </a:prstGeom>
        </p:spPr>
      </p:pic>
      <p:sp>
        <p:nvSpPr>
          <p:cNvPr id="17" name="Text 12"/>
          <p:cNvSpPr/>
          <p:nvPr/>
        </p:nvSpPr>
        <p:spPr>
          <a:xfrm>
            <a:off x="5623560" y="2560320"/>
            <a:ext cx="2377440" cy="621792"/>
          </a:xfrm>
          <a:prstGeom prst="rect">
            <a:avLst/>
          </a:prstGeom>
          <a:noFill/>
          <a:ln/>
        </p:spPr>
        <p:txBody>
          <a:bodyPr wrap="square" lIns="0" tIns="0" rIns="0" bIns="0" rtlCol="0" anchor="ctr"/>
          <a:lstStyle/>
          <a:p>
            <a:pPr indent="0" marL="0">
              <a:buNone/>
            </a:pPr>
            <a:r>
              <a:rPr lang="en-US" sz="1350" b="1" dirty="0">
                <a:solidFill>
                  <a:srgbClr val="1A2330"/>
                </a:solidFill>
                <a:latin typeface="Calibri" pitchFamily="34" charset="0"/>
                <a:ea typeface="Calibri" pitchFamily="34" charset="-122"/>
                <a:cs typeface="Calibri" pitchFamily="34" charset="-120"/>
              </a:rPr>
              <a:t>Jest / Vitest</a:t>
            </a:r>
            <a:endParaRPr lang="en-US" sz="1350" dirty="0"/>
          </a:p>
        </p:txBody>
      </p:sp>
      <p:sp>
        <p:nvSpPr>
          <p:cNvPr id="18" name="Text 13"/>
          <p:cNvSpPr/>
          <p:nvPr/>
        </p:nvSpPr>
        <p:spPr>
          <a:xfrm>
            <a:off x="7955280" y="2560320"/>
            <a:ext cx="3520440" cy="621792"/>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Unit tests on our glue code</a:t>
            </a:r>
            <a:endParaRPr lang="en-US" sz="1250" dirty="0"/>
          </a:p>
        </p:txBody>
      </p:sp>
      <p:sp>
        <p:nvSpPr>
          <p:cNvPr id="19" name="Shape 14"/>
          <p:cNvSpPr/>
          <p:nvPr/>
        </p:nvSpPr>
        <p:spPr>
          <a:xfrm>
            <a:off x="4937760" y="3291840"/>
            <a:ext cx="6675120" cy="621792"/>
          </a:xfrm>
          <a:prstGeom prst="roundRect">
            <a:avLst>
              <a:gd name="adj" fmla="val 8824"/>
            </a:avLst>
          </a:prstGeom>
          <a:solidFill>
            <a:srgbClr val="F4F8FB"/>
          </a:solidFill>
          <a:ln w="12700">
            <a:solidFill>
              <a:srgbClr val="DCE7F0"/>
            </a:solidFill>
            <a:prstDash val="solid"/>
          </a:ln>
        </p:spPr>
      </p:sp>
      <p:sp>
        <p:nvSpPr>
          <p:cNvPr id="20" name="Shape 15"/>
          <p:cNvSpPr/>
          <p:nvPr/>
        </p:nvSpPr>
        <p:spPr>
          <a:xfrm>
            <a:off x="5056632" y="3392424"/>
            <a:ext cx="420624" cy="420624"/>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21" name="Image 3" descr="preencoded.png">    </p:cNvPr>
          <p:cNvPicPr>
            <a:picLocks noChangeAspect="1"/>
          </p:cNvPicPr>
          <p:nvPr/>
        </p:nvPicPr>
        <p:blipFill>
          <a:blip r:embed="rId4"/>
          <a:stretch>
            <a:fillRect/>
          </a:stretch>
        </p:blipFill>
        <p:spPr>
          <a:xfrm>
            <a:off x="5165994" y="3501786"/>
            <a:ext cx="201900" cy="201900"/>
          </a:xfrm>
          <a:prstGeom prst="rect">
            <a:avLst/>
          </a:prstGeom>
        </p:spPr>
      </p:pic>
      <p:sp>
        <p:nvSpPr>
          <p:cNvPr id="22" name="Text 16"/>
          <p:cNvSpPr/>
          <p:nvPr/>
        </p:nvSpPr>
        <p:spPr>
          <a:xfrm>
            <a:off x="5623560" y="3291840"/>
            <a:ext cx="2377440" cy="621792"/>
          </a:xfrm>
          <a:prstGeom prst="rect">
            <a:avLst/>
          </a:prstGeom>
          <a:noFill/>
          <a:ln/>
        </p:spPr>
        <p:txBody>
          <a:bodyPr wrap="square" lIns="0" tIns="0" rIns="0" bIns="0" rtlCol="0" anchor="ctr"/>
          <a:lstStyle/>
          <a:p>
            <a:pPr indent="0" marL="0">
              <a:buNone/>
            </a:pPr>
            <a:r>
              <a:rPr lang="en-US" sz="1350" b="1" dirty="0">
                <a:solidFill>
                  <a:srgbClr val="1A2330"/>
                </a:solidFill>
                <a:latin typeface="Calibri" pitchFamily="34" charset="0"/>
                <a:ea typeface="Calibri" pitchFamily="34" charset="-122"/>
                <a:cs typeface="Calibri" pitchFamily="34" charset="-120"/>
              </a:rPr>
              <a:t>Pact</a:t>
            </a:r>
            <a:endParaRPr lang="en-US" sz="1350" dirty="0"/>
          </a:p>
        </p:txBody>
      </p:sp>
      <p:sp>
        <p:nvSpPr>
          <p:cNvPr id="23" name="Text 17"/>
          <p:cNvSpPr/>
          <p:nvPr/>
        </p:nvSpPr>
        <p:spPr>
          <a:xfrm>
            <a:off x="7955280" y="3291840"/>
            <a:ext cx="3520440" cy="621792"/>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Contract tests vs. provider drift</a:t>
            </a:r>
            <a:endParaRPr lang="en-US" sz="1250" dirty="0"/>
          </a:p>
        </p:txBody>
      </p:sp>
      <p:sp>
        <p:nvSpPr>
          <p:cNvPr id="24" name="Shape 18"/>
          <p:cNvSpPr/>
          <p:nvPr/>
        </p:nvSpPr>
        <p:spPr>
          <a:xfrm>
            <a:off x="4937760" y="4023360"/>
            <a:ext cx="6675120" cy="621792"/>
          </a:xfrm>
          <a:prstGeom prst="roundRect">
            <a:avLst>
              <a:gd name="adj" fmla="val 8824"/>
            </a:avLst>
          </a:prstGeom>
          <a:solidFill>
            <a:srgbClr val="F4F8FB"/>
          </a:solidFill>
          <a:ln w="12700">
            <a:solidFill>
              <a:srgbClr val="DCE7F0"/>
            </a:solidFill>
            <a:prstDash val="solid"/>
          </a:ln>
        </p:spPr>
      </p:sp>
      <p:sp>
        <p:nvSpPr>
          <p:cNvPr id="25" name="Shape 19"/>
          <p:cNvSpPr/>
          <p:nvPr/>
        </p:nvSpPr>
        <p:spPr>
          <a:xfrm>
            <a:off x="5056632" y="4123944"/>
            <a:ext cx="420624" cy="420624"/>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26" name="Image 4" descr="preencoded.png">    </p:cNvPr>
          <p:cNvPicPr>
            <a:picLocks noChangeAspect="1"/>
          </p:cNvPicPr>
          <p:nvPr/>
        </p:nvPicPr>
        <p:blipFill>
          <a:blip r:embed="rId5"/>
          <a:stretch>
            <a:fillRect/>
          </a:stretch>
        </p:blipFill>
        <p:spPr>
          <a:xfrm>
            <a:off x="5165994" y="4233306"/>
            <a:ext cx="201900" cy="201900"/>
          </a:xfrm>
          <a:prstGeom prst="rect">
            <a:avLst/>
          </a:prstGeom>
        </p:spPr>
      </p:pic>
      <p:sp>
        <p:nvSpPr>
          <p:cNvPr id="27" name="Text 20"/>
          <p:cNvSpPr/>
          <p:nvPr/>
        </p:nvSpPr>
        <p:spPr>
          <a:xfrm>
            <a:off x="5623560" y="4023360"/>
            <a:ext cx="2377440" cy="621792"/>
          </a:xfrm>
          <a:prstGeom prst="rect">
            <a:avLst/>
          </a:prstGeom>
          <a:noFill/>
          <a:ln/>
        </p:spPr>
        <p:txBody>
          <a:bodyPr wrap="square" lIns="0" tIns="0" rIns="0" bIns="0" rtlCol="0" anchor="ctr"/>
          <a:lstStyle/>
          <a:p>
            <a:pPr indent="0" marL="0">
              <a:buNone/>
            </a:pPr>
            <a:r>
              <a:rPr lang="en-US" sz="1350" b="1" dirty="0">
                <a:solidFill>
                  <a:srgbClr val="1A2330"/>
                </a:solidFill>
                <a:latin typeface="Calibri" pitchFamily="34" charset="0"/>
                <a:ea typeface="Calibri" pitchFamily="34" charset="-122"/>
                <a:cs typeface="Calibri" pitchFamily="34" charset="-120"/>
              </a:rPr>
              <a:t>Ajv / OpenAPI</a:t>
            </a:r>
            <a:endParaRPr lang="en-US" sz="1350" dirty="0"/>
          </a:p>
        </p:txBody>
      </p:sp>
      <p:sp>
        <p:nvSpPr>
          <p:cNvPr id="28" name="Text 21"/>
          <p:cNvSpPr/>
          <p:nvPr/>
        </p:nvSpPr>
        <p:spPr>
          <a:xfrm>
            <a:off x="7955280" y="4023360"/>
            <a:ext cx="3520440" cy="621792"/>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Schema validation of responses</a:t>
            </a:r>
            <a:endParaRPr lang="en-US" sz="1250" dirty="0"/>
          </a:p>
        </p:txBody>
      </p:sp>
      <p:sp>
        <p:nvSpPr>
          <p:cNvPr id="29" name="Shape 22"/>
          <p:cNvSpPr/>
          <p:nvPr/>
        </p:nvSpPr>
        <p:spPr>
          <a:xfrm>
            <a:off x="4937760" y="4754880"/>
            <a:ext cx="6675120" cy="621792"/>
          </a:xfrm>
          <a:prstGeom prst="roundRect">
            <a:avLst>
              <a:gd name="adj" fmla="val 8824"/>
            </a:avLst>
          </a:prstGeom>
          <a:solidFill>
            <a:srgbClr val="F4F8FB"/>
          </a:solidFill>
          <a:ln w="12700">
            <a:solidFill>
              <a:srgbClr val="DCE7F0"/>
            </a:solidFill>
            <a:prstDash val="solid"/>
          </a:ln>
        </p:spPr>
      </p:sp>
      <p:sp>
        <p:nvSpPr>
          <p:cNvPr id="30" name="Shape 23"/>
          <p:cNvSpPr/>
          <p:nvPr/>
        </p:nvSpPr>
        <p:spPr>
          <a:xfrm>
            <a:off x="5056632" y="4855464"/>
            <a:ext cx="420624" cy="420624"/>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31" name="Image 5" descr="preencoded.png">    </p:cNvPr>
          <p:cNvPicPr>
            <a:picLocks noChangeAspect="1"/>
          </p:cNvPicPr>
          <p:nvPr/>
        </p:nvPicPr>
        <p:blipFill>
          <a:blip r:embed="rId6"/>
          <a:stretch>
            <a:fillRect/>
          </a:stretch>
        </p:blipFill>
        <p:spPr>
          <a:xfrm>
            <a:off x="5165994" y="4964826"/>
            <a:ext cx="201900" cy="201900"/>
          </a:xfrm>
          <a:prstGeom prst="rect">
            <a:avLst/>
          </a:prstGeom>
        </p:spPr>
      </p:pic>
      <p:sp>
        <p:nvSpPr>
          <p:cNvPr id="32" name="Text 24"/>
          <p:cNvSpPr/>
          <p:nvPr/>
        </p:nvSpPr>
        <p:spPr>
          <a:xfrm>
            <a:off x="5623560" y="4754880"/>
            <a:ext cx="2377440" cy="621792"/>
          </a:xfrm>
          <a:prstGeom prst="rect">
            <a:avLst/>
          </a:prstGeom>
          <a:noFill/>
          <a:ln/>
        </p:spPr>
        <p:txBody>
          <a:bodyPr wrap="square" lIns="0" tIns="0" rIns="0" bIns="0" rtlCol="0" anchor="ctr"/>
          <a:lstStyle/>
          <a:p>
            <a:pPr indent="0" marL="0">
              <a:buNone/>
            </a:pPr>
            <a:r>
              <a:rPr lang="en-US" sz="1350" b="1" dirty="0">
                <a:solidFill>
                  <a:srgbClr val="1A2330"/>
                </a:solidFill>
                <a:latin typeface="Calibri" pitchFamily="34" charset="0"/>
                <a:ea typeface="Calibri" pitchFamily="34" charset="-122"/>
                <a:cs typeface="Calibri" pitchFamily="34" charset="-120"/>
              </a:rPr>
              <a:t>k6 / Artillery</a:t>
            </a:r>
            <a:endParaRPr lang="en-US" sz="1350" dirty="0"/>
          </a:p>
        </p:txBody>
      </p:sp>
      <p:sp>
        <p:nvSpPr>
          <p:cNvPr id="33" name="Text 25"/>
          <p:cNvSpPr/>
          <p:nvPr/>
        </p:nvSpPr>
        <p:spPr>
          <a:xfrm>
            <a:off x="7955280" y="4754880"/>
            <a:ext cx="3520440" cy="621792"/>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Load, latency, rate-limit behaviour</a:t>
            </a:r>
            <a:endParaRPr lang="en-US" sz="1250" dirty="0"/>
          </a:p>
        </p:txBody>
      </p:sp>
      <p:sp>
        <p:nvSpPr>
          <p:cNvPr id="34" name="Shape 26"/>
          <p:cNvSpPr/>
          <p:nvPr/>
        </p:nvSpPr>
        <p:spPr>
          <a:xfrm>
            <a:off x="4937760" y="5486400"/>
            <a:ext cx="6675120" cy="621792"/>
          </a:xfrm>
          <a:prstGeom prst="roundRect">
            <a:avLst>
              <a:gd name="adj" fmla="val 8824"/>
            </a:avLst>
          </a:prstGeom>
          <a:solidFill>
            <a:srgbClr val="F4F8FB"/>
          </a:solidFill>
          <a:ln w="12700">
            <a:solidFill>
              <a:srgbClr val="DCE7F0"/>
            </a:solidFill>
            <a:prstDash val="solid"/>
          </a:ln>
        </p:spPr>
      </p:sp>
      <p:sp>
        <p:nvSpPr>
          <p:cNvPr id="35" name="Shape 27"/>
          <p:cNvSpPr/>
          <p:nvPr/>
        </p:nvSpPr>
        <p:spPr>
          <a:xfrm>
            <a:off x="5056632" y="5586984"/>
            <a:ext cx="420624" cy="420624"/>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36" name="Image 6" descr="preencoded.png">    </p:cNvPr>
          <p:cNvPicPr>
            <a:picLocks noChangeAspect="1"/>
          </p:cNvPicPr>
          <p:nvPr/>
        </p:nvPicPr>
        <p:blipFill>
          <a:blip r:embed="rId7"/>
          <a:stretch>
            <a:fillRect/>
          </a:stretch>
        </p:blipFill>
        <p:spPr>
          <a:xfrm>
            <a:off x="5165994" y="5696346"/>
            <a:ext cx="201900" cy="201900"/>
          </a:xfrm>
          <a:prstGeom prst="rect">
            <a:avLst/>
          </a:prstGeom>
        </p:spPr>
      </p:pic>
      <p:sp>
        <p:nvSpPr>
          <p:cNvPr id="37" name="Text 28"/>
          <p:cNvSpPr/>
          <p:nvPr/>
        </p:nvSpPr>
        <p:spPr>
          <a:xfrm>
            <a:off x="5623560" y="5486400"/>
            <a:ext cx="2377440" cy="621792"/>
          </a:xfrm>
          <a:prstGeom prst="rect">
            <a:avLst/>
          </a:prstGeom>
          <a:noFill/>
          <a:ln/>
        </p:spPr>
        <p:txBody>
          <a:bodyPr wrap="square" lIns="0" tIns="0" rIns="0" bIns="0" rtlCol="0" anchor="ctr"/>
          <a:lstStyle/>
          <a:p>
            <a:pPr indent="0" marL="0">
              <a:buNone/>
            </a:pPr>
            <a:r>
              <a:rPr lang="en-US" sz="1350" b="1" dirty="0">
                <a:solidFill>
                  <a:srgbClr val="1A2330"/>
                </a:solidFill>
                <a:latin typeface="Calibri" pitchFamily="34" charset="0"/>
                <a:ea typeface="Calibri" pitchFamily="34" charset="-122"/>
                <a:cs typeface="Calibri" pitchFamily="34" charset="-120"/>
              </a:rPr>
              <a:t>OWASP ZAP</a:t>
            </a:r>
            <a:endParaRPr lang="en-US" sz="1350" dirty="0"/>
          </a:p>
        </p:txBody>
      </p:sp>
      <p:sp>
        <p:nvSpPr>
          <p:cNvPr id="38" name="Text 29"/>
          <p:cNvSpPr/>
          <p:nvPr/>
        </p:nvSpPr>
        <p:spPr>
          <a:xfrm>
            <a:off x="7955280" y="5486400"/>
            <a:ext cx="3520440" cy="621792"/>
          </a:xfrm>
          <a:prstGeom prst="rect">
            <a:avLst/>
          </a:prstGeom>
          <a:noFill/>
          <a:ln/>
        </p:spPr>
        <p:txBody>
          <a:bodyPr wrap="square" lIns="0" tIns="0" rIns="0" bIns="0" rtlCol="0" anchor="ctr"/>
          <a:lstStyle/>
          <a:p>
            <a:pPr indent="0" marL="0">
              <a:buNone/>
            </a:pPr>
            <a:r>
              <a:rPr lang="en-US" sz="1250" dirty="0">
                <a:solidFill>
                  <a:srgbClr val="6B7A8D"/>
                </a:solidFill>
                <a:latin typeface="Calibri" pitchFamily="34" charset="0"/>
                <a:ea typeface="Calibri" pitchFamily="34" charset="-122"/>
                <a:cs typeface="Calibri" pitchFamily="34" charset="-120"/>
              </a:rPr>
              <a:t>Security scan of the surface</a:t>
            </a:r>
            <a:endParaRPr lang="en-US" sz="1250" dirty="0"/>
          </a:p>
        </p:txBody>
      </p:sp>
      <p:sp>
        <p:nvSpPr>
          <p:cNvPr id="39" name="Text 30"/>
          <p:cNvSpPr/>
          <p:nvPr/>
        </p:nvSpPr>
        <p:spPr>
          <a:xfrm>
            <a:off x="4937760" y="6263640"/>
            <a:ext cx="6675120" cy="365760"/>
          </a:xfrm>
          <a:prstGeom prst="rect">
            <a:avLst/>
          </a:prstGeom>
          <a:noFill/>
          <a:ln/>
        </p:spPr>
        <p:txBody>
          <a:bodyPr wrap="square" lIns="0" tIns="0" rIns="0" bIns="0" rtlCol="0" anchor="ctr"/>
          <a:lstStyle/>
          <a:p>
            <a:pPr indent="0" marL="0">
              <a:buNone/>
            </a:pPr>
            <a:r>
              <a:rPr lang="en-US" sz="1150" b="1" dirty="0">
                <a:solidFill>
                  <a:srgbClr val="065A82"/>
                </a:solidFill>
                <a:latin typeface="Calibri" pitchFamily="34" charset="0"/>
                <a:ea typeface="Calibri" pitchFamily="34" charset="-122"/>
                <a:cs typeface="Calibri" pitchFamily="34" charset="-120"/>
              </a:rPr>
              <a:t>Ties to your stack:  </a:t>
            </a:r>
            <a:pPr indent="0" marL="0">
              <a:buNone/>
            </a:pPr>
            <a:r>
              <a:rPr lang="en-US" sz="1150" dirty="0">
                <a:solidFill>
                  <a:srgbClr val="1A2330"/>
                </a:solidFill>
                <a:latin typeface="Calibri" pitchFamily="34" charset="0"/>
                <a:ea typeface="Calibri" pitchFamily="34" charset="-122"/>
                <a:cs typeface="Calibri" pitchFamily="34" charset="-120"/>
              </a:rPr>
              <a:t>GitHub Actions, TypeScript, Appium already in hand — Newman runs in the same pipeline, so Postman and Playwright coexist.</a:t>
            </a:r>
            <a:endParaRPr lang="en-US" sz="1150" dirty="0"/>
          </a:p>
        </p:txBody>
      </p:sp>
      <p:sp>
        <p:nvSpPr>
          <p:cNvPr id="40" name="Text 31"/>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06</a:t>
            </a:r>
            <a:endParaRPr lang="en-US" sz="1000" dirty="0"/>
          </a:p>
        </p:txBody>
      </p:sp>
      <p:sp>
        <p:nvSpPr>
          <p:cNvPr id="41" name="Text 32"/>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6 · BLACK-BOX</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Black-box doesn't mean shallow</a:t>
            </a:r>
            <a:endParaRPr lang="en-US" sz="3200" dirty="0"/>
          </a:p>
        </p:txBody>
      </p:sp>
      <p:sp>
        <p:nvSpPr>
          <p:cNvPr id="4" name="Shape 2"/>
          <p:cNvSpPr/>
          <p:nvPr/>
        </p:nvSpPr>
        <p:spPr>
          <a:xfrm>
            <a:off x="548640" y="1783080"/>
            <a:ext cx="3611880" cy="3291840"/>
          </a:xfrm>
          <a:prstGeom prst="roundRect">
            <a:avLst>
              <a:gd name="adj" fmla="val 2222"/>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41248" y="2057400"/>
            <a:ext cx="731520" cy="731520"/>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031443" y="2247595"/>
            <a:ext cx="351130" cy="351130"/>
          </a:xfrm>
          <a:prstGeom prst="rect">
            <a:avLst/>
          </a:prstGeom>
        </p:spPr>
      </p:pic>
      <p:sp>
        <p:nvSpPr>
          <p:cNvPr id="7" name="Text 4"/>
          <p:cNvSpPr/>
          <p:nvPr/>
        </p:nvSpPr>
        <p:spPr>
          <a:xfrm>
            <a:off x="1691640" y="2093976"/>
            <a:ext cx="2331720" cy="685800"/>
          </a:xfrm>
          <a:prstGeom prst="rect">
            <a:avLst/>
          </a:prstGeom>
          <a:noFill/>
          <a:ln/>
        </p:spPr>
        <p:txBody>
          <a:bodyPr wrap="square" lIns="0" tIns="0" rIns="0" bIns="0" rtlCol="0" anchor="ctr"/>
          <a:lstStyle/>
          <a:p>
            <a:pPr indent="0" marL="0">
              <a:buNone/>
            </a:pPr>
            <a:r>
              <a:rPr lang="en-US" sz="1550" b="1" dirty="0">
                <a:solidFill>
                  <a:srgbClr val="1A2330"/>
                </a:solidFill>
                <a:latin typeface="Cambria" pitchFamily="34" charset="0"/>
                <a:ea typeface="Cambria" pitchFamily="34" charset="-122"/>
                <a:cs typeface="Cambria" pitchFamily="34" charset="-120"/>
              </a:rPr>
              <a:t>Specification-based</a:t>
            </a:r>
            <a:endParaRPr lang="en-US" sz="1550" dirty="0"/>
          </a:p>
        </p:txBody>
      </p:sp>
      <p:sp>
        <p:nvSpPr>
          <p:cNvPr id="8" name="Text 5"/>
          <p:cNvSpPr/>
          <p:nvPr/>
        </p:nvSpPr>
        <p:spPr>
          <a:xfrm>
            <a:off x="868680" y="2971800"/>
            <a:ext cx="306324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Equivalence &amp; boundary analysis</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Decision tables for multi-condition rules</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State-transition coverage</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Schema / contract assertions</a:t>
            </a:r>
            <a:endParaRPr lang="en-US" sz="1250" dirty="0"/>
          </a:p>
        </p:txBody>
      </p:sp>
      <p:sp>
        <p:nvSpPr>
          <p:cNvPr id="9" name="Shape 6"/>
          <p:cNvSpPr/>
          <p:nvPr/>
        </p:nvSpPr>
        <p:spPr>
          <a:xfrm>
            <a:off x="4361688" y="1783080"/>
            <a:ext cx="3611880" cy="3291840"/>
          </a:xfrm>
          <a:prstGeom prst="roundRect">
            <a:avLst>
              <a:gd name="adj" fmla="val 2222"/>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10" name="Shape 7"/>
          <p:cNvSpPr/>
          <p:nvPr/>
        </p:nvSpPr>
        <p:spPr>
          <a:xfrm>
            <a:off x="4654296" y="2057400"/>
            <a:ext cx="731520" cy="731520"/>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4844491" y="2247595"/>
            <a:ext cx="351130" cy="351130"/>
          </a:xfrm>
          <a:prstGeom prst="rect">
            <a:avLst/>
          </a:prstGeom>
        </p:spPr>
      </p:pic>
      <p:sp>
        <p:nvSpPr>
          <p:cNvPr id="12" name="Text 8"/>
          <p:cNvSpPr/>
          <p:nvPr/>
        </p:nvSpPr>
        <p:spPr>
          <a:xfrm>
            <a:off x="5504688" y="2093976"/>
            <a:ext cx="2331720" cy="685800"/>
          </a:xfrm>
          <a:prstGeom prst="rect">
            <a:avLst/>
          </a:prstGeom>
          <a:noFill/>
          <a:ln/>
        </p:spPr>
        <p:txBody>
          <a:bodyPr wrap="square" lIns="0" tIns="0" rIns="0" bIns="0" rtlCol="0" anchor="ctr"/>
          <a:lstStyle/>
          <a:p>
            <a:pPr indent="0" marL="0">
              <a:buNone/>
            </a:pPr>
            <a:r>
              <a:rPr lang="en-US" sz="1550" b="1" dirty="0">
                <a:solidFill>
                  <a:srgbClr val="1A2330"/>
                </a:solidFill>
                <a:latin typeface="Cambria" pitchFamily="34" charset="0"/>
                <a:ea typeface="Cambria" pitchFamily="34" charset="-122"/>
                <a:cs typeface="Cambria" pitchFamily="34" charset="-120"/>
              </a:rPr>
              <a:t>Behavioural &amp; data-driven</a:t>
            </a:r>
            <a:endParaRPr lang="en-US" sz="1550" dirty="0"/>
          </a:p>
        </p:txBody>
      </p:sp>
      <p:sp>
        <p:nvSpPr>
          <p:cNvPr id="13" name="Text 9"/>
          <p:cNvSpPr/>
          <p:nvPr/>
        </p:nvSpPr>
        <p:spPr>
          <a:xfrm>
            <a:off x="4681728" y="2971800"/>
            <a:ext cx="306324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End-to-end journey chaining</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Reconciliation / invariant testing</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Idempotency &amp; retry simulation</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Property-based generated inputs</a:t>
            </a:r>
            <a:endParaRPr lang="en-US" sz="1250" dirty="0"/>
          </a:p>
        </p:txBody>
      </p:sp>
      <p:sp>
        <p:nvSpPr>
          <p:cNvPr id="14" name="Shape 10"/>
          <p:cNvSpPr/>
          <p:nvPr/>
        </p:nvSpPr>
        <p:spPr>
          <a:xfrm>
            <a:off x="8174736" y="1783080"/>
            <a:ext cx="3611880" cy="3291840"/>
          </a:xfrm>
          <a:prstGeom prst="roundRect">
            <a:avLst>
              <a:gd name="adj" fmla="val 2222"/>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15" name="Shape 11"/>
          <p:cNvSpPr/>
          <p:nvPr/>
        </p:nvSpPr>
        <p:spPr>
          <a:xfrm>
            <a:off x="8467344" y="2057400"/>
            <a:ext cx="731520" cy="731520"/>
          </a:xfrm>
          <a:prstGeom prst="ellipse">
            <a:avLst/>
          </a:prstGeom>
          <a:solidFill>
            <a:srgbClr val="F2A65A"/>
          </a:solidFill>
          <a:ln/>
          <a:effectLst>
            <a:outerShdw sx="100000" sy="100000" kx="0" ky="0" algn="bl" rotWithShape="0" blurRad="88900" dist="381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8657539" y="2247595"/>
            <a:ext cx="351130" cy="351130"/>
          </a:xfrm>
          <a:prstGeom prst="rect">
            <a:avLst/>
          </a:prstGeom>
        </p:spPr>
      </p:pic>
      <p:sp>
        <p:nvSpPr>
          <p:cNvPr id="17" name="Text 12"/>
          <p:cNvSpPr/>
          <p:nvPr/>
        </p:nvSpPr>
        <p:spPr>
          <a:xfrm>
            <a:off x="9317736" y="2093976"/>
            <a:ext cx="2331720" cy="685800"/>
          </a:xfrm>
          <a:prstGeom prst="rect">
            <a:avLst/>
          </a:prstGeom>
          <a:noFill/>
          <a:ln/>
        </p:spPr>
        <p:txBody>
          <a:bodyPr wrap="square" lIns="0" tIns="0" rIns="0" bIns="0" rtlCol="0" anchor="ctr"/>
          <a:lstStyle/>
          <a:p>
            <a:pPr indent="0" marL="0">
              <a:buNone/>
            </a:pPr>
            <a:r>
              <a:rPr lang="en-US" sz="1550" b="1" dirty="0">
                <a:solidFill>
                  <a:srgbClr val="1A2330"/>
                </a:solidFill>
                <a:latin typeface="Cambria" pitchFamily="34" charset="0"/>
                <a:ea typeface="Cambria" pitchFamily="34" charset="-122"/>
                <a:cs typeface="Cambria" pitchFamily="34" charset="-120"/>
              </a:rPr>
              <a:t>Resilience &amp; exploratory</a:t>
            </a:r>
            <a:endParaRPr lang="en-US" sz="1550" dirty="0"/>
          </a:p>
        </p:txBody>
      </p:sp>
      <p:sp>
        <p:nvSpPr>
          <p:cNvPr id="18" name="Text 13"/>
          <p:cNvSpPr/>
          <p:nvPr/>
        </p:nvSpPr>
        <p:spPr>
          <a:xfrm>
            <a:off x="8494776" y="2971800"/>
            <a:ext cx="3063240" cy="20116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Fault injection at our boundary</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Timeout / 500 handling checks</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Charter-driven exploratory sessions</a:t>
            </a:r>
            <a:endParaRPr lang="en-US" sz="1250" dirty="0"/>
          </a:p>
          <a:p>
            <a:pPr marL="342900" indent="-342900">
              <a:spcAft>
                <a:spcPts val="600"/>
              </a:spcAft>
              <a:buSzPct val="100000"/>
              <a:buChar char="•"/>
            </a:pPr>
            <a:r>
              <a:rPr lang="en-US" sz="1250" dirty="0">
                <a:solidFill>
                  <a:srgbClr val="1A2330"/>
                </a:solidFill>
                <a:latin typeface="Calibri" pitchFamily="34" charset="0"/>
                <a:ea typeface="Calibri" pitchFamily="34" charset="-122"/>
                <a:cs typeface="Calibri" pitchFamily="34" charset="-120"/>
              </a:rPr>
              <a:t>Error-guessing (e.g. address cooldown)</a:t>
            </a:r>
            <a:endParaRPr lang="en-US" sz="1250" dirty="0"/>
          </a:p>
        </p:txBody>
      </p:sp>
      <p:sp>
        <p:nvSpPr>
          <p:cNvPr id="19" name="Text 14"/>
          <p:cNvSpPr/>
          <p:nvPr/>
        </p:nvSpPr>
        <p:spPr>
          <a:xfrm>
            <a:off x="548640" y="5303520"/>
            <a:ext cx="11064240" cy="868680"/>
          </a:xfrm>
          <a:prstGeom prst="rect">
            <a:avLst/>
          </a:prstGeom>
          <a:solidFill>
            <a:srgbClr val="FFF6EC"/>
          </a:solidFill>
          <a:ln w="12700">
            <a:solidFill>
              <a:srgbClr val="F2A65A"/>
            </a:solidFill>
          </a:ln>
        </p:spPr>
        <p:txBody>
          <a:bodyPr wrap="square" lIns="152400" tIns="152400" rIns="152400" bIns="152400" rtlCol="0" anchor="ctr"/>
          <a:lstStyle/>
          <a:p>
            <a:pPr algn="ctr" indent="0" marL="0">
              <a:buNone/>
            </a:pPr>
            <a:r>
              <a:rPr lang="en-US" sz="1400" i="1" dirty="0">
                <a:solidFill>
                  <a:srgbClr val="1A2330"/>
                </a:solidFill>
                <a:latin typeface="Calibri" pitchFamily="34" charset="0"/>
                <a:ea typeface="Calibri" pitchFamily="34" charset="-122"/>
                <a:cs typeface="Calibri" pitchFamily="34" charset="-120"/>
              </a:rPr>
              <a:t>“With only the observable contract I can still prove money is conserved, state transitions are enforced, retries are idempotent, and the integration degrades gracefully when the provider misbehaves.”</a:t>
            </a:r>
            <a:endParaRPr lang="en-US" sz="1400" dirty="0"/>
          </a:p>
        </p:txBody>
      </p:sp>
      <p:sp>
        <p:nvSpPr>
          <p:cNvPr id="20" name="Text 15"/>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07</a:t>
            </a:r>
            <a:endParaRPr lang="en-US" sz="1000" dirty="0"/>
          </a:p>
        </p:txBody>
      </p:sp>
      <p:sp>
        <p:nvSpPr>
          <p:cNvPr id="21" name="Text 16"/>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7 · PERFORMANCE &amp; LOAD</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Load &amp; performance — from the outside</a:t>
            </a:r>
            <a:endParaRPr lang="en-US" sz="3200" dirty="0"/>
          </a:p>
        </p:txBody>
      </p:sp>
      <p:sp>
        <p:nvSpPr>
          <p:cNvPr id="4" name="Shape 2"/>
          <p:cNvSpPr/>
          <p:nvPr/>
        </p:nvSpPr>
        <p:spPr>
          <a:xfrm>
            <a:off x="548640" y="1828800"/>
            <a:ext cx="5486400" cy="3977640"/>
          </a:xfrm>
          <a:prstGeom prst="roundRect">
            <a:avLst>
              <a:gd name="adj" fmla="val 1839"/>
            </a:avLst>
          </a:prstGeom>
          <a:solidFill>
            <a:srgbClr val="F4F8FB"/>
          </a:solidFill>
          <a:ln w="12700">
            <a:solidFill>
              <a:srgbClr val="DCE7F0"/>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68680" y="2121408"/>
            <a:ext cx="777240" cy="777240"/>
          </a:xfrm>
          <a:prstGeom prst="ellipse">
            <a:avLst/>
          </a:prstGeom>
          <a:solidFill>
            <a:srgbClr val="065A82"/>
          </a:solidFill>
          <a:ln/>
          <a:effectLst>
            <a:outerShdw sx="100000" sy="100000" kx="0" ky="0" algn="bl" rotWithShape="0" blurRad="88900" dist="381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1070762" y="2323490"/>
            <a:ext cx="373075" cy="373075"/>
          </a:xfrm>
          <a:prstGeom prst="rect">
            <a:avLst/>
          </a:prstGeom>
        </p:spPr>
      </p:pic>
      <p:sp>
        <p:nvSpPr>
          <p:cNvPr id="7" name="Text 4"/>
          <p:cNvSpPr/>
          <p:nvPr/>
        </p:nvSpPr>
        <p:spPr>
          <a:xfrm>
            <a:off x="1783080" y="2212848"/>
            <a:ext cx="4114800" cy="594360"/>
          </a:xfrm>
          <a:prstGeom prst="rect">
            <a:avLst/>
          </a:prstGeom>
          <a:noFill/>
          <a:ln/>
        </p:spPr>
        <p:txBody>
          <a:bodyPr wrap="square" lIns="0" tIns="0" rIns="0" bIns="0" rtlCol="0" anchor="ctr"/>
          <a:lstStyle/>
          <a:p>
            <a:pPr indent="0" marL="0">
              <a:buNone/>
            </a:pPr>
            <a:r>
              <a:rPr lang="en-US" sz="1600" b="1" dirty="0">
                <a:solidFill>
                  <a:srgbClr val="1A2330"/>
                </a:solidFill>
                <a:latin typeface="Cambria" pitchFamily="34" charset="0"/>
                <a:ea typeface="Cambria" pitchFamily="34" charset="-122"/>
                <a:cs typeface="Cambria" pitchFamily="34" charset="-120"/>
              </a:rPr>
              <a:t>What we CAN measure black-box</a:t>
            </a:r>
            <a:endParaRPr lang="en-US" sz="1600" dirty="0"/>
          </a:p>
        </p:txBody>
      </p:sp>
      <p:sp>
        <p:nvSpPr>
          <p:cNvPr id="8" name="Text 5"/>
          <p:cNvSpPr/>
          <p:nvPr/>
        </p:nvSpPr>
        <p:spPr>
          <a:xfrm>
            <a:off x="914400" y="3108960"/>
            <a:ext cx="4937760" cy="2606040"/>
          </a:xfrm>
          <a:prstGeom prst="rect">
            <a:avLst/>
          </a:prstGeom>
          <a:noFill/>
          <a:ln/>
        </p:spPr>
        <p:txBody>
          <a:bodyPr wrap="square" lIns="0" tIns="0" rIns="0" bIns="0" rtlCol="0" anchor="ctr"/>
          <a:lstStyle/>
          <a:p>
            <a:pPr marL="342900" indent="-342900">
              <a:spcAft>
                <a:spcPts val="300"/>
              </a:spcAft>
              <a:buSzPct val="100000"/>
              <a:buChar char="•"/>
            </a:pPr>
            <a:r>
              <a:rPr lang="en-US" sz="1300" b="1" dirty="0">
                <a:solidFill>
                  <a:srgbClr val="1A2330"/>
                </a:solidFill>
                <a:latin typeface="Calibri" pitchFamily="34" charset="0"/>
                <a:ea typeface="Calibri" pitchFamily="34" charset="-122"/>
                <a:cs typeface="Calibri" pitchFamily="34" charset="-120"/>
              </a:rPr>
              <a:t>Latency percentiles</a:t>
            </a:r>
            <a:endParaRPr lang="en-US" sz="1300" dirty="0"/>
          </a:p>
          <a:p>
            <a:pPr indent="0" marL="0">
              <a:spcAft>
                <a:spcPts val="300"/>
              </a:spcAft>
              <a:buNone/>
            </a:pPr>
            <a:r>
              <a:rPr lang="en-US" sz="1150" dirty="0">
                <a:solidFill>
                  <a:srgbClr val="6B7A8D"/>
                </a:solidFill>
                <a:latin typeface="Calibri" pitchFamily="34" charset="0"/>
                <a:ea typeface="Calibri" pitchFamily="34" charset="-122"/>
                <a:cs typeface="Calibri" pitchFamily="34" charset="-120"/>
              </a:rPr>
              <a:t>p50 / p95 / p99 per endpoint against SLA targets</a:t>
            </a:r>
            <a:endParaRPr lang="en-US" sz="1300" dirty="0"/>
          </a:p>
          <a:p>
            <a:pPr marL="342900" indent="-342900">
              <a:spcAft>
                <a:spcPts val="300"/>
              </a:spcAft>
              <a:buSzPct val="100000"/>
              <a:buChar char="•"/>
            </a:pPr>
            <a:r>
              <a:rPr lang="en-US" sz="1300" b="1" dirty="0">
                <a:solidFill>
                  <a:srgbClr val="1A2330"/>
                </a:solidFill>
                <a:latin typeface="Calibri" pitchFamily="34" charset="0"/>
                <a:ea typeface="Calibri" pitchFamily="34" charset="-122"/>
                <a:cs typeface="Calibri" pitchFamily="34" charset="-120"/>
              </a:rPr>
              <a:t>Throughput ceiling</a:t>
            </a:r>
            <a:endParaRPr lang="en-US" sz="1300" dirty="0"/>
          </a:p>
          <a:p>
            <a:pPr indent="0" marL="0">
              <a:spcAft>
                <a:spcPts val="300"/>
              </a:spcAft>
              <a:buNone/>
            </a:pPr>
            <a:r>
              <a:rPr lang="en-US" sz="1150" dirty="0">
                <a:solidFill>
                  <a:srgbClr val="6B7A8D"/>
                </a:solidFill>
                <a:latin typeface="Calibri" pitchFamily="34" charset="0"/>
                <a:ea typeface="Calibri" pitchFamily="34" charset="-122"/>
                <a:cs typeface="Calibri" pitchFamily="34" charset="-120"/>
              </a:rPr>
              <a:t>requests/sec before latency or errors climb</a:t>
            </a:r>
            <a:endParaRPr lang="en-US" sz="1300" dirty="0"/>
          </a:p>
          <a:p>
            <a:pPr marL="342900" indent="-342900">
              <a:spcAft>
                <a:spcPts val="300"/>
              </a:spcAft>
              <a:buSzPct val="100000"/>
              <a:buChar char="•"/>
            </a:pPr>
            <a:r>
              <a:rPr lang="en-US" sz="1300" b="1" dirty="0">
                <a:solidFill>
                  <a:srgbClr val="1A2330"/>
                </a:solidFill>
                <a:latin typeface="Calibri" pitchFamily="34" charset="0"/>
                <a:ea typeface="Calibri" pitchFamily="34" charset="-122"/>
                <a:cs typeface="Calibri" pitchFamily="34" charset="-120"/>
              </a:rPr>
              <a:t>Rate-limit behaviour</a:t>
            </a:r>
            <a:endParaRPr lang="en-US" sz="1300" dirty="0"/>
          </a:p>
          <a:p>
            <a:pPr indent="0" marL="0">
              <a:spcAft>
                <a:spcPts val="300"/>
              </a:spcAft>
              <a:buNone/>
            </a:pPr>
            <a:r>
              <a:rPr lang="en-US" sz="1150" dirty="0">
                <a:solidFill>
                  <a:srgbClr val="6B7A8D"/>
                </a:solidFill>
                <a:latin typeface="Calibri" pitchFamily="34" charset="0"/>
                <a:ea typeface="Calibri" pitchFamily="34" charset="-122"/>
                <a:cs typeface="Calibri" pitchFamily="34" charset="-120"/>
              </a:rPr>
              <a:t>when 429s start, headers returned, recovery</a:t>
            </a:r>
            <a:endParaRPr lang="en-US" sz="1300" dirty="0"/>
          </a:p>
          <a:p>
            <a:pPr marL="342900" indent="-342900">
              <a:spcAft>
                <a:spcPts val="300"/>
              </a:spcAft>
              <a:buSzPct val="100000"/>
              <a:buChar char="•"/>
            </a:pPr>
            <a:r>
              <a:rPr lang="en-US" sz="1300" b="1" dirty="0">
                <a:solidFill>
                  <a:srgbClr val="1A2330"/>
                </a:solidFill>
                <a:latin typeface="Calibri" pitchFamily="34" charset="0"/>
                <a:ea typeface="Calibri" pitchFamily="34" charset="-122"/>
                <a:cs typeface="Calibri" pitchFamily="34" charset="-120"/>
              </a:rPr>
              <a:t>Concurrency safety</a:t>
            </a:r>
            <a:endParaRPr lang="en-US" sz="1300" dirty="0"/>
          </a:p>
          <a:p>
            <a:pPr indent="0" marL="0">
              <a:spcAft>
                <a:spcPts val="300"/>
              </a:spcAft>
              <a:buNone/>
            </a:pPr>
            <a:r>
              <a:rPr lang="en-US" sz="1150" dirty="0">
                <a:solidFill>
                  <a:srgbClr val="6B7A8D"/>
                </a:solidFill>
                <a:latin typeface="Calibri" pitchFamily="34" charset="0"/>
                <a:ea typeface="Calibri" pitchFamily="34" charset="-122"/>
                <a:cs typeface="Calibri" pitchFamily="34" charset="-120"/>
              </a:rPr>
              <a:t>parallel loads on one account stay consistent</a:t>
            </a:r>
            <a:endParaRPr lang="en-US" sz="1300" dirty="0"/>
          </a:p>
          <a:p>
            <a:pPr marL="342900" indent="-342900">
              <a:spcAft>
                <a:spcPts val="300"/>
              </a:spcAft>
              <a:buSzPct val="100000"/>
              <a:buChar char="•"/>
            </a:pPr>
            <a:r>
              <a:rPr lang="en-US" sz="1300" b="1" dirty="0">
                <a:solidFill>
                  <a:srgbClr val="1A2330"/>
                </a:solidFill>
                <a:latin typeface="Calibri" pitchFamily="34" charset="0"/>
                <a:ea typeface="Calibri" pitchFamily="34" charset="-122"/>
                <a:cs typeface="Calibri" pitchFamily="34" charset="-120"/>
              </a:rPr>
              <a:t>Pagination at scale</a:t>
            </a:r>
            <a:endParaRPr lang="en-US" sz="1300" dirty="0"/>
          </a:p>
          <a:p>
            <a:pPr indent="0" marL="0">
              <a:spcAft>
                <a:spcPts val="300"/>
              </a:spcAft>
              <a:buNone/>
            </a:pPr>
            <a:r>
              <a:rPr lang="en-US" sz="1150" dirty="0">
                <a:solidFill>
                  <a:srgbClr val="6B7A8D"/>
                </a:solidFill>
                <a:latin typeface="Calibri" pitchFamily="34" charset="0"/>
                <a:ea typeface="Calibri" pitchFamily="34" charset="-122"/>
                <a:cs typeface="Calibri" pitchFamily="34" charset="-120"/>
              </a:rPr>
              <a:t>large transaction lists — latency &amp; stability</a:t>
            </a:r>
            <a:endParaRPr lang="en-US" sz="1300" dirty="0"/>
          </a:p>
        </p:txBody>
      </p:sp>
      <p:sp>
        <p:nvSpPr>
          <p:cNvPr id="9" name="Shape 6"/>
          <p:cNvSpPr/>
          <p:nvPr/>
        </p:nvSpPr>
        <p:spPr>
          <a:xfrm>
            <a:off x="6263640" y="1828800"/>
            <a:ext cx="5349240" cy="713232"/>
          </a:xfrm>
          <a:prstGeom prst="roundRect">
            <a:avLst>
              <a:gd name="adj" fmla="val 7692"/>
            </a:avLst>
          </a:prstGeom>
          <a:solidFill>
            <a:srgbClr val="FFFFFF"/>
          </a:solidFill>
          <a:ln w="12700">
            <a:solidFill>
              <a:srgbClr val="DCE7F0"/>
            </a:solidFill>
            <a:prstDash val="solid"/>
          </a:ln>
        </p:spPr>
      </p:sp>
      <p:sp>
        <p:nvSpPr>
          <p:cNvPr id="10" name="Shape 7"/>
          <p:cNvSpPr/>
          <p:nvPr/>
        </p:nvSpPr>
        <p:spPr>
          <a:xfrm>
            <a:off x="6400800" y="1965960"/>
            <a:ext cx="438912" cy="438912"/>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6514917" y="2080077"/>
            <a:ext cx="210678" cy="210678"/>
          </a:xfrm>
          <a:prstGeom prst="rect">
            <a:avLst/>
          </a:prstGeom>
        </p:spPr>
      </p:pic>
      <p:sp>
        <p:nvSpPr>
          <p:cNvPr id="12" name="Text 8"/>
          <p:cNvSpPr/>
          <p:nvPr/>
        </p:nvSpPr>
        <p:spPr>
          <a:xfrm>
            <a:off x="6976872" y="1828800"/>
            <a:ext cx="1554480" cy="713232"/>
          </a:xfrm>
          <a:prstGeom prst="rect">
            <a:avLst/>
          </a:prstGeom>
          <a:noFill/>
          <a:ln/>
        </p:spPr>
        <p:txBody>
          <a:bodyPr wrap="square" lIns="0" tIns="0" rIns="0" bIns="0" rtlCol="0" anchor="ctr"/>
          <a:lstStyle/>
          <a:p>
            <a:pPr indent="0" marL="0">
              <a:buNone/>
            </a:pPr>
            <a:r>
              <a:rPr lang="en-US" sz="1400" b="1" dirty="0">
                <a:solidFill>
                  <a:srgbClr val="1A2330"/>
                </a:solidFill>
                <a:latin typeface="Calibri" pitchFamily="34" charset="0"/>
                <a:ea typeface="Calibri" pitchFamily="34" charset="-122"/>
                <a:cs typeface="Calibri" pitchFamily="34" charset="-120"/>
              </a:rPr>
              <a:t>Load</a:t>
            </a:r>
            <a:endParaRPr lang="en-US" sz="1400" dirty="0"/>
          </a:p>
        </p:txBody>
      </p:sp>
      <p:sp>
        <p:nvSpPr>
          <p:cNvPr id="13" name="Text 9"/>
          <p:cNvSpPr/>
          <p:nvPr/>
        </p:nvSpPr>
        <p:spPr>
          <a:xfrm>
            <a:off x="8458200" y="1828800"/>
            <a:ext cx="3017520" cy="713232"/>
          </a:xfrm>
          <a:prstGeom prst="rect">
            <a:avLst/>
          </a:prstGeom>
          <a:noFill/>
          <a:ln/>
        </p:spPr>
        <p:txBody>
          <a:bodyPr wrap="square" lIns="0" tIns="0" rIns="0" bIns="0" rtlCol="0" anchor="ctr"/>
          <a:lstStyle/>
          <a:p>
            <a:pPr indent="0" marL="0">
              <a:buNone/>
            </a:pPr>
            <a:r>
              <a:rPr lang="en-US" sz="1200" dirty="0">
                <a:solidFill>
                  <a:srgbClr val="6B7A8D"/>
                </a:solidFill>
                <a:latin typeface="Calibri" pitchFamily="34" charset="0"/>
                <a:ea typeface="Calibri" pitchFamily="34" charset="-122"/>
                <a:cs typeface="Calibri" pitchFamily="34" charset="-120"/>
              </a:rPr>
              <a:t>Expected peak volume, sustained</a:t>
            </a:r>
            <a:endParaRPr lang="en-US" sz="1200" dirty="0"/>
          </a:p>
        </p:txBody>
      </p:sp>
      <p:sp>
        <p:nvSpPr>
          <p:cNvPr id="14" name="Shape 10"/>
          <p:cNvSpPr/>
          <p:nvPr/>
        </p:nvSpPr>
        <p:spPr>
          <a:xfrm>
            <a:off x="6263640" y="2670048"/>
            <a:ext cx="5349240" cy="713232"/>
          </a:xfrm>
          <a:prstGeom prst="roundRect">
            <a:avLst>
              <a:gd name="adj" fmla="val 7692"/>
            </a:avLst>
          </a:prstGeom>
          <a:solidFill>
            <a:srgbClr val="FFFFFF"/>
          </a:solidFill>
          <a:ln w="12700">
            <a:solidFill>
              <a:srgbClr val="DCE7F0"/>
            </a:solidFill>
            <a:prstDash val="solid"/>
          </a:ln>
        </p:spPr>
      </p:sp>
      <p:sp>
        <p:nvSpPr>
          <p:cNvPr id="15" name="Shape 11"/>
          <p:cNvSpPr/>
          <p:nvPr/>
        </p:nvSpPr>
        <p:spPr>
          <a:xfrm>
            <a:off x="6400800" y="2807208"/>
            <a:ext cx="438912" cy="438912"/>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16" name="Image 2" descr="preencoded.png">    </p:cNvPr>
          <p:cNvPicPr>
            <a:picLocks noChangeAspect="1"/>
          </p:cNvPicPr>
          <p:nvPr/>
        </p:nvPicPr>
        <p:blipFill>
          <a:blip r:embed="rId3"/>
          <a:stretch>
            <a:fillRect/>
          </a:stretch>
        </p:blipFill>
        <p:spPr>
          <a:xfrm>
            <a:off x="6514917" y="2921325"/>
            <a:ext cx="210678" cy="210678"/>
          </a:xfrm>
          <a:prstGeom prst="rect">
            <a:avLst/>
          </a:prstGeom>
        </p:spPr>
      </p:pic>
      <p:sp>
        <p:nvSpPr>
          <p:cNvPr id="17" name="Text 12"/>
          <p:cNvSpPr/>
          <p:nvPr/>
        </p:nvSpPr>
        <p:spPr>
          <a:xfrm>
            <a:off x="6976872" y="2670048"/>
            <a:ext cx="1554480" cy="713232"/>
          </a:xfrm>
          <a:prstGeom prst="rect">
            <a:avLst/>
          </a:prstGeom>
          <a:noFill/>
          <a:ln/>
        </p:spPr>
        <p:txBody>
          <a:bodyPr wrap="square" lIns="0" tIns="0" rIns="0" bIns="0" rtlCol="0" anchor="ctr"/>
          <a:lstStyle/>
          <a:p>
            <a:pPr indent="0" marL="0">
              <a:buNone/>
            </a:pPr>
            <a:r>
              <a:rPr lang="en-US" sz="1400" b="1" dirty="0">
                <a:solidFill>
                  <a:srgbClr val="1A2330"/>
                </a:solidFill>
                <a:latin typeface="Calibri" pitchFamily="34" charset="0"/>
                <a:ea typeface="Calibri" pitchFamily="34" charset="-122"/>
                <a:cs typeface="Calibri" pitchFamily="34" charset="-120"/>
              </a:rPr>
              <a:t>Stress</a:t>
            </a:r>
            <a:endParaRPr lang="en-US" sz="1400" dirty="0"/>
          </a:p>
        </p:txBody>
      </p:sp>
      <p:sp>
        <p:nvSpPr>
          <p:cNvPr id="18" name="Text 13"/>
          <p:cNvSpPr/>
          <p:nvPr/>
        </p:nvSpPr>
        <p:spPr>
          <a:xfrm>
            <a:off x="8458200" y="2670048"/>
            <a:ext cx="3017520" cy="713232"/>
          </a:xfrm>
          <a:prstGeom prst="rect">
            <a:avLst/>
          </a:prstGeom>
          <a:noFill/>
          <a:ln/>
        </p:spPr>
        <p:txBody>
          <a:bodyPr wrap="square" lIns="0" tIns="0" rIns="0" bIns="0" rtlCol="0" anchor="ctr"/>
          <a:lstStyle/>
          <a:p>
            <a:pPr indent="0" marL="0">
              <a:buNone/>
            </a:pPr>
            <a:r>
              <a:rPr lang="en-US" sz="1200" dirty="0">
                <a:solidFill>
                  <a:srgbClr val="6B7A8D"/>
                </a:solidFill>
                <a:latin typeface="Calibri" pitchFamily="34" charset="0"/>
                <a:ea typeface="Calibri" pitchFamily="34" charset="-122"/>
                <a:cs typeface="Calibri" pitchFamily="34" charset="-120"/>
              </a:rPr>
              <a:t>Ramp past peak to find the breaking point</a:t>
            </a:r>
            <a:endParaRPr lang="en-US" sz="1200" dirty="0"/>
          </a:p>
        </p:txBody>
      </p:sp>
      <p:sp>
        <p:nvSpPr>
          <p:cNvPr id="19" name="Shape 14"/>
          <p:cNvSpPr/>
          <p:nvPr/>
        </p:nvSpPr>
        <p:spPr>
          <a:xfrm>
            <a:off x="6263640" y="3511296"/>
            <a:ext cx="5349240" cy="713232"/>
          </a:xfrm>
          <a:prstGeom prst="roundRect">
            <a:avLst>
              <a:gd name="adj" fmla="val 7692"/>
            </a:avLst>
          </a:prstGeom>
          <a:solidFill>
            <a:srgbClr val="FFFFFF"/>
          </a:solidFill>
          <a:ln w="12700">
            <a:solidFill>
              <a:srgbClr val="DCE7F0"/>
            </a:solidFill>
            <a:prstDash val="solid"/>
          </a:ln>
        </p:spPr>
      </p:sp>
      <p:sp>
        <p:nvSpPr>
          <p:cNvPr id="20" name="Shape 15"/>
          <p:cNvSpPr/>
          <p:nvPr/>
        </p:nvSpPr>
        <p:spPr>
          <a:xfrm>
            <a:off x="6400800" y="3648456"/>
            <a:ext cx="438912" cy="438912"/>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21" name="Image 3" descr="preencoded.png">    </p:cNvPr>
          <p:cNvPicPr>
            <a:picLocks noChangeAspect="1"/>
          </p:cNvPicPr>
          <p:nvPr/>
        </p:nvPicPr>
        <p:blipFill>
          <a:blip r:embed="rId4"/>
          <a:stretch>
            <a:fillRect/>
          </a:stretch>
        </p:blipFill>
        <p:spPr>
          <a:xfrm>
            <a:off x="6514917" y="3762573"/>
            <a:ext cx="210678" cy="210678"/>
          </a:xfrm>
          <a:prstGeom prst="rect">
            <a:avLst/>
          </a:prstGeom>
        </p:spPr>
      </p:pic>
      <p:sp>
        <p:nvSpPr>
          <p:cNvPr id="22" name="Text 16"/>
          <p:cNvSpPr/>
          <p:nvPr/>
        </p:nvSpPr>
        <p:spPr>
          <a:xfrm>
            <a:off x="6976872" y="3511296"/>
            <a:ext cx="1554480" cy="713232"/>
          </a:xfrm>
          <a:prstGeom prst="rect">
            <a:avLst/>
          </a:prstGeom>
          <a:noFill/>
          <a:ln/>
        </p:spPr>
        <p:txBody>
          <a:bodyPr wrap="square" lIns="0" tIns="0" rIns="0" bIns="0" rtlCol="0" anchor="ctr"/>
          <a:lstStyle/>
          <a:p>
            <a:pPr indent="0" marL="0">
              <a:buNone/>
            </a:pPr>
            <a:r>
              <a:rPr lang="en-US" sz="1400" b="1" dirty="0">
                <a:solidFill>
                  <a:srgbClr val="1A2330"/>
                </a:solidFill>
                <a:latin typeface="Calibri" pitchFamily="34" charset="0"/>
                <a:ea typeface="Calibri" pitchFamily="34" charset="-122"/>
                <a:cs typeface="Calibri" pitchFamily="34" charset="-120"/>
              </a:rPr>
              <a:t>Spike</a:t>
            </a:r>
            <a:endParaRPr lang="en-US" sz="1400" dirty="0"/>
          </a:p>
        </p:txBody>
      </p:sp>
      <p:sp>
        <p:nvSpPr>
          <p:cNvPr id="23" name="Text 17"/>
          <p:cNvSpPr/>
          <p:nvPr/>
        </p:nvSpPr>
        <p:spPr>
          <a:xfrm>
            <a:off x="8458200" y="3511296"/>
            <a:ext cx="3017520" cy="713232"/>
          </a:xfrm>
          <a:prstGeom prst="rect">
            <a:avLst/>
          </a:prstGeom>
          <a:noFill/>
          <a:ln/>
        </p:spPr>
        <p:txBody>
          <a:bodyPr wrap="square" lIns="0" tIns="0" rIns="0" bIns="0" rtlCol="0" anchor="ctr"/>
          <a:lstStyle/>
          <a:p>
            <a:pPr indent="0" marL="0">
              <a:buNone/>
            </a:pPr>
            <a:r>
              <a:rPr lang="en-US" sz="1200" dirty="0">
                <a:solidFill>
                  <a:srgbClr val="6B7A8D"/>
                </a:solidFill>
                <a:latin typeface="Calibri" pitchFamily="34" charset="0"/>
                <a:ea typeface="Calibri" pitchFamily="34" charset="-122"/>
                <a:cs typeface="Calibri" pitchFamily="34" charset="-120"/>
              </a:rPr>
              <a:t>Sudden surge (e.g. payroll drop)</a:t>
            </a:r>
            <a:endParaRPr lang="en-US" sz="1200" dirty="0"/>
          </a:p>
        </p:txBody>
      </p:sp>
      <p:sp>
        <p:nvSpPr>
          <p:cNvPr id="24" name="Shape 18"/>
          <p:cNvSpPr/>
          <p:nvPr/>
        </p:nvSpPr>
        <p:spPr>
          <a:xfrm>
            <a:off x="6263640" y="4352544"/>
            <a:ext cx="5349240" cy="713232"/>
          </a:xfrm>
          <a:prstGeom prst="roundRect">
            <a:avLst>
              <a:gd name="adj" fmla="val 7692"/>
            </a:avLst>
          </a:prstGeom>
          <a:solidFill>
            <a:srgbClr val="FFFFFF"/>
          </a:solidFill>
          <a:ln w="12700">
            <a:solidFill>
              <a:srgbClr val="DCE7F0"/>
            </a:solidFill>
            <a:prstDash val="solid"/>
          </a:ln>
        </p:spPr>
      </p:sp>
      <p:sp>
        <p:nvSpPr>
          <p:cNvPr id="25" name="Shape 19"/>
          <p:cNvSpPr/>
          <p:nvPr/>
        </p:nvSpPr>
        <p:spPr>
          <a:xfrm>
            <a:off x="6400800" y="4489704"/>
            <a:ext cx="438912" cy="438912"/>
          </a:xfrm>
          <a:prstGeom prst="ellipse">
            <a:avLst/>
          </a:prstGeom>
          <a:solidFill>
            <a:srgbClr val="1C7293"/>
          </a:solidFill>
          <a:ln/>
          <a:effectLst>
            <a:outerShdw sx="100000" sy="100000" kx="0" ky="0" algn="bl" rotWithShape="0" blurRad="88900" dist="38100" dir="5400000">
              <a:srgbClr val="000000">
                <a:alpha val="12000"/>
              </a:srgbClr>
            </a:outerShdw>
          </a:effectLst>
        </p:spPr>
      </p:sp>
      <p:pic>
        <p:nvPicPr>
          <p:cNvPr id="26" name="Image 4" descr="preencoded.png">    </p:cNvPr>
          <p:cNvPicPr>
            <a:picLocks noChangeAspect="1"/>
          </p:cNvPicPr>
          <p:nvPr/>
        </p:nvPicPr>
        <p:blipFill>
          <a:blip r:embed="rId5"/>
          <a:stretch>
            <a:fillRect/>
          </a:stretch>
        </p:blipFill>
        <p:spPr>
          <a:xfrm>
            <a:off x="6514917" y="4603821"/>
            <a:ext cx="210678" cy="210678"/>
          </a:xfrm>
          <a:prstGeom prst="rect">
            <a:avLst/>
          </a:prstGeom>
        </p:spPr>
      </p:pic>
      <p:sp>
        <p:nvSpPr>
          <p:cNvPr id="27" name="Text 20"/>
          <p:cNvSpPr/>
          <p:nvPr/>
        </p:nvSpPr>
        <p:spPr>
          <a:xfrm>
            <a:off x="6976872" y="4352544"/>
            <a:ext cx="1554480" cy="713232"/>
          </a:xfrm>
          <a:prstGeom prst="rect">
            <a:avLst/>
          </a:prstGeom>
          <a:noFill/>
          <a:ln/>
        </p:spPr>
        <p:txBody>
          <a:bodyPr wrap="square" lIns="0" tIns="0" rIns="0" bIns="0" rtlCol="0" anchor="ctr"/>
          <a:lstStyle/>
          <a:p>
            <a:pPr indent="0" marL="0">
              <a:buNone/>
            </a:pPr>
            <a:r>
              <a:rPr lang="en-US" sz="1400" b="1" dirty="0">
                <a:solidFill>
                  <a:srgbClr val="1A2330"/>
                </a:solidFill>
                <a:latin typeface="Calibri" pitchFamily="34" charset="0"/>
                <a:ea typeface="Calibri" pitchFamily="34" charset="-122"/>
                <a:cs typeface="Calibri" pitchFamily="34" charset="-120"/>
              </a:rPr>
              <a:t>Soak</a:t>
            </a:r>
            <a:endParaRPr lang="en-US" sz="1400" dirty="0"/>
          </a:p>
        </p:txBody>
      </p:sp>
      <p:sp>
        <p:nvSpPr>
          <p:cNvPr id="28" name="Text 21"/>
          <p:cNvSpPr/>
          <p:nvPr/>
        </p:nvSpPr>
        <p:spPr>
          <a:xfrm>
            <a:off x="8458200" y="4352544"/>
            <a:ext cx="3017520" cy="713232"/>
          </a:xfrm>
          <a:prstGeom prst="rect">
            <a:avLst/>
          </a:prstGeom>
          <a:noFill/>
          <a:ln/>
        </p:spPr>
        <p:txBody>
          <a:bodyPr wrap="square" lIns="0" tIns="0" rIns="0" bIns="0" rtlCol="0" anchor="ctr"/>
          <a:lstStyle/>
          <a:p>
            <a:pPr indent="0" marL="0">
              <a:buNone/>
            </a:pPr>
            <a:r>
              <a:rPr lang="en-US" sz="1200" dirty="0">
                <a:solidFill>
                  <a:srgbClr val="6B7A8D"/>
                </a:solidFill>
                <a:latin typeface="Calibri" pitchFamily="34" charset="0"/>
                <a:ea typeface="Calibri" pitchFamily="34" charset="-122"/>
                <a:cs typeface="Calibri" pitchFamily="34" charset="-120"/>
              </a:rPr>
              <a:t>Hours at load — leaks, drift, degradation</a:t>
            </a:r>
            <a:endParaRPr lang="en-US" sz="1200" dirty="0"/>
          </a:p>
        </p:txBody>
      </p:sp>
      <p:sp>
        <p:nvSpPr>
          <p:cNvPr id="29" name="Shape 22"/>
          <p:cNvSpPr/>
          <p:nvPr/>
        </p:nvSpPr>
        <p:spPr>
          <a:xfrm>
            <a:off x="6263640" y="5212080"/>
            <a:ext cx="5349240" cy="868680"/>
          </a:xfrm>
          <a:prstGeom prst="roundRect">
            <a:avLst>
              <a:gd name="adj" fmla="val 6316"/>
            </a:avLst>
          </a:prstGeom>
          <a:solidFill>
            <a:srgbClr val="21295C"/>
          </a:solidFill>
          <a:ln/>
        </p:spPr>
      </p:sp>
      <p:sp>
        <p:nvSpPr>
          <p:cNvPr id="30" name="Text 23"/>
          <p:cNvSpPr/>
          <p:nvPr/>
        </p:nvSpPr>
        <p:spPr>
          <a:xfrm>
            <a:off x="6492240" y="5212080"/>
            <a:ext cx="4892040" cy="868680"/>
          </a:xfrm>
          <a:prstGeom prst="rect">
            <a:avLst/>
          </a:prstGeom>
          <a:noFill/>
          <a:ln/>
        </p:spPr>
        <p:txBody>
          <a:bodyPr wrap="square" lIns="0" tIns="0" rIns="0" bIns="0" rtlCol="0" anchor="ctr"/>
          <a:lstStyle/>
          <a:p>
            <a:pPr indent="0" marL="0">
              <a:buNone/>
            </a:pPr>
            <a:r>
              <a:rPr lang="en-US" sz="1200" b="1" dirty="0">
                <a:solidFill>
                  <a:srgbClr val="F2A65A"/>
                </a:solidFill>
                <a:latin typeface="Calibri" pitchFamily="34" charset="0"/>
                <a:ea typeface="Calibri" pitchFamily="34" charset="-122"/>
                <a:cs typeface="Calibri" pitchFamily="34" charset="-120"/>
              </a:rPr>
              <a:t>Tools:  </a:t>
            </a:r>
            <a:pPr indent="0" marL="0">
              <a:buNone/>
            </a:pPr>
            <a:r>
              <a:rPr lang="en-US" sz="1200" dirty="0">
                <a:solidFill>
                  <a:srgbClr val="FFFFFF"/>
                </a:solidFill>
                <a:latin typeface="Calibri" pitchFamily="34" charset="0"/>
                <a:ea typeface="Calibri" pitchFamily="34" charset="-122"/>
                <a:cs typeface="Calibri" pitchFamily="34" charset="-120"/>
              </a:rPr>
              <a:t>k6 or Artillery (scriptable, CI-friendly) for generation; Grafana for visualising p95/p99. </a:t>
            </a:r>
            <a:pPr indent="0" marL="0">
              <a:buNone/>
            </a:pPr>
            <a:r>
              <a:rPr lang="en-US" sz="1200" i="1" dirty="0">
                <a:solidFill>
                  <a:srgbClr val="CADCFC"/>
                </a:solidFill>
                <a:latin typeface="Calibri" pitchFamily="34" charset="0"/>
                <a:ea typeface="Calibri" pitchFamily="34" charset="-122"/>
                <a:cs typeface="Calibri" pitchFamily="34" charset="-120"/>
              </a:rPr>
              <a:t>Always load-test staging only, with Berkeley's sign-off.</a:t>
            </a:r>
            <a:endParaRPr lang="en-US" sz="1200" dirty="0"/>
          </a:p>
        </p:txBody>
      </p:sp>
      <p:sp>
        <p:nvSpPr>
          <p:cNvPr id="31" name="Text 24"/>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08</a:t>
            </a:r>
            <a:endParaRPr lang="en-US" sz="1000" dirty="0"/>
          </a:p>
        </p:txBody>
      </p:sp>
      <p:sp>
        <p:nvSpPr>
          <p:cNvPr id="32" name="Text 25"/>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rtlCol="0" anchor="ctr"/>
          <a:lstStyle/>
          <a:p>
            <a:pPr indent="0" marL="0">
              <a:buNone/>
            </a:pPr>
            <a:r>
              <a:rPr lang="en-US" sz="1300" b="1" spc="300" kern="0" dirty="0">
                <a:solidFill>
                  <a:srgbClr val="1C7293"/>
                </a:solidFill>
                <a:latin typeface="Calibri" pitchFamily="34" charset="0"/>
                <a:ea typeface="Calibri" pitchFamily="34" charset="-122"/>
                <a:cs typeface="Calibri" pitchFamily="34" charset="-120"/>
              </a:rPr>
              <a:t>SECTION 8 · BEYOND OUR REACH</a:t>
            </a:r>
            <a:endParaRPr lang="en-US" sz="1300" dirty="0"/>
          </a:p>
        </p:txBody>
      </p:sp>
      <p:sp>
        <p:nvSpPr>
          <p:cNvPr id="3" name="Text 1"/>
          <p:cNvSpPr/>
          <p:nvPr/>
        </p:nvSpPr>
        <p:spPr>
          <a:xfrm>
            <a:off x="548640" y="749808"/>
            <a:ext cx="11064240" cy="777240"/>
          </a:xfrm>
          <a:prstGeom prst="rect">
            <a:avLst/>
          </a:prstGeom>
          <a:noFill/>
          <a:ln/>
        </p:spPr>
        <p:txBody>
          <a:bodyPr wrap="square" lIns="0" tIns="0" rIns="0" bIns="0" rtlCol="0" anchor="ctr"/>
          <a:lstStyle/>
          <a:p>
            <a:pPr indent="0" marL="0">
              <a:buNone/>
            </a:pPr>
            <a:r>
              <a:rPr lang="en-US" sz="3200" b="1" dirty="0">
                <a:solidFill>
                  <a:srgbClr val="1A2330"/>
                </a:solidFill>
                <a:latin typeface="Cambria" pitchFamily="34" charset="0"/>
                <a:ea typeface="Cambria" pitchFamily="34" charset="-122"/>
                <a:cs typeface="Cambria" pitchFamily="34" charset="-120"/>
              </a:rPr>
              <a:t>Recommending white &amp; grey-box tests</a:t>
            </a:r>
            <a:endParaRPr lang="en-US" sz="3200" dirty="0"/>
          </a:p>
        </p:txBody>
      </p:sp>
      <p:sp>
        <p:nvSpPr>
          <p:cNvPr id="4" name="Shape 2"/>
          <p:cNvSpPr/>
          <p:nvPr/>
        </p:nvSpPr>
        <p:spPr>
          <a:xfrm>
            <a:off x="548640" y="1783080"/>
            <a:ext cx="3611880" cy="3703320"/>
          </a:xfrm>
          <a:prstGeom prst="roundRect">
            <a:avLst>
              <a:gd name="adj" fmla="val 2025"/>
            </a:avLst>
          </a:prstGeom>
          <a:solidFill>
            <a:srgbClr val="FFFFFF"/>
          </a:solidFill>
          <a:ln w="19050">
            <a:solidFill>
              <a:srgbClr val="065A82"/>
            </a:solidFill>
            <a:prstDash val="solid"/>
          </a:ln>
          <a:effectLst>
            <a:outerShdw sx="100000" sy="100000" kx="0" ky="0" algn="bl" rotWithShape="0" blurRad="88900" dist="38100" dir="5400000">
              <a:srgbClr val="000000">
                <a:alpha val="12000"/>
              </a:srgbClr>
            </a:outerShdw>
          </a:effectLst>
        </p:spPr>
      </p:sp>
      <p:sp>
        <p:nvSpPr>
          <p:cNvPr id="5" name="Shape 3"/>
          <p:cNvSpPr/>
          <p:nvPr/>
        </p:nvSpPr>
        <p:spPr>
          <a:xfrm>
            <a:off x="841248" y="2075688"/>
            <a:ext cx="1554480" cy="502920"/>
          </a:xfrm>
          <a:prstGeom prst="roundRect">
            <a:avLst>
              <a:gd name="adj" fmla="val 49091"/>
            </a:avLst>
          </a:prstGeom>
          <a:solidFill>
            <a:srgbClr val="065A82"/>
          </a:solidFill>
          <a:ln/>
        </p:spPr>
      </p:sp>
      <p:sp>
        <p:nvSpPr>
          <p:cNvPr id="6" name="Text 4"/>
          <p:cNvSpPr/>
          <p:nvPr/>
        </p:nvSpPr>
        <p:spPr>
          <a:xfrm>
            <a:off x="841248" y="2075688"/>
            <a:ext cx="1554480" cy="5029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BLACK</a:t>
            </a:r>
            <a:endParaRPr lang="en-US" sz="1300" dirty="0"/>
          </a:p>
        </p:txBody>
      </p:sp>
      <p:sp>
        <p:nvSpPr>
          <p:cNvPr id="7" name="Text 5"/>
          <p:cNvSpPr/>
          <p:nvPr/>
        </p:nvSpPr>
        <p:spPr>
          <a:xfrm>
            <a:off x="868680" y="2697480"/>
            <a:ext cx="2971800" cy="502920"/>
          </a:xfrm>
          <a:prstGeom prst="rect">
            <a:avLst/>
          </a:prstGeom>
          <a:noFill/>
          <a:ln/>
        </p:spPr>
        <p:txBody>
          <a:bodyPr wrap="square" lIns="0" tIns="0" rIns="0" bIns="0" rtlCol="0" anchor="ctr"/>
          <a:lstStyle/>
          <a:p>
            <a:pPr indent="0" marL="0">
              <a:buNone/>
            </a:pPr>
            <a:r>
              <a:rPr lang="en-US" sz="1150" i="1" dirty="0">
                <a:solidFill>
                  <a:srgbClr val="6B7A8D"/>
                </a:solidFill>
                <a:latin typeface="Calibri" pitchFamily="34" charset="0"/>
                <a:ea typeface="Calibri" pitchFamily="34" charset="-122"/>
                <a:cs typeface="Calibri" pitchFamily="34" charset="-120"/>
              </a:rPr>
              <a:t>API contract only · us, now</a:t>
            </a:r>
            <a:endParaRPr lang="en-US" sz="1150" dirty="0"/>
          </a:p>
        </p:txBody>
      </p:sp>
      <p:sp>
        <p:nvSpPr>
          <p:cNvPr id="8" name="Text 6"/>
          <p:cNvSpPr/>
          <p:nvPr/>
        </p:nvSpPr>
        <p:spPr>
          <a:xfrm>
            <a:off x="868680" y="3246120"/>
            <a:ext cx="3017520" cy="21031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Money conservation across load/unload</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State-transition enforcement</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Schema &amp; error-path assertions</a:t>
            </a:r>
            <a:endParaRPr lang="en-US" sz="1250" dirty="0"/>
          </a:p>
        </p:txBody>
      </p:sp>
      <p:sp>
        <p:nvSpPr>
          <p:cNvPr id="9" name="Shape 7"/>
          <p:cNvSpPr/>
          <p:nvPr/>
        </p:nvSpPr>
        <p:spPr>
          <a:xfrm>
            <a:off x="4361688" y="1783080"/>
            <a:ext cx="3611880" cy="3703320"/>
          </a:xfrm>
          <a:prstGeom prst="roundRect">
            <a:avLst>
              <a:gd name="adj" fmla="val 2025"/>
            </a:avLst>
          </a:prstGeom>
          <a:solidFill>
            <a:srgbClr val="FFFFFF"/>
          </a:solidFill>
          <a:ln w="19050">
            <a:solidFill>
              <a:srgbClr val="1C7293"/>
            </a:solidFill>
            <a:prstDash val="solid"/>
          </a:ln>
          <a:effectLst>
            <a:outerShdw sx="100000" sy="100000" kx="0" ky="0" algn="bl" rotWithShape="0" blurRad="88900" dist="38100" dir="5400000">
              <a:srgbClr val="000000">
                <a:alpha val="12000"/>
              </a:srgbClr>
            </a:outerShdw>
          </a:effectLst>
        </p:spPr>
      </p:sp>
      <p:sp>
        <p:nvSpPr>
          <p:cNvPr id="10" name="Shape 8"/>
          <p:cNvSpPr/>
          <p:nvPr/>
        </p:nvSpPr>
        <p:spPr>
          <a:xfrm>
            <a:off x="4654296" y="2075688"/>
            <a:ext cx="1554480" cy="502920"/>
          </a:xfrm>
          <a:prstGeom prst="roundRect">
            <a:avLst>
              <a:gd name="adj" fmla="val 49091"/>
            </a:avLst>
          </a:prstGeom>
          <a:solidFill>
            <a:srgbClr val="1C7293"/>
          </a:solidFill>
          <a:ln/>
        </p:spPr>
      </p:sp>
      <p:sp>
        <p:nvSpPr>
          <p:cNvPr id="11" name="Text 9"/>
          <p:cNvSpPr/>
          <p:nvPr/>
        </p:nvSpPr>
        <p:spPr>
          <a:xfrm>
            <a:off x="4654296" y="2075688"/>
            <a:ext cx="1554480" cy="5029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GREY</a:t>
            </a:r>
            <a:endParaRPr lang="en-US" sz="1300" dirty="0"/>
          </a:p>
        </p:txBody>
      </p:sp>
      <p:sp>
        <p:nvSpPr>
          <p:cNvPr id="12" name="Text 10"/>
          <p:cNvSpPr/>
          <p:nvPr/>
        </p:nvSpPr>
        <p:spPr>
          <a:xfrm>
            <a:off x="4681728" y="2697480"/>
            <a:ext cx="2971800" cy="502920"/>
          </a:xfrm>
          <a:prstGeom prst="rect">
            <a:avLst/>
          </a:prstGeom>
          <a:noFill/>
          <a:ln/>
        </p:spPr>
        <p:txBody>
          <a:bodyPr wrap="square" lIns="0" tIns="0" rIns="0" bIns="0" rtlCol="0" anchor="ctr"/>
          <a:lstStyle/>
          <a:p>
            <a:pPr indent="0" marL="0">
              <a:buNone/>
            </a:pPr>
            <a:r>
              <a:rPr lang="en-US" sz="1150" i="1" dirty="0">
                <a:solidFill>
                  <a:srgbClr val="6B7A8D"/>
                </a:solidFill>
                <a:latin typeface="Calibri" pitchFamily="34" charset="0"/>
                <a:ea typeface="Calibri" pitchFamily="34" charset="-122"/>
                <a:cs typeface="Calibri" pitchFamily="34" charset="-120"/>
              </a:rPr>
              <a:t>Logs, DB, events, traces · us + Berkeley</a:t>
            </a:r>
            <a:endParaRPr lang="en-US" sz="1150" dirty="0"/>
          </a:p>
        </p:txBody>
      </p:sp>
      <p:sp>
        <p:nvSpPr>
          <p:cNvPr id="13" name="Text 11"/>
          <p:cNvSpPr/>
          <p:nvPr/>
        </p:nvSpPr>
        <p:spPr>
          <a:xfrm>
            <a:off x="4681728" y="3246120"/>
            <a:ext cx="3017520" cy="21031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API response matches ledger posting</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Domain events emitted (value_load.created)</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Provider-side Pact verification</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Observability-driven path checks</a:t>
            </a:r>
            <a:endParaRPr lang="en-US" sz="1250" dirty="0"/>
          </a:p>
        </p:txBody>
      </p:sp>
      <p:sp>
        <p:nvSpPr>
          <p:cNvPr id="14" name="Shape 12"/>
          <p:cNvSpPr/>
          <p:nvPr/>
        </p:nvSpPr>
        <p:spPr>
          <a:xfrm>
            <a:off x="8174736" y="1783080"/>
            <a:ext cx="3611880" cy="3703320"/>
          </a:xfrm>
          <a:prstGeom prst="roundRect">
            <a:avLst>
              <a:gd name="adj" fmla="val 2025"/>
            </a:avLst>
          </a:prstGeom>
          <a:solidFill>
            <a:srgbClr val="FFFFFF"/>
          </a:solidFill>
          <a:ln w="19050">
            <a:solidFill>
              <a:srgbClr val="F2A65A"/>
            </a:solidFill>
            <a:prstDash val="solid"/>
          </a:ln>
          <a:effectLst>
            <a:outerShdw sx="100000" sy="100000" kx="0" ky="0" algn="bl" rotWithShape="0" blurRad="88900" dist="38100" dir="5400000">
              <a:srgbClr val="000000">
                <a:alpha val="12000"/>
              </a:srgbClr>
            </a:outerShdw>
          </a:effectLst>
        </p:spPr>
      </p:sp>
      <p:sp>
        <p:nvSpPr>
          <p:cNvPr id="15" name="Shape 13"/>
          <p:cNvSpPr/>
          <p:nvPr/>
        </p:nvSpPr>
        <p:spPr>
          <a:xfrm>
            <a:off x="8467344" y="2075688"/>
            <a:ext cx="1554480" cy="502920"/>
          </a:xfrm>
          <a:prstGeom prst="roundRect">
            <a:avLst>
              <a:gd name="adj" fmla="val 49091"/>
            </a:avLst>
          </a:prstGeom>
          <a:solidFill>
            <a:srgbClr val="F2A65A"/>
          </a:solidFill>
          <a:ln/>
        </p:spPr>
      </p:sp>
      <p:sp>
        <p:nvSpPr>
          <p:cNvPr id="16" name="Text 14"/>
          <p:cNvSpPr/>
          <p:nvPr/>
        </p:nvSpPr>
        <p:spPr>
          <a:xfrm>
            <a:off x="8467344" y="2075688"/>
            <a:ext cx="1554480" cy="50292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WHITE</a:t>
            </a:r>
            <a:endParaRPr lang="en-US" sz="1300" dirty="0"/>
          </a:p>
        </p:txBody>
      </p:sp>
      <p:sp>
        <p:nvSpPr>
          <p:cNvPr id="17" name="Text 15"/>
          <p:cNvSpPr/>
          <p:nvPr/>
        </p:nvSpPr>
        <p:spPr>
          <a:xfrm>
            <a:off x="8494776" y="2697480"/>
            <a:ext cx="2971800" cy="502920"/>
          </a:xfrm>
          <a:prstGeom prst="rect">
            <a:avLst/>
          </a:prstGeom>
          <a:noFill/>
          <a:ln/>
        </p:spPr>
        <p:txBody>
          <a:bodyPr wrap="square" lIns="0" tIns="0" rIns="0" bIns="0" rtlCol="0" anchor="ctr"/>
          <a:lstStyle/>
          <a:p>
            <a:pPr indent="0" marL="0">
              <a:buNone/>
            </a:pPr>
            <a:r>
              <a:rPr lang="en-US" sz="1150" i="1" dirty="0">
                <a:solidFill>
                  <a:srgbClr val="6B7A8D"/>
                </a:solidFill>
                <a:latin typeface="Calibri" pitchFamily="34" charset="0"/>
                <a:ea typeface="Calibri" pitchFamily="34" charset="-122"/>
                <a:cs typeface="Calibri" pitchFamily="34" charset="-120"/>
              </a:rPr>
              <a:t>Source code · Berkeley</a:t>
            </a:r>
            <a:endParaRPr lang="en-US" sz="1150" dirty="0"/>
          </a:p>
        </p:txBody>
      </p:sp>
      <p:sp>
        <p:nvSpPr>
          <p:cNvPr id="18" name="Text 16"/>
          <p:cNvSpPr/>
          <p:nvPr/>
        </p:nvSpPr>
        <p:spPr>
          <a:xfrm>
            <a:off x="8494776" y="3246120"/>
            <a:ext cx="3017520" cy="210312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Unit tests on balance arithmetic</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Branch coverage on status machine</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Coverage gates on money modules</a:t>
            </a:r>
            <a:endParaRPr lang="en-US" sz="1250" dirty="0"/>
          </a:p>
          <a:p>
            <a:pPr marL="342900" indent="-342900">
              <a:spcAft>
                <a:spcPts val="700"/>
              </a:spcAft>
              <a:buSzPct val="100000"/>
              <a:buChar char="•"/>
            </a:pPr>
            <a:r>
              <a:rPr lang="en-US" sz="1250" dirty="0">
                <a:solidFill>
                  <a:srgbClr val="1A2330"/>
                </a:solidFill>
                <a:latin typeface="Calibri" pitchFamily="34" charset="0"/>
                <a:ea typeface="Calibri" pitchFamily="34" charset="-122"/>
                <a:cs typeface="Calibri" pitchFamily="34" charset="-120"/>
              </a:rPr>
              <a:t>Static analysis / SAST</a:t>
            </a:r>
            <a:endParaRPr lang="en-US" sz="1250" dirty="0"/>
          </a:p>
        </p:txBody>
      </p:sp>
      <p:sp>
        <p:nvSpPr>
          <p:cNvPr id="19" name="Text 17"/>
          <p:cNvSpPr/>
          <p:nvPr/>
        </p:nvSpPr>
        <p:spPr>
          <a:xfrm>
            <a:off x="548640" y="5715000"/>
            <a:ext cx="11064240" cy="548640"/>
          </a:xfrm>
          <a:prstGeom prst="rect">
            <a:avLst/>
          </a:prstGeom>
          <a:solidFill>
            <a:srgbClr val="F4F8FB"/>
          </a:solidFill>
          <a:ln w="12700">
            <a:solidFill>
              <a:srgbClr val="DCE7F0"/>
            </a:solidFill>
          </a:ln>
        </p:spPr>
        <p:txBody>
          <a:bodyPr wrap="square" lIns="127000" tIns="127000" rIns="127000" bIns="127000" rtlCol="0" anchor="ctr"/>
          <a:lstStyle/>
          <a:p>
            <a:pPr algn="ctr" indent="0" marL="0">
              <a:buNone/>
            </a:pPr>
            <a:r>
              <a:rPr lang="en-US" sz="1350" dirty="0">
                <a:solidFill>
                  <a:srgbClr val="1A2330"/>
                </a:solidFill>
                <a:latin typeface="Calibri" pitchFamily="34" charset="0"/>
                <a:ea typeface="Calibri" pitchFamily="34" charset="-122"/>
                <a:cs typeface="Calibri" pitchFamily="34" charset="-120"/>
              </a:rPr>
              <a:t>Knowing what you </a:t>
            </a:r>
            <a:pPr algn="ctr" indent="0" marL="0">
              <a:buNone/>
            </a:pPr>
            <a:r>
              <a:rPr lang="en-US" sz="1350" b="1" i="1" dirty="0">
                <a:solidFill>
                  <a:srgbClr val="F2A65A"/>
                </a:solidFill>
                <a:latin typeface="Calibri" pitchFamily="34" charset="0"/>
                <a:ea typeface="Calibri" pitchFamily="34" charset="-122"/>
                <a:cs typeface="Calibri" pitchFamily="34" charset="-120"/>
              </a:rPr>
              <a:t>can't</a:t>
            </a:r>
            <a:pPr algn="ctr" indent="0" marL="0">
              <a:buNone/>
            </a:pPr>
            <a:r>
              <a:rPr lang="en-US" sz="1350" dirty="0">
                <a:solidFill>
                  <a:srgbClr val="1A2330"/>
                </a:solidFill>
                <a:latin typeface="Calibri" pitchFamily="34" charset="0"/>
                <a:ea typeface="Calibri" pitchFamily="34" charset="-122"/>
                <a:cs typeface="Calibri" pitchFamily="34" charset="-120"/>
              </a:rPr>
              <a:t> reach — and recommending who should — is what shows breadth.</a:t>
            </a:r>
            <a:endParaRPr lang="en-US" sz="1350" dirty="0"/>
          </a:p>
        </p:txBody>
      </p:sp>
      <p:sp>
        <p:nvSpPr>
          <p:cNvPr id="20" name="Text 18"/>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09</a:t>
            </a:r>
            <a:endParaRPr lang="en-US" sz="1000" dirty="0"/>
          </a:p>
        </p:txBody>
      </p:sp>
      <p:sp>
        <p:nvSpPr>
          <p:cNvPr id="21" name="Text 19"/>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828800" y="4023360"/>
            <a:ext cx="5486400" cy="5486400"/>
          </a:xfrm>
          <a:prstGeom prst="ellipse">
            <a:avLst/>
          </a:prstGeom>
          <a:solidFill>
            <a:srgbClr val="065A82">
              <a:alpha val="35000"/>
            </a:srgbClr>
          </a:solidFill>
          <a:ln/>
        </p:spPr>
      </p:sp>
      <p:sp>
        <p:nvSpPr>
          <p:cNvPr id="3" name="Shape 1"/>
          <p:cNvSpPr/>
          <p:nvPr/>
        </p:nvSpPr>
        <p:spPr>
          <a:xfrm>
            <a:off x="9692640" y="-2011680"/>
            <a:ext cx="4572000" cy="4572000"/>
          </a:xfrm>
          <a:prstGeom prst="ellipse">
            <a:avLst/>
          </a:prstGeom>
          <a:solidFill>
            <a:srgbClr val="1C7293">
              <a:alpha val="40000"/>
            </a:srgbClr>
          </a:solidFill>
          <a:ln/>
        </p:spPr>
      </p:sp>
      <p:sp>
        <p:nvSpPr>
          <p:cNvPr id="4" name="Text 2"/>
          <p:cNvSpPr/>
          <p:nvPr/>
        </p:nvSpPr>
        <p:spPr>
          <a:xfrm>
            <a:off x="731520" y="640080"/>
            <a:ext cx="10058400" cy="365760"/>
          </a:xfrm>
          <a:prstGeom prst="rect">
            <a:avLst/>
          </a:prstGeom>
          <a:noFill/>
          <a:ln/>
        </p:spPr>
        <p:txBody>
          <a:bodyPr wrap="square" rtlCol="0" anchor="ctr"/>
          <a:lstStyle/>
          <a:p>
            <a:pPr indent="0" marL="0">
              <a:buNone/>
            </a:pPr>
            <a:r>
              <a:rPr lang="en-US" sz="1400" b="1" spc="400" kern="0" dirty="0">
                <a:solidFill>
                  <a:srgbClr val="F2A65A"/>
                </a:solidFill>
                <a:latin typeface="Calibri" pitchFamily="34" charset="0"/>
                <a:ea typeface="Calibri" pitchFamily="34" charset="-122"/>
                <a:cs typeface="Calibri" pitchFamily="34" charset="-120"/>
              </a:rPr>
              <a:t>THE 4-BEAT TALK TRACK</a:t>
            </a:r>
            <a:endParaRPr lang="en-US" sz="1400" dirty="0"/>
          </a:p>
        </p:txBody>
      </p:sp>
      <p:sp>
        <p:nvSpPr>
          <p:cNvPr id="5" name="Text 3"/>
          <p:cNvSpPr/>
          <p:nvPr/>
        </p:nvSpPr>
        <p:spPr>
          <a:xfrm>
            <a:off x="731520" y="1005840"/>
            <a:ext cx="100584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Tying it together</a:t>
            </a:r>
            <a:endParaRPr lang="en-US" sz="3200" dirty="0"/>
          </a:p>
        </p:txBody>
      </p:sp>
      <p:sp>
        <p:nvSpPr>
          <p:cNvPr id="6" name="Shape 4"/>
          <p:cNvSpPr/>
          <p:nvPr/>
        </p:nvSpPr>
        <p:spPr>
          <a:xfrm>
            <a:off x="731520" y="1965960"/>
            <a:ext cx="5394960" cy="1417320"/>
          </a:xfrm>
          <a:prstGeom prst="roundRect">
            <a:avLst>
              <a:gd name="adj" fmla="val 5161"/>
            </a:avLst>
          </a:prstGeom>
          <a:solidFill>
            <a:srgbClr val="FFFFFF"/>
          </a:solidFill>
          <a:ln/>
          <a:effectLst>
            <a:outerShdw sx="100000" sy="100000" kx="0" ky="0" algn="bl" rotWithShape="0" blurRad="88900" dist="38100" dir="5400000">
              <a:srgbClr val="000000">
                <a:alpha val="12000"/>
              </a:srgbClr>
            </a:outerShdw>
          </a:effectLst>
        </p:spPr>
      </p:sp>
      <p:sp>
        <p:nvSpPr>
          <p:cNvPr id="7" name="Shape 5"/>
          <p:cNvSpPr/>
          <p:nvPr/>
        </p:nvSpPr>
        <p:spPr>
          <a:xfrm>
            <a:off x="1005840" y="2331720"/>
            <a:ext cx="685800" cy="685800"/>
          </a:xfrm>
          <a:prstGeom prst="ellipse">
            <a:avLst/>
          </a:prstGeom>
          <a:solidFill>
            <a:srgbClr val="F2A65A"/>
          </a:solidFill>
          <a:ln/>
        </p:spPr>
      </p:sp>
      <p:sp>
        <p:nvSpPr>
          <p:cNvPr id="8" name="Text 6"/>
          <p:cNvSpPr/>
          <p:nvPr/>
        </p:nvSpPr>
        <p:spPr>
          <a:xfrm>
            <a:off x="100584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9" name="Text 7"/>
          <p:cNvSpPr/>
          <p:nvPr/>
        </p:nvSpPr>
        <p:spPr>
          <a:xfrm>
            <a:off x="1874520" y="2167128"/>
            <a:ext cx="406908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Frame by risk</a:t>
            </a:r>
            <a:endParaRPr lang="en-US" sz="1700" dirty="0"/>
          </a:p>
        </p:txBody>
      </p:sp>
      <p:sp>
        <p:nvSpPr>
          <p:cNvPr id="10" name="Text 8"/>
          <p:cNvSpPr/>
          <p:nvPr/>
        </p:nvSpPr>
        <p:spPr>
          <a:xfrm>
            <a:off x="1874520" y="2606040"/>
            <a:ext cx="4023360" cy="685800"/>
          </a:xfrm>
          <a:prstGeom prst="rect">
            <a:avLst/>
          </a:prstGeom>
          <a:noFill/>
          <a:ln/>
        </p:spPr>
        <p:txBody>
          <a:bodyPr wrap="square" lIns="0" tIns="0" rIns="0" bIns="0" rtlCol="0" anchor="ctr"/>
          <a:lstStyle/>
          <a:p>
            <a:pPr indent="0" marL="0">
              <a:lnSpc>
                <a:spcPct val="100000"/>
              </a:lnSpc>
              <a:buNone/>
            </a:pPr>
            <a:r>
              <a:rPr lang="en-US" sz="1250" i="1" dirty="0">
                <a:solidFill>
                  <a:srgbClr val="44546A"/>
                </a:solidFill>
                <a:latin typeface="Calibri" pitchFamily="34" charset="0"/>
                <a:ea typeface="Calibri" pitchFamily="34" charset="-122"/>
                <a:cs typeface="Calibri" pitchFamily="34" charset="-120"/>
              </a:rPr>
              <a:t>“It's a payments platform, so I tested around money movement — deepest where loss is greatest.”</a:t>
            </a:r>
            <a:endParaRPr lang="en-US" sz="1250" dirty="0"/>
          </a:p>
        </p:txBody>
      </p:sp>
      <p:sp>
        <p:nvSpPr>
          <p:cNvPr id="11" name="Shape 9"/>
          <p:cNvSpPr/>
          <p:nvPr/>
        </p:nvSpPr>
        <p:spPr>
          <a:xfrm>
            <a:off x="6400800" y="1965960"/>
            <a:ext cx="5394960" cy="1417320"/>
          </a:xfrm>
          <a:prstGeom prst="roundRect">
            <a:avLst>
              <a:gd name="adj" fmla="val 5161"/>
            </a:avLst>
          </a:prstGeom>
          <a:solidFill>
            <a:srgbClr val="FFFFFF"/>
          </a:solidFill>
          <a:ln/>
          <a:effectLst>
            <a:outerShdw sx="100000" sy="100000" kx="0" ky="0" algn="bl" rotWithShape="0" blurRad="88900" dist="38100" dir="5400000">
              <a:srgbClr val="000000">
                <a:alpha val="12000"/>
              </a:srgbClr>
            </a:outerShdw>
          </a:effectLst>
        </p:spPr>
      </p:sp>
      <p:sp>
        <p:nvSpPr>
          <p:cNvPr id="12" name="Shape 10"/>
          <p:cNvSpPr/>
          <p:nvPr/>
        </p:nvSpPr>
        <p:spPr>
          <a:xfrm>
            <a:off x="6675120" y="2331720"/>
            <a:ext cx="685800" cy="685800"/>
          </a:xfrm>
          <a:prstGeom prst="ellipse">
            <a:avLst/>
          </a:prstGeom>
          <a:solidFill>
            <a:srgbClr val="F2A65A"/>
          </a:solidFill>
          <a:ln/>
        </p:spPr>
      </p:sp>
      <p:sp>
        <p:nvSpPr>
          <p:cNvPr id="13" name="Text 11"/>
          <p:cNvSpPr/>
          <p:nvPr/>
        </p:nvSpPr>
        <p:spPr>
          <a:xfrm>
            <a:off x="6675120" y="23317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Text 12"/>
          <p:cNvSpPr/>
          <p:nvPr/>
        </p:nvSpPr>
        <p:spPr>
          <a:xfrm>
            <a:off x="7543800" y="2167128"/>
            <a:ext cx="406908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Show the layered model</a:t>
            </a:r>
            <a:endParaRPr lang="en-US" sz="1700" dirty="0"/>
          </a:p>
        </p:txBody>
      </p:sp>
      <p:sp>
        <p:nvSpPr>
          <p:cNvPr id="15" name="Text 13"/>
          <p:cNvSpPr/>
          <p:nvPr/>
        </p:nvSpPr>
        <p:spPr>
          <a:xfrm>
            <a:off x="7543800" y="2606040"/>
            <a:ext cx="4023360" cy="685800"/>
          </a:xfrm>
          <a:prstGeom prst="rect">
            <a:avLst/>
          </a:prstGeom>
          <a:noFill/>
          <a:ln/>
        </p:spPr>
        <p:txBody>
          <a:bodyPr wrap="square" lIns="0" tIns="0" rIns="0" bIns="0" rtlCol="0" anchor="ctr"/>
          <a:lstStyle/>
          <a:p>
            <a:pPr indent="0" marL="0">
              <a:lnSpc>
                <a:spcPct val="100000"/>
              </a:lnSpc>
              <a:buNone/>
            </a:pPr>
            <a:r>
              <a:rPr lang="en-US" sz="1250" i="1" dirty="0">
                <a:solidFill>
                  <a:srgbClr val="44546A"/>
                </a:solidFill>
                <a:latin typeface="Calibri" pitchFamily="34" charset="0"/>
                <a:ea typeface="Calibri" pitchFamily="34" charset="-122"/>
                <a:cs typeface="Calibri" pitchFamily="34" charset="-120"/>
              </a:rPr>
              <a:t>“As an API consumer my pyramid is inverted — heavy at integration &amp; contract.”</a:t>
            </a:r>
            <a:endParaRPr lang="en-US" sz="1250" dirty="0"/>
          </a:p>
        </p:txBody>
      </p:sp>
      <p:sp>
        <p:nvSpPr>
          <p:cNvPr id="16" name="Shape 14"/>
          <p:cNvSpPr/>
          <p:nvPr/>
        </p:nvSpPr>
        <p:spPr>
          <a:xfrm>
            <a:off x="731520" y="3657600"/>
            <a:ext cx="5394960" cy="1417320"/>
          </a:xfrm>
          <a:prstGeom prst="roundRect">
            <a:avLst>
              <a:gd name="adj" fmla="val 5161"/>
            </a:avLst>
          </a:prstGeom>
          <a:solidFill>
            <a:srgbClr val="FFFFFF"/>
          </a:solidFill>
          <a:ln/>
          <a:effectLst>
            <a:outerShdw sx="100000" sy="100000" kx="0" ky="0" algn="bl" rotWithShape="0" blurRad="88900" dist="38100" dir="5400000">
              <a:srgbClr val="000000">
                <a:alpha val="12000"/>
              </a:srgbClr>
            </a:outerShdw>
          </a:effectLst>
        </p:spPr>
      </p:sp>
      <p:sp>
        <p:nvSpPr>
          <p:cNvPr id="17" name="Shape 15"/>
          <p:cNvSpPr/>
          <p:nvPr/>
        </p:nvSpPr>
        <p:spPr>
          <a:xfrm>
            <a:off x="1005840" y="4023360"/>
            <a:ext cx="685800" cy="685800"/>
          </a:xfrm>
          <a:prstGeom prst="ellipse">
            <a:avLst/>
          </a:prstGeom>
          <a:solidFill>
            <a:srgbClr val="F2A65A"/>
          </a:solidFill>
          <a:ln/>
        </p:spPr>
      </p:sp>
      <p:sp>
        <p:nvSpPr>
          <p:cNvPr id="18" name="Text 16"/>
          <p:cNvSpPr/>
          <p:nvPr/>
        </p:nvSpPr>
        <p:spPr>
          <a:xfrm>
            <a:off x="1005840" y="40233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9" name="Text 17"/>
          <p:cNvSpPr/>
          <p:nvPr/>
        </p:nvSpPr>
        <p:spPr>
          <a:xfrm>
            <a:off x="1874520" y="3858768"/>
            <a:ext cx="406908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Demonstrate black-box depth</a:t>
            </a:r>
            <a:endParaRPr lang="en-US" sz="1700" dirty="0"/>
          </a:p>
        </p:txBody>
      </p:sp>
      <p:sp>
        <p:nvSpPr>
          <p:cNvPr id="20" name="Text 18"/>
          <p:cNvSpPr/>
          <p:nvPr/>
        </p:nvSpPr>
        <p:spPr>
          <a:xfrm>
            <a:off x="1874520" y="4297680"/>
            <a:ext cx="4023360" cy="685800"/>
          </a:xfrm>
          <a:prstGeom prst="rect">
            <a:avLst/>
          </a:prstGeom>
          <a:noFill/>
          <a:ln/>
        </p:spPr>
        <p:txBody>
          <a:bodyPr wrap="square" lIns="0" tIns="0" rIns="0" bIns="0" rtlCol="0" anchor="ctr"/>
          <a:lstStyle/>
          <a:p>
            <a:pPr indent="0" marL="0">
              <a:lnSpc>
                <a:spcPct val="100000"/>
              </a:lnSpc>
              <a:buNone/>
            </a:pPr>
            <a:r>
              <a:rPr lang="en-US" sz="1250" i="1" dirty="0">
                <a:solidFill>
                  <a:srgbClr val="44546A"/>
                </a:solidFill>
                <a:latin typeface="Calibri" pitchFamily="34" charset="0"/>
                <a:ea typeface="Calibri" pitchFamily="34" charset="-122"/>
                <a:cs typeface="Calibri" pitchFamily="34" charset="-120"/>
              </a:rPr>
              <a:t>“Postman + Playwright: journeys, negative paths, transitions, money conservation.”</a:t>
            </a:r>
            <a:endParaRPr lang="en-US" sz="1250" dirty="0"/>
          </a:p>
        </p:txBody>
      </p:sp>
      <p:sp>
        <p:nvSpPr>
          <p:cNvPr id="21" name="Shape 19"/>
          <p:cNvSpPr/>
          <p:nvPr/>
        </p:nvSpPr>
        <p:spPr>
          <a:xfrm>
            <a:off x="6400800" y="3657600"/>
            <a:ext cx="5394960" cy="1417320"/>
          </a:xfrm>
          <a:prstGeom prst="roundRect">
            <a:avLst>
              <a:gd name="adj" fmla="val 5161"/>
            </a:avLst>
          </a:prstGeom>
          <a:solidFill>
            <a:srgbClr val="FFFFFF"/>
          </a:solidFill>
          <a:ln/>
          <a:effectLst>
            <a:outerShdw sx="100000" sy="100000" kx="0" ky="0" algn="bl" rotWithShape="0" blurRad="88900" dist="38100" dir="5400000">
              <a:srgbClr val="000000">
                <a:alpha val="12000"/>
              </a:srgbClr>
            </a:outerShdw>
          </a:effectLst>
        </p:spPr>
      </p:sp>
      <p:sp>
        <p:nvSpPr>
          <p:cNvPr id="22" name="Shape 20"/>
          <p:cNvSpPr/>
          <p:nvPr/>
        </p:nvSpPr>
        <p:spPr>
          <a:xfrm>
            <a:off x="6675120" y="4023360"/>
            <a:ext cx="685800" cy="685800"/>
          </a:xfrm>
          <a:prstGeom prst="ellipse">
            <a:avLst/>
          </a:prstGeom>
          <a:solidFill>
            <a:srgbClr val="F2A65A"/>
          </a:solidFill>
          <a:ln/>
        </p:spPr>
      </p:sp>
      <p:sp>
        <p:nvSpPr>
          <p:cNvPr id="23" name="Text 21"/>
          <p:cNvSpPr/>
          <p:nvPr/>
        </p:nvSpPr>
        <p:spPr>
          <a:xfrm>
            <a:off x="6675120" y="402336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4" name="Text 22"/>
          <p:cNvSpPr/>
          <p:nvPr/>
        </p:nvSpPr>
        <p:spPr>
          <a:xfrm>
            <a:off x="7543800" y="3858768"/>
            <a:ext cx="4069080" cy="457200"/>
          </a:xfrm>
          <a:prstGeom prst="rect">
            <a:avLst/>
          </a:prstGeom>
          <a:noFill/>
          <a:ln/>
        </p:spPr>
        <p:txBody>
          <a:bodyPr wrap="square" lIns="0" tIns="0" rIns="0" bIns="0" rtlCol="0" anchor="ctr"/>
          <a:lstStyle/>
          <a:p>
            <a:pPr indent="0" marL="0">
              <a:buNone/>
            </a:pPr>
            <a:r>
              <a:rPr lang="en-US" sz="1700" b="1" dirty="0">
                <a:solidFill>
                  <a:srgbClr val="21295C"/>
                </a:solidFill>
                <a:latin typeface="Cambria" pitchFamily="34" charset="0"/>
                <a:ea typeface="Cambria" pitchFamily="34" charset="-122"/>
                <a:cs typeface="Cambria" pitchFamily="34" charset="-120"/>
              </a:rPr>
              <a:t>Recommend beyond reach</a:t>
            </a:r>
            <a:endParaRPr lang="en-US" sz="1700" dirty="0"/>
          </a:p>
        </p:txBody>
      </p:sp>
      <p:sp>
        <p:nvSpPr>
          <p:cNvPr id="25" name="Text 23"/>
          <p:cNvSpPr/>
          <p:nvPr/>
        </p:nvSpPr>
        <p:spPr>
          <a:xfrm>
            <a:off x="7543800" y="4297680"/>
            <a:ext cx="4023360" cy="685800"/>
          </a:xfrm>
          <a:prstGeom prst="rect">
            <a:avLst/>
          </a:prstGeom>
          <a:noFill/>
          <a:ln/>
        </p:spPr>
        <p:txBody>
          <a:bodyPr wrap="square" lIns="0" tIns="0" rIns="0" bIns="0" rtlCol="0" anchor="ctr"/>
          <a:lstStyle/>
          <a:p>
            <a:pPr indent="0" marL="0">
              <a:lnSpc>
                <a:spcPct val="100000"/>
              </a:lnSpc>
              <a:buNone/>
            </a:pPr>
            <a:r>
              <a:rPr lang="en-US" sz="1250" i="1" dirty="0">
                <a:solidFill>
                  <a:srgbClr val="44546A"/>
                </a:solidFill>
                <a:latin typeface="Calibri" pitchFamily="34" charset="0"/>
                <a:ea typeface="Calibri" pitchFamily="34" charset="-122"/>
                <a:cs typeface="Calibri" pitchFamily="34" charset="-120"/>
              </a:rPr>
              <a:t>“Then contract tests, ledger-level grey-box, and unit coverage on balance math.”</a:t>
            </a:r>
            <a:endParaRPr lang="en-US" sz="1250" dirty="0"/>
          </a:p>
        </p:txBody>
      </p:sp>
      <p:sp>
        <p:nvSpPr>
          <p:cNvPr id="26" name="Text 24"/>
          <p:cNvSpPr/>
          <p:nvPr/>
        </p:nvSpPr>
        <p:spPr>
          <a:xfrm>
            <a:off x="731520" y="5440680"/>
            <a:ext cx="10698480" cy="548640"/>
          </a:xfrm>
          <a:prstGeom prst="rect">
            <a:avLst/>
          </a:prstGeom>
          <a:solidFill>
            <a:srgbClr val="F2A65A"/>
          </a:solidFill>
          <a:ln/>
        </p:spPr>
        <p:txBody>
          <a:bodyPr wrap="square" lIns="101600" tIns="101600" rIns="101600" bIns="101600" rtlCol="0" anchor="ctr"/>
          <a:lstStyle/>
          <a:p>
            <a:pPr algn="ctr" indent="0" marL="0">
              <a:buNone/>
            </a:pPr>
            <a:r>
              <a:rPr lang="en-US" sz="1500" b="1" dirty="0">
                <a:solidFill>
                  <a:srgbClr val="21295C"/>
                </a:solidFill>
                <a:latin typeface="Calibri" pitchFamily="34" charset="0"/>
                <a:ea typeface="Calibri" pitchFamily="34" charset="-122"/>
                <a:cs typeface="Calibri" pitchFamily="34" charset="-120"/>
              </a:rPr>
              <a:t>Highest-priority test of all:  money conservation on value load / unload.</a:t>
            </a:r>
            <a:endParaRPr lang="en-US" sz="1500" dirty="0"/>
          </a:p>
        </p:txBody>
      </p:sp>
      <p:sp>
        <p:nvSpPr>
          <p:cNvPr id="27" name="Text 25"/>
          <p:cNvSpPr/>
          <p:nvPr/>
        </p:nvSpPr>
        <p:spPr>
          <a:xfrm>
            <a:off x="11338560" y="6355080"/>
            <a:ext cx="457200" cy="274320"/>
          </a:xfrm>
          <a:prstGeom prst="rect">
            <a:avLst/>
          </a:prstGeom>
          <a:noFill/>
          <a:ln/>
        </p:spPr>
        <p:txBody>
          <a:bodyPr wrap="square" rtlCol="0" anchor="ctr"/>
          <a:lstStyle/>
          <a:p>
            <a:pPr algn="r" indent="0" marL="0">
              <a:buNone/>
            </a:pPr>
            <a:r>
              <a:rPr lang="en-US" sz="1000" dirty="0">
                <a:solidFill>
                  <a:srgbClr val="6B7A8D"/>
                </a:solidFill>
                <a:latin typeface="Calibri" pitchFamily="34" charset="0"/>
                <a:ea typeface="Calibri" pitchFamily="34" charset="-122"/>
                <a:cs typeface="Calibri" pitchFamily="34" charset="-120"/>
              </a:rPr>
              <a:t>10</a:t>
            </a:r>
            <a:endParaRPr lang="en-US" sz="1000" dirty="0"/>
          </a:p>
        </p:txBody>
      </p:sp>
      <p:sp>
        <p:nvSpPr>
          <p:cNvPr id="28" name="Text 26"/>
          <p:cNvSpPr/>
          <p:nvPr/>
        </p:nvSpPr>
        <p:spPr>
          <a:xfrm>
            <a:off x="457200" y="6355080"/>
            <a:ext cx="5486400" cy="274320"/>
          </a:xfrm>
          <a:prstGeom prst="rect">
            <a:avLst/>
          </a:prstGeom>
          <a:noFill/>
          <a:ln/>
        </p:spPr>
        <p:txBody>
          <a:bodyPr wrap="square" rtlCol="0" anchor="ctr"/>
          <a:lstStyle/>
          <a:p>
            <a:pPr algn="l" indent="0" marL="0">
              <a:buNone/>
            </a:pPr>
            <a:r>
              <a:rPr lang="en-US" sz="1000" dirty="0">
                <a:solidFill>
                  <a:srgbClr val="6B7A8D"/>
                </a:solidFill>
                <a:latin typeface="Calibri" pitchFamily="34" charset="0"/>
                <a:ea typeface="Calibri" pitchFamily="34" charset="-122"/>
                <a:cs typeface="Calibri" pitchFamily="34" charset="-120"/>
              </a:rPr>
              <a:t>Berkeley Payments · QA Test Strategy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Berkeley Payments — QA Test Strategy</dc:title>
  <dc:subject>PptxGenJS Presentation</dc:subject>
  <dc:creator>QA Strategy</dc:creator>
  <cp:lastModifiedBy>QA Strategy</cp:lastModifiedBy>
  <cp:revision>1</cp:revision>
  <dcterms:created xsi:type="dcterms:W3CDTF">2026-06-16T19:58:39Z</dcterms:created>
  <dcterms:modified xsi:type="dcterms:W3CDTF">2026-06-16T19:58:39Z</dcterms:modified>
</cp:coreProperties>
</file>