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Coverage depth</c:v>
                </c:pt>
              </c:strCache>
            </c:strRef>
          </c:tx>
          <c:spPr>
            <a:solidFill>
              <a:srgbClr val="1F3864">
                <a:alpha val="100000"/>
              </a:srgbClr>
            </a:solidFill>
            <a:effectLst/>
          </c:spPr>
          <c:invertIfNegative val="0"/>
          <c:cat>
            <c:strRef>
              <c:f>Sheet1!$A$2:$A$5</c:f>
              <c:strCache>
                <c:ptCount val="4"/>
                <c:pt idx="0">
                  <c:v>Programs</c:v>
                </c:pt>
                <c:pt idx="1">
                  <c:v>Cardholders</c:v>
                </c:pt>
                <c:pt idx="2">
                  <c:v>Accounts &amp; Cards</c:v>
                </c:pt>
                <c:pt idx="3">
                  <c:v>Value Loads</c:v>
                </c:pt>
              </c:strCache>
            </c:strRef>
          </c:cat>
          <c:val>
            <c:numRef>
              <c:f>Sheet1!$B$2:$B$5</c:f>
              <c:numCache>
                <c:formatCode>General</c:formatCode>
                <c:ptCount val="4"/>
                <c:pt idx="0">
                  <c:v>50</c:v>
                </c:pt>
                <c:pt idx="1">
                  <c:v>70</c:v>
                </c:pt>
                <c:pt idx="2">
                  <c:v>85</c:v>
                </c:pt>
                <c:pt idx="3">
                  <c:v>100</c:v>
                </c:pt>
              </c:numCache>
            </c:numRef>
          </c:val>
          <c:extLst>
            <c:ext xmlns:c16="http://schemas.microsoft.com/office/drawing/2014/chart" uri="{C3380CC4-5D6E-409C-BE32-E72D297353CC}">
              <c16:uniqueId val="{00000000-7EF0-4348-8DAD-010A62924F77}"/>
            </c:ext>
          </c:extLst>
        </c:ser>
        <c:dLbls>
          <c:showLegendKey val="0"/>
          <c:showVal val="0"/>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2330"/>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2181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three stats. Emphasise 0 hard failures — every skipped test has a documented reason. Then deliver the one-liner: I organised this around money movement and risk, treated Berkeley as a black box, and surfaced what testing alone could not resolve.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Land the middle one hardest — black-box is correct, not a limitation. Deliver the framing line as a single sentence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Inverted pyramid: widest bar = most effort. Point at the Exploration layer and say "these are diagnostic — they run locally and surface what the docs don't tell you." Then walk the right column design decisions.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Artillery deserves a special mention: never run load tests against a payments provider without explicit sign-off — it can trip fraud protections. That one sentence signals contractual awareness.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to justify the ranking. Value Loads highest because money moves. Pre-empt the "what's your coverage percentage" question — reframe it to requirement and risk coverage.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headline findings. Emphasise that none of these came from the docs — they came from systematic empirical probing. The binary search for field length is a good concrete example of methodical black-box technique.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bugs, all cited with source URLs. BUG-1 is the strongest because it is internally contradictory within Berkeley's own docs. BUG-3 is the most impactful for integrators. Present these as feedback contributions, not criticisms.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sign-off caveat verbatim — it signals contractual awareness to a VP. The incremental mode is worth explaining: it ramps request rate and detects exactly when 429s begin, giving Berkeley a concrete rate limit to confirm or deny.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these as "questions we'd answer in our first week if hired" rather than blockers. The GitHub issue numbers show you've already documented them formally. Emphasise that the code for all blocked tests is already written — it just needs the environment to cooperate.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columns = increasing access required. Be explicit that grey and white are recommendations to Berkeley's eng org. The most important white-box test: unit coverage on balance arithmetic — if that's wrong, nothing else matters.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Pact is the highest-value recommendation — it shifts defect detection left into Berkeley's own build. The "fix the 8 skipped tests" point shows confidence: the code is already done, the environment is the variable.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the four beats as a single fluid narrative under 90 seconds, then land the one-liner at the bottom. Then invite questions — be ready for: "What's your highest-priority test?" (money conservation), "What do you do when docs are wrong?" (test empirically, cite URLs), "Why 8 skips?" (documented reasons, 0 unexplained failures).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7.png"/><Relationship Id="rId7"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9.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8961120" y="-1920240"/>
            <a:ext cx="5486400" cy="5486400"/>
          </a:xfrm>
          <a:prstGeom prst="ellipse">
            <a:avLst/>
          </a:prstGeom>
          <a:solidFill>
            <a:srgbClr val="065A82">
              <a:alpha val="32000"/>
            </a:srgbClr>
          </a:solidFill>
          <a:ln/>
        </p:spPr>
      </p:sp>
      <p:sp>
        <p:nvSpPr>
          <p:cNvPr id="3" name="Shape 1"/>
          <p:cNvSpPr/>
          <p:nvPr/>
        </p:nvSpPr>
        <p:spPr>
          <a:xfrm>
            <a:off x="10149840" y="-822960"/>
            <a:ext cx="3291840" cy="3291840"/>
          </a:xfrm>
          <a:prstGeom prst="ellipse">
            <a:avLst/>
          </a:prstGeom>
          <a:solidFill>
            <a:srgbClr val="2E75B6">
              <a:alpha val="48000"/>
            </a:srgbClr>
          </a:solidFill>
          <a:ln/>
        </p:spPr>
      </p:sp>
      <p:sp>
        <p:nvSpPr>
          <p:cNvPr id="4" name="Text 2"/>
          <p:cNvSpPr/>
          <p:nvPr/>
        </p:nvSpPr>
        <p:spPr>
          <a:xfrm>
            <a:off x="731520" y="2103120"/>
            <a:ext cx="10058400" cy="411480"/>
          </a:xfrm>
          <a:prstGeom prst="rect">
            <a:avLst/>
          </a:prstGeom>
          <a:noFill/>
          <a:ln/>
        </p:spPr>
        <p:txBody>
          <a:bodyPr wrap="square" rtlCol="0" anchor="ctr"/>
          <a:lstStyle/>
          <a:p>
            <a:pPr marL="0" indent="0">
              <a:buNone/>
            </a:pPr>
            <a:r>
              <a:rPr lang="en-US" sz="1600" b="1" kern="0" spc="400" dirty="0">
                <a:solidFill>
                  <a:srgbClr val="F2A65A"/>
                </a:solidFill>
                <a:latin typeface="Calibri" pitchFamily="34" charset="0"/>
                <a:ea typeface="Calibri" pitchFamily="34" charset="-122"/>
                <a:cs typeface="Calibri" pitchFamily="34" charset="-120"/>
              </a:rPr>
              <a:t>QA TEST STRATEGY &amp; FINDINGS</a:t>
            </a:r>
            <a:endParaRPr lang="en-US" sz="1600" dirty="0"/>
          </a:p>
        </p:txBody>
      </p:sp>
      <p:sp>
        <p:nvSpPr>
          <p:cNvPr id="5" name="Text 3"/>
          <p:cNvSpPr/>
          <p:nvPr/>
        </p:nvSpPr>
        <p:spPr>
          <a:xfrm>
            <a:off x="731520" y="2606040"/>
            <a:ext cx="100584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Testing the Card Issuing APIs</a:t>
            </a:r>
            <a:endParaRPr lang="en-US" sz="4000" dirty="0"/>
          </a:p>
        </p:txBody>
      </p:sp>
      <p:sp>
        <p:nvSpPr>
          <p:cNvPr id="6" name="Text 4"/>
          <p:cNvSpPr/>
          <p:nvPr/>
        </p:nvSpPr>
        <p:spPr>
          <a:xfrm>
            <a:off x="749808" y="3566160"/>
            <a:ext cx="10058400" cy="411480"/>
          </a:xfrm>
          <a:prstGeom prst="rect">
            <a:avLst/>
          </a:prstGeom>
          <a:noFill/>
          <a:ln/>
        </p:spPr>
        <p:txBody>
          <a:bodyPr wrap="square" rtlCol="0" anchor="ctr"/>
          <a:lstStyle/>
          <a:p>
            <a:pPr marL="0" indent="0">
              <a:buNone/>
            </a:pPr>
            <a:r>
              <a:rPr lang="en-US" sz="1800" dirty="0">
                <a:solidFill>
                  <a:srgbClr val="CADCFC"/>
                </a:solidFill>
                <a:latin typeface="Calibri" pitchFamily="34" charset="0"/>
                <a:ea typeface="Calibri" pitchFamily="34" charset="-122"/>
                <a:cs typeface="Calibri" pitchFamily="34" charset="-120"/>
              </a:rPr>
              <a:t>Berkeley Payments · Staging Environment · Program 137</a:t>
            </a:r>
            <a:endParaRPr lang="en-US" sz="1800" dirty="0"/>
          </a:p>
        </p:txBody>
      </p:sp>
      <p:sp>
        <p:nvSpPr>
          <p:cNvPr id="7" name="Shape 5"/>
          <p:cNvSpPr/>
          <p:nvPr/>
        </p:nvSpPr>
        <p:spPr>
          <a:xfrm>
            <a:off x="749808" y="4279392"/>
            <a:ext cx="1504188" cy="420624"/>
          </a:xfrm>
          <a:prstGeom prst="roundRect">
            <a:avLst>
              <a:gd name="adj" fmla="val 50000"/>
            </a:avLst>
          </a:prstGeom>
          <a:solidFill>
            <a:srgbClr val="FFFFFF">
              <a:alpha val="12000"/>
            </a:srgbClr>
          </a:solidFill>
          <a:ln w="9525">
            <a:solidFill>
              <a:srgbClr val="CADCFC"/>
            </a:solidFill>
            <a:prstDash val="solid"/>
          </a:ln>
        </p:spPr>
      </p:sp>
      <p:sp>
        <p:nvSpPr>
          <p:cNvPr id="8" name="Text 6"/>
          <p:cNvSpPr/>
          <p:nvPr/>
        </p:nvSpPr>
        <p:spPr>
          <a:xfrm>
            <a:off x="749808" y="4279392"/>
            <a:ext cx="1504188" cy="420624"/>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Cardholders</a:t>
            </a:r>
            <a:endParaRPr lang="en-US" sz="1300" dirty="0"/>
          </a:p>
        </p:txBody>
      </p:sp>
      <p:sp>
        <p:nvSpPr>
          <p:cNvPr id="9" name="Shape 7"/>
          <p:cNvSpPr/>
          <p:nvPr/>
        </p:nvSpPr>
        <p:spPr>
          <a:xfrm>
            <a:off x="2455164" y="4279392"/>
            <a:ext cx="2029968" cy="420624"/>
          </a:xfrm>
          <a:prstGeom prst="roundRect">
            <a:avLst>
              <a:gd name="adj" fmla="val 50000"/>
            </a:avLst>
          </a:prstGeom>
          <a:solidFill>
            <a:srgbClr val="FFFFFF">
              <a:alpha val="12000"/>
            </a:srgbClr>
          </a:solidFill>
          <a:ln w="9525">
            <a:solidFill>
              <a:srgbClr val="CADCFC"/>
            </a:solidFill>
            <a:prstDash val="solid"/>
          </a:ln>
        </p:spPr>
      </p:sp>
      <p:sp>
        <p:nvSpPr>
          <p:cNvPr id="10" name="Text 8"/>
          <p:cNvSpPr/>
          <p:nvPr/>
        </p:nvSpPr>
        <p:spPr>
          <a:xfrm>
            <a:off x="2455164" y="4279392"/>
            <a:ext cx="2029968" cy="420624"/>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Accounts &amp; Cards</a:t>
            </a:r>
            <a:endParaRPr lang="en-US" sz="1300" dirty="0"/>
          </a:p>
        </p:txBody>
      </p:sp>
      <p:sp>
        <p:nvSpPr>
          <p:cNvPr id="11" name="Shape 9"/>
          <p:cNvSpPr/>
          <p:nvPr/>
        </p:nvSpPr>
        <p:spPr>
          <a:xfrm>
            <a:off x="4686300" y="4279392"/>
            <a:ext cx="1504188" cy="420624"/>
          </a:xfrm>
          <a:prstGeom prst="roundRect">
            <a:avLst>
              <a:gd name="adj" fmla="val 50000"/>
            </a:avLst>
          </a:prstGeom>
          <a:solidFill>
            <a:srgbClr val="FFFFFF">
              <a:alpha val="12000"/>
            </a:srgbClr>
          </a:solidFill>
          <a:ln w="9525">
            <a:solidFill>
              <a:srgbClr val="CADCFC"/>
            </a:solidFill>
            <a:prstDash val="solid"/>
          </a:ln>
        </p:spPr>
      </p:sp>
      <p:sp>
        <p:nvSpPr>
          <p:cNvPr id="12" name="Text 10"/>
          <p:cNvSpPr/>
          <p:nvPr/>
        </p:nvSpPr>
        <p:spPr>
          <a:xfrm>
            <a:off x="4686300" y="4279392"/>
            <a:ext cx="1504188" cy="420624"/>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Value Loads</a:t>
            </a:r>
            <a:endParaRPr lang="en-US" sz="1300" dirty="0"/>
          </a:p>
        </p:txBody>
      </p:sp>
      <p:sp>
        <p:nvSpPr>
          <p:cNvPr id="13" name="Shape 11"/>
          <p:cNvSpPr/>
          <p:nvPr/>
        </p:nvSpPr>
        <p:spPr>
          <a:xfrm>
            <a:off x="6391656" y="4279392"/>
            <a:ext cx="1188720" cy="420624"/>
          </a:xfrm>
          <a:prstGeom prst="roundRect">
            <a:avLst>
              <a:gd name="adj" fmla="val 50000"/>
            </a:avLst>
          </a:prstGeom>
          <a:solidFill>
            <a:srgbClr val="FFFFFF">
              <a:alpha val="12000"/>
            </a:srgbClr>
          </a:solidFill>
          <a:ln w="9525">
            <a:solidFill>
              <a:srgbClr val="CADCFC"/>
            </a:solidFill>
            <a:prstDash val="solid"/>
          </a:ln>
        </p:spPr>
      </p:sp>
      <p:sp>
        <p:nvSpPr>
          <p:cNvPr id="14" name="Text 12"/>
          <p:cNvSpPr/>
          <p:nvPr/>
        </p:nvSpPr>
        <p:spPr>
          <a:xfrm>
            <a:off x="6391656" y="4279392"/>
            <a:ext cx="1188720" cy="420624"/>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Programs</a:t>
            </a:r>
            <a:endParaRPr lang="en-US" sz="1300" dirty="0"/>
          </a:p>
        </p:txBody>
      </p:sp>
      <p:sp>
        <p:nvSpPr>
          <p:cNvPr id="15" name="Text 13"/>
          <p:cNvSpPr/>
          <p:nvPr/>
        </p:nvSpPr>
        <p:spPr>
          <a:xfrm>
            <a:off x="749808" y="5120640"/>
            <a:ext cx="2194560" cy="640080"/>
          </a:xfrm>
          <a:prstGeom prst="rect">
            <a:avLst/>
          </a:prstGeom>
          <a:noFill/>
          <a:ln/>
        </p:spPr>
        <p:txBody>
          <a:bodyPr wrap="square" lIns="0" tIns="0" rIns="0" bIns="0" rtlCol="0" anchor="ctr"/>
          <a:lstStyle/>
          <a:p>
            <a:pPr marL="0" indent="0" algn="ctr">
              <a:buNone/>
            </a:pPr>
            <a:r>
              <a:rPr lang="en-US" sz="4400" b="1" dirty="0">
                <a:solidFill>
                  <a:srgbClr val="F2A65A"/>
                </a:solidFill>
                <a:latin typeface="Cambria" pitchFamily="34" charset="0"/>
                <a:ea typeface="Cambria" pitchFamily="34" charset="-122"/>
                <a:cs typeface="Cambria" pitchFamily="34" charset="-120"/>
              </a:rPr>
              <a:t>98</a:t>
            </a:r>
            <a:endParaRPr lang="en-US" sz="4400" dirty="0"/>
          </a:p>
        </p:txBody>
      </p:sp>
      <p:sp>
        <p:nvSpPr>
          <p:cNvPr id="16" name="Text 14"/>
          <p:cNvSpPr/>
          <p:nvPr/>
        </p:nvSpPr>
        <p:spPr>
          <a:xfrm>
            <a:off x="749808" y="5742432"/>
            <a:ext cx="2194560" cy="320040"/>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Tests written</a:t>
            </a:r>
            <a:endParaRPr lang="en-US" sz="1300" dirty="0"/>
          </a:p>
        </p:txBody>
      </p:sp>
      <p:sp>
        <p:nvSpPr>
          <p:cNvPr id="17" name="Text 15"/>
          <p:cNvSpPr/>
          <p:nvPr/>
        </p:nvSpPr>
        <p:spPr>
          <a:xfrm>
            <a:off x="3172968" y="5120640"/>
            <a:ext cx="2194560" cy="640080"/>
          </a:xfrm>
          <a:prstGeom prst="rect">
            <a:avLst/>
          </a:prstGeom>
          <a:noFill/>
          <a:ln/>
        </p:spPr>
        <p:txBody>
          <a:bodyPr wrap="square" lIns="0" tIns="0" rIns="0" bIns="0" rtlCol="0" anchor="ctr"/>
          <a:lstStyle/>
          <a:p>
            <a:pPr marL="0" indent="0" algn="ctr">
              <a:buNone/>
            </a:pPr>
            <a:r>
              <a:rPr lang="en-US" sz="4400" b="1" dirty="0">
                <a:solidFill>
                  <a:srgbClr val="F2A65A"/>
                </a:solidFill>
                <a:latin typeface="Cambria" pitchFamily="34" charset="0"/>
                <a:ea typeface="Cambria" pitchFamily="34" charset="-122"/>
                <a:cs typeface="Cambria" pitchFamily="34" charset="-120"/>
              </a:rPr>
              <a:t>90</a:t>
            </a:r>
            <a:endParaRPr lang="en-US" sz="4400" dirty="0"/>
          </a:p>
        </p:txBody>
      </p:sp>
      <p:sp>
        <p:nvSpPr>
          <p:cNvPr id="18" name="Text 16"/>
          <p:cNvSpPr/>
          <p:nvPr/>
        </p:nvSpPr>
        <p:spPr>
          <a:xfrm>
            <a:off x="3172968" y="5742432"/>
            <a:ext cx="2194560" cy="320040"/>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Passing</a:t>
            </a:r>
            <a:endParaRPr lang="en-US" sz="1300" dirty="0"/>
          </a:p>
        </p:txBody>
      </p:sp>
      <p:sp>
        <p:nvSpPr>
          <p:cNvPr id="19" name="Text 17"/>
          <p:cNvSpPr/>
          <p:nvPr/>
        </p:nvSpPr>
        <p:spPr>
          <a:xfrm>
            <a:off x="5596128" y="5120640"/>
            <a:ext cx="2194560" cy="640080"/>
          </a:xfrm>
          <a:prstGeom prst="rect">
            <a:avLst/>
          </a:prstGeom>
          <a:noFill/>
          <a:ln/>
        </p:spPr>
        <p:txBody>
          <a:bodyPr wrap="square" lIns="0" tIns="0" rIns="0" bIns="0" rtlCol="0" anchor="ctr"/>
          <a:lstStyle/>
          <a:p>
            <a:pPr marL="0" indent="0" algn="ctr">
              <a:buNone/>
            </a:pPr>
            <a:r>
              <a:rPr lang="en-US" sz="4400" b="1" dirty="0">
                <a:solidFill>
                  <a:srgbClr val="F2A65A"/>
                </a:solidFill>
                <a:latin typeface="Cambria" pitchFamily="34" charset="0"/>
                <a:ea typeface="Cambria" pitchFamily="34" charset="-122"/>
                <a:cs typeface="Cambria" pitchFamily="34" charset="-120"/>
              </a:rPr>
              <a:t>8</a:t>
            </a:r>
            <a:endParaRPr lang="en-US" sz="4400" dirty="0"/>
          </a:p>
        </p:txBody>
      </p:sp>
      <p:sp>
        <p:nvSpPr>
          <p:cNvPr id="20" name="Text 18"/>
          <p:cNvSpPr/>
          <p:nvPr/>
        </p:nvSpPr>
        <p:spPr>
          <a:xfrm>
            <a:off x="5596128" y="5742432"/>
            <a:ext cx="2194560" cy="320040"/>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Skipped*</a:t>
            </a:r>
            <a:endParaRPr lang="en-US" sz="1300" dirty="0"/>
          </a:p>
        </p:txBody>
      </p:sp>
      <p:sp>
        <p:nvSpPr>
          <p:cNvPr id="21" name="Text 19"/>
          <p:cNvSpPr/>
          <p:nvPr/>
        </p:nvSpPr>
        <p:spPr>
          <a:xfrm>
            <a:off x="8019288" y="5120640"/>
            <a:ext cx="2194560" cy="640080"/>
          </a:xfrm>
          <a:prstGeom prst="rect">
            <a:avLst/>
          </a:prstGeom>
          <a:noFill/>
          <a:ln/>
        </p:spPr>
        <p:txBody>
          <a:bodyPr wrap="square" lIns="0" tIns="0" rIns="0" bIns="0" rtlCol="0" anchor="ctr"/>
          <a:lstStyle/>
          <a:p>
            <a:pPr marL="0" indent="0" algn="ctr">
              <a:buNone/>
            </a:pPr>
            <a:r>
              <a:rPr lang="en-US" sz="4400" b="1" dirty="0">
                <a:solidFill>
                  <a:srgbClr val="F2A65A"/>
                </a:solidFill>
                <a:latin typeface="Cambria" pitchFamily="34" charset="0"/>
                <a:ea typeface="Cambria" pitchFamily="34" charset="-122"/>
                <a:cs typeface="Cambria" pitchFamily="34" charset="-120"/>
              </a:rPr>
              <a:t>0</a:t>
            </a:r>
            <a:endParaRPr lang="en-US" sz="4400" dirty="0"/>
          </a:p>
        </p:txBody>
      </p:sp>
      <p:sp>
        <p:nvSpPr>
          <p:cNvPr id="22" name="Text 20"/>
          <p:cNvSpPr/>
          <p:nvPr/>
        </p:nvSpPr>
        <p:spPr>
          <a:xfrm>
            <a:off x="8019288" y="5742432"/>
            <a:ext cx="2194560" cy="320040"/>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Failures</a:t>
            </a:r>
            <a:endParaRPr lang="en-US" sz="1300" dirty="0"/>
          </a:p>
        </p:txBody>
      </p:sp>
      <p:sp>
        <p:nvSpPr>
          <p:cNvPr id="23" name="Text 21"/>
          <p:cNvSpPr/>
          <p:nvPr/>
        </p:nvSpPr>
        <p:spPr>
          <a:xfrm>
            <a:off x="749808" y="6199632"/>
            <a:ext cx="10515600" cy="320040"/>
          </a:xfrm>
          <a:prstGeom prst="rect">
            <a:avLst/>
          </a:prstGeom>
          <a:noFill/>
          <a:ln/>
        </p:spPr>
        <p:txBody>
          <a:bodyPr wrap="square" rtlCol="0" anchor="ctr"/>
          <a:lstStyle/>
          <a:p>
            <a:pPr marL="0" indent="0">
              <a:buNone/>
            </a:pPr>
            <a:r>
              <a:rPr lang="en-US" sz="1100" i="1" dirty="0">
                <a:solidFill>
                  <a:srgbClr val="6B7A8D"/>
                </a:solidFill>
                <a:latin typeface="Calibri" pitchFamily="34" charset="0"/>
                <a:ea typeface="Calibri" pitchFamily="34" charset="-122"/>
                <a:cs typeface="Calibri" pitchFamily="34" charset="-120"/>
              </a:rPr>
              <a:t>* Skipped = staging constraints or Berkeley confirmation needed. Zero unexplained failures.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PHILOSOPHY</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Test the business flows, not just the endpoints</a:t>
            </a:r>
            <a:endParaRPr lang="en-US" sz="3000" dirty="0"/>
          </a:p>
        </p:txBody>
      </p:sp>
      <p:sp>
        <p:nvSpPr>
          <p:cNvPr id="4" name="Shape 2"/>
          <p:cNvSpPr/>
          <p:nvPr/>
        </p:nvSpPr>
        <p:spPr>
          <a:xfrm>
            <a:off x="548640" y="1755648"/>
            <a:ext cx="3520440" cy="2880360"/>
          </a:xfrm>
          <a:prstGeom prst="roundRect">
            <a:avLst>
              <a:gd name="adj" fmla="val 2540"/>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5" name="Shape 3"/>
          <p:cNvSpPr/>
          <p:nvPr/>
        </p:nvSpPr>
        <p:spPr>
          <a:xfrm>
            <a:off x="841248" y="2048256"/>
            <a:ext cx="822960" cy="822960"/>
          </a:xfrm>
          <a:prstGeom prst="ellipse">
            <a:avLst/>
          </a:prstGeom>
          <a:solidFill>
            <a:srgbClr val="1F3864"/>
          </a:solidFill>
          <a:ln/>
          <a:effectLst>
            <a:outerShdw blurRad="76200" dist="38100" dir="54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55218" y="2262226"/>
            <a:ext cx="395021" cy="395021"/>
          </a:xfrm>
          <a:prstGeom prst="rect">
            <a:avLst/>
          </a:prstGeom>
        </p:spPr>
      </p:pic>
      <p:sp>
        <p:nvSpPr>
          <p:cNvPr id="7" name="Text 4"/>
          <p:cNvSpPr/>
          <p:nvPr/>
        </p:nvSpPr>
        <p:spPr>
          <a:xfrm>
            <a:off x="1783080" y="2103120"/>
            <a:ext cx="2148840" cy="603504"/>
          </a:xfrm>
          <a:prstGeom prst="rect">
            <a:avLst/>
          </a:prstGeom>
          <a:noFill/>
          <a:ln/>
        </p:spPr>
        <p:txBody>
          <a:bodyPr wrap="square" lIns="0" tIns="0" rIns="0" bIns="0" rtlCol="0" anchor="ctr"/>
          <a:lstStyle/>
          <a:p>
            <a:pPr marL="0" indent="0">
              <a:buNone/>
            </a:pPr>
            <a:r>
              <a:rPr lang="en-US" sz="1800" b="1" dirty="0">
                <a:solidFill>
                  <a:srgbClr val="1A2330"/>
                </a:solidFill>
                <a:latin typeface="Cambria" pitchFamily="34" charset="0"/>
                <a:ea typeface="Cambria" pitchFamily="34" charset="-122"/>
                <a:cs typeface="Cambria" pitchFamily="34" charset="-120"/>
              </a:rPr>
              <a:t>Risk-based depth</a:t>
            </a:r>
            <a:endParaRPr lang="en-US" sz="1800" dirty="0"/>
          </a:p>
        </p:txBody>
      </p:sp>
      <p:sp>
        <p:nvSpPr>
          <p:cNvPr id="8" name="Text 5"/>
          <p:cNvSpPr/>
          <p:nvPr/>
        </p:nvSpPr>
        <p:spPr>
          <a:xfrm>
            <a:off x="841248" y="3017520"/>
            <a:ext cx="2990088" cy="1508760"/>
          </a:xfrm>
          <a:prstGeom prst="rect">
            <a:avLst/>
          </a:prstGeom>
          <a:noFill/>
          <a:ln/>
        </p:spPr>
        <p:txBody>
          <a:bodyPr wrap="square" lIns="0" tIns="0" rIns="0" bIns="0" rtlCol="0" anchor="ctr"/>
          <a:lstStyle/>
          <a:p>
            <a:pPr marL="0" indent="0">
              <a:lnSpc>
                <a:spcPct val="105000"/>
              </a:lnSpc>
              <a:buNone/>
            </a:pPr>
            <a:r>
              <a:rPr lang="en-US" sz="1350" dirty="0">
                <a:solidFill>
                  <a:srgbClr val="6B7A8D"/>
                </a:solidFill>
                <a:latin typeface="Calibri" pitchFamily="34" charset="0"/>
                <a:ea typeface="Calibri" pitchFamily="34" charset="-122"/>
                <a:cs typeface="Calibri" pitchFamily="34" charset="-120"/>
              </a:rPr>
              <a:t>Value Loads deepest — a defect there moves real money. Pagination offsets are cosmetic.</a:t>
            </a:r>
            <a:endParaRPr lang="en-US" sz="1350" dirty="0"/>
          </a:p>
        </p:txBody>
      </p:sp>
      <p:sp>
        <p:nvSpPr>
          <p:cNvPr id="9" name="Shape 6"/>
          <p:cNvSpPr/>
          <p:nvPr/>
        </p:nvSpPr>
        <p:spPr>
          <a:xfrm>
            <a:off x="4343400" y="1755648"/>
            <a:ext cx="3520440" cy="2880360"/>
          </a:xfrm>
          <a:prstGeom prst="roundRect">
            <a:avLst>
              <a:gd name="adj" fmla="val 2540"/>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10" name="Shape 7"/>
          <p:cNvSpPr/>
          <p:nvPr/>
        </p:nvSpPr>
        <p:spPr>
          <a:xfrm>
            <a:off x="4636008" y="2048256"/>
            <a:ext cx="822960" cy="822960"/>
          </a:xfrm>
          <a:prstGeom prst="ellipse">
            <a:avLst/>
          </a:prstGeom>
          <a:solidFill>
            <a:srgbClr val="065A82"/>
          </a:solidFill>
          <a:ln/>
          <a:effectLst>
            <a:outerShdw blurRad="76200" dist="38100" dir="5400000" algn="bl" rotWithShape="0">
              <a:srgbClr val="000000">
                <a:alpha val="12000"/>
              </a:srgbClr>
            </a:outerShdw>
          </a:effectLst>
        </p:spPr>
      </p:sp>
      <p:pic>
        <p:nvPicPr>
          <p:cNvPr id="11" name="Image 1" descr="preencoded.png"/>
          <p:cNvPicPr>
            <a:picLocks noChangeAspect="1"/>
          </p:cNvPicPr>
          <p:nvPr/>
        </p:nvPicPr>
        <p:blipFill>
          <a:blip r:embed="rId4"/>
          <a:stretch>
            <a:fillRect/>
          </a:stretch>
        </p:blipFill>
        <p:spPr>
          <a:xfrm>
            <a:off x="4849978" y="2262226"/>
            <a:ext cx="395021" cy="395021"/>
          </a:xfrm>
          <a:prstGeom prst="rect">
            <a:avLst/>
          </a:prstGeom>
        </p:spPr>
      </p:pic>
      <p:sp>
        <p:nvSpPr>
          <p:cNvPr id="12" name="Text 8"/>
          <p:cNvSpPr/>
          <p:nvPr/>
        </p:nvSpPr>
        <p:spPr>
          <a:xfrm>
            <a:off x="5577840" y="2103120"/>
            <a:ext cx="2148840" cy="603504"/>
          </a:xfrm>
          <a:prstGeom prst="rect">
            <a:avLst/>
          </a:prstGeom>
          <a:noFill/>
          <a:ln/>
        </p:spPr>
        <p:txBody>
          <a:bodyPr wrap="square" lIns="0" tIns="0" rIns="0" bIns="0" rtlCol="0" anchor="ctr"/>
          <a:lstStyle/>
          <a:p>
            <a:pPr marL="0" indent="0">
              <a:buNone/>
            </a:pPr>
            <a:r>
              <a:rPr lang="en-US" sz="1800" b="1" dirty="0">
                <a:solidFill>
                  <a:srgbClr val="1A2330"/>
                </a:solidFill>
                <a:latin typeface="Cambria" pitchFamily="34" charset="0"/>
                <a:ea typeface="Cambria" pitchFamily="34" charset="-122"/>
                <a:cs typeface="Cambria" pitchFamily="34" charset="-120"/>
              </a:rPr>
              <a:t>Black-box first</a:t>
            </a:r>
            <a:endParaRPr lang="en-US" sz="1800" dirty="0"/>
          </a:p>
        </p:txBody>
      </p:sp>
      <p:sp>
        <p:nvSpPr>
          <p:cNvPr id="13" name="Text 9"/>
          <p:cNvSpPr/>
          <p:nvPr/>
        </p:nvSpPr>
        <p:spPr>
          <a:xfrm>
            <a:off x="4636008" y="3017520"/>
            <a:ext cx="2990088" cy="1508760"/>
          </a:xfrm>
          <a:prstGeom prst="rect">
            <a:avLst/>
          </a:prstGeom>
          <a:noFill/>
          <a:ln/>
        </p:spPr>
        <p:txBody>
          <a:bodyPr wrap="square" lIns="0" tIns="0" rIns="0" bIns="0" rtlCol="0" anchor="ctr"/>
          <a:lstStyle/>
          <a:p>
            <a:pPr marL="0" indent="0">
              <a:lnSpc>
                <a:spcPct val="105000"/>
              </a:lnSpc>
              <a:buNone/>
            </a:pPr>
            <a:r>
              <a:rPr lang="en-US" sz="1350" dirty="0">
                <a:solidFill>
                  <a:srgbClr val="6B7A8D"/>
                </a:solidFill>
                <a:latin typeface="Calibri" pitchFamily="34" charset="0"/>
                <a:ea typeface="Calibri" pitchFamily="34" charset="-122"/>
                <a:cs typeface="Calibri" pitchFamily="34" charset="-120"/>
              </a:rPr>
              <a:t>We own the integration layer, not the source. That IS the correct posture for a third-party API.</a:t>
            </a:r>
            <a:endParaRPr lang="en-US" sz="1350" dirty="0"/>
          </a:p>
        </p:txBody>
      </p:sp>
      <p:sp>
        <p:nvSpPr>
          <p:cNvPr id="14" name="Shape 10"/>
          <p:cNvSpPr/>
          <p:nvPr/>
        </p:nvSpPr>
        <p:spPr>
          <a:xfrm>
            <a:off x="8138160" y="1755648"/>
            <a:ext cx="3520440" cy="2880360"/>
          </a:xfrm>
          <a:prstGeom prst="roundRect">
            <a:avLst>
              <a:gd name="adj" fmla="val 2540"/>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15" name="Shape 11"/>
          <p:cNvSpPr/>
          <p:nvPr/>
        </p:nvSpPr>
        <p:spPr>
          <a:xfrm>
            <a:off x="8430768" y="2048256"/>
            <a:ext cx="822960" cy="822960"/>
          </a:xfrm>
          <a:prstGeom prst="ellipse">
            <a:avLst/>
          </a:prstGeom>
          <a:solidFill>
            <a:srgbClr val="F2A65A"/>
          </a:solidFill>
          <a:ln/>
          <a:effectLst>
            <a:outerShdw blurRad="76200" dist="38100" dir="5400000" algn="bl" rotWithShape="0">
              <a:srgbClr val="000000">
                <a:alpha val="12000"/>
              </a:srgbClr>
            </a:outerShdw>
          </a:effectLst>
        </p:spPr>
      </p:sp>
      <p:pic>
        <p:nvPicPr>
          <p:cNvPr id="16" name="Image 2" descr="preencoded.png"/>
          <p:cNvPicPr>
            <a:picLocks noChangeAspect="1"/>
          </p:cNvPicPr>
          <p:nvPr/>
        </p:nvPicPr>
        <p:blipFill>
          <a:blip r:embed="rId5"/>
          <a:stretch>
            <a:fillRect/>
          </a:stretch>
        </p:blipFill>
        <p:spPr>
          <a:xfrm>
            <a:off x="8644738" y="2262226"/>
            <a:ext cx="395021" cy="395021"/>
          </a:xfrm>
          <a:prstGeom prst="rect">
            <a:avLst/>
          </a:prstGeom>
        </p:spPr>
      </p:pic>
      <p:sp>
        <p:nvSpPr>
          <p:cNvPr id="17" name="Text 12"/>
          <p:cNvSpPr/>
          <p:nvPr/>
        </p:nvSpPr>
        <p:spPr>
          <a:xfrm>
            <a:off x="9372600" y="2103120"/>
            <a:ext cx="2148840" cy="603504"/>
          </a:xfrm>
          <a:prstGeom prst="rect">
            <a:avLst/>
          </a:prstGeom>
          <a:noFill/>
          <a:ln/>
        </p:spPr>
        <p:txBody>
          <a:bodyPr wrap="square" lIns="0" tIns="0" rIns="0" bIns="0" rtlCol="0" anchor="ctr"/>
          <a:lstStyle/>
          <a:p>
            <a:pPr marL="0" indent="0">
              <a:buNone/>
            </a:pPr>
            <a:r>
              <a:rPr lang="en-US" sz="1800" b="1" dirty="0">
                <a:solidFill>
                  <a:srgbClr val="1A2330"/>
                </a:solidFill>
                <a:latin typeface="Cambria" pitchFamily="34" charset="0"/>
                <a:ea typeface="Cambria" pitchFamily="34" charset="-122"/>
                <a:cs typeface="Cambria" pitchFamily="34" charset="-120"/>
              </a:rPr>
              <a:t>Empirical over assumed</a:t>
            </a:r>
            <a:endParaRPr lang="en-US" sz="1800" dirty="0"/>
          </a:p>
        </p:txBody>
      </p:sp>
      <p:sp>
        <p:nvSpPr>
          <p:cNvPr id="18" name="Text 13"/>
          <p:cNvSpPr/>
          <p:nvPr/>
        </p:nvSpPr>
        <p:spPr>
          <a:xfrm>
            <a:off x="8430768" y="3017520"/>
            <a:ext cx="2990088" cy="1508760"/>
          </a:xfrm>
          <a:prstGeom prst="rect">
            <a:avLst/>
          </a:prstGeom>
          <a:noFill/>
          <a:ln/>
        </p:spPr>
        <p:txBody>
          <a:bodyPr wrap="square" lIns="0" tIns="0" rIns="0" bIns="0" rtlCol="0" anchor="ctr"/>
          <a:lstStyle/>
          <a:p>
            <a:pPr marL="0" indent="0">
              <a:lnSpc>
                <a:spcPct val="105000"/>
              </a:lnSpc>
              <a:buNone/>
            </a:pPr>
            <a:r>
              <a:rPr lang="en-US" sz="1350" dirty="0">
                <a:solidFill>
                  <a:srgbClr val="6B7A8D"/>
                </a:solidFill>
                <a:latin typeface="Calibri" pitchFamily="34" charset="0"/>
                <a:ea typeface="Calibri" pitchFamily="34" charset="-122"/>
                <a:cs typeface="Calibri" pitchFamily="34" charset="-120"/>
              </a:rPr>
              <a:t>Where docs are silent or contradictory, we probe and document. 17 assumptions tested; 7 resolved.</a:t>
            </a:r>
            <a:endParaRPr lang="en-US" sz="1350" dirty="0"/>
          </a:p>
        </p:txBody>
      </p:sp>
      <p:sp>
        <p:nvSpPr>
          <p:cNvPr id="19" name="Text 14"/>
          <p:cNvSpPr/>
          <p:nvPr/>
        </p:nvSpPr>
        <p:spPr>
          <a:xfrm>
            <a:off x="548640" y="4892040"/>
            <a:ext cx="11064240" cy="960120"/>
          </a:xfrm>
          <a:prstGeom prst="rect">
            <a:avLst/>
          </a:prstGeom>
          <a:solidFill>
            <a:srgbClr val="FFF6EC"/>
          </a:solidFill>
          <a:ln w="12700">
            <a:solidFill>
              <a:srgbClr val="F2A65A"/>
            </a:solidFill>
          </a:ln>
        </p:spPr>
        <p:txBody>
          <a:bodyPr wrap="square" lIns="127000" tIns="127000" rIns="127000" bIns="127000" rtlCol="0" anchor="ctr"/>
          <a:lstStyle/>
          <a:p>
            <a:pPr marL="0" indent="0">
              <a:buNone/>
            </a:pPr>
            <a:r>
              <a:rPr lang="en-US" sz="1350" b="1" dirty="0">
                <a:solidFill>
                  <a:srgbClr val="1F3864"/>
                </a:solidFill>
                <a:latin typeface="Calibri" pitchFamily="34" charset="0"/>
                <a:ea typeface="Calibri" pitchFamily="34" charset="-122"/>
                <a:cs typeface="Calibri" pitchFamily="34" charset="-120"/>
              </a:rPr>
              <a:t>Framing line:  </a:t>
            </a:r>
            <a:r>
              <a:rPr lang="en-US" sz="1350" i="1" dirty="0">
                <a:solidFill>
                  <a:srgbClr val="1A2330"/>
                </a:solidFill>
                <a:latin typeface="Calibri" pitchFamily="34" charset="0"/>
                <a:ea typeface="Calibri" pitchFamily="34" charset="-122"/>
                <a:cs typeface="Calibri" pitchFamily="34" charset="-120"/>
              </a:rPr>
              <a:t>"I organised the suite around money-movement lifecycles, prioritised by financial risk, and treated Berkeley as a black box — then layered empirical exploration on top to surface what testing alone could not resolve."</a:t>
            </a:r>
            <a:endParaRPr lang="en-US" sz="1350" dirty="0"/>
          </a:p>
        </p:txBody>
      </p:sp>
      <p:sp>
        <p:nvSpPr>
          <p:cNvPr id="20" name="Text 15"/>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02</a:t>
            </a:r>
            <a:endParaRPr lang="en-US" sz="1000" dirty="0"/>
          </a:p>
        </p:txBody>
      </p:sp>
      <p:sp>
        <p:nvSpPr>
          <p:cNvPr id="21" name="Text 16"/>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Four layers — the pyramid is inverted for an API consumer</a:t>
            </a:r>
            <a:endParaRPr lang="en-US" sz="3000" dirty="0"/>
          </a:p>
        </p:txBody>
      </p:sp>
      <p:sp>
        <p:nvSpPr>
          <p:cNvPr id="4" name="Shape 2"/>
          <p:cNvSpPr/>
          <p:nvPr/>
        </p:nvSpPr>
        <p:spPr>
          <a:xfrm>
            <a:off x="548640" y="1737360"/>
            <a:ext cx="4114800" cy="713232"/>
          </a:xfrm>
          <a:prstGeom prst="roundRect">
            <a:avLst>
              <a:gd name="adj" fmla="val 6410"/>
            </a:avLst>
          </a:prstGeom>
          <a:solidFill>
            <a:srgbClr val="1F3864"/>
          </a:solidFill>
          <a:ln/>
        </p:spPr>
      </p:sp>
      <p:sp>
        <p:nvSpPr>
          <p:cNvPr id="5" name="Text 3"/>
          <p:cNvSpPr/>
          <p:nvPr/>
        </p:nvSpPr>
        <p:spPr>
          <a:xfrm>
            <a:off x="685800" y="1773936"/>
            <a:ext cx="3931920" cy="38404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Core CRUD (63 tests)</a:t>
            </a:r>
            <a:endParaRPr lang="en-US" sz="1300" dirty="0"/>
          </a:p>
        </p:txBody>
      </p:sp>
      <p:sp>
        <p:nvSpPr>
          <p:cNvPr id="6" name="Text 4"/>
          <p:cNvSpPr/>
          <p:nvPr/>
        </p:nvSpPr>
        <p:spPr>
          <a:xfrm>
            <a:off x="685800" y="2121408"/>
            <a:ext cx="4114800" cy="274320"/>
          </a:xfrm>
          <a:prstGeom prst="rect">
            <a:avLst/>
          </a:prstGeom>
          <a:noFill/>
          <a:ln/>
        </p:spPr>
        <p:txBody>
          <a:bodyPr wrap="square" lIns="0" tIns="0" rIns="0" bIns="0"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100% pass</a:t>
            </a:r>
            <a:endParaRPr lang="en-US" sz="1100" dirty="0"/>
          </a:p>
        </p:txBody>
      </p:sp>
      <p:sp>
        <p:nvSpPr>
          <p:cNvPr id="7" name="Shape 5"/>
          <p:cNvSpPr/>
          <p:nvPr/>
        </p:nvSpPr>
        <p:spPr>
          <a:xfrm>
            <a:off x="548640" y="2578608"/>
            <a:ext cx="3520440" cy="713232"/>
          </a:xfrm>
          <a:prstGeom prst="roundRect">
            <a:avLst>
              <a:gd name="adj" fmla="val 6410"/>
            </a:avLst>
          </a:prstGeom>
          <a:solidFill>
            <a:srgbClr val="065A82"/>
          </a:solidFill>
          <a:ln/>
        </p:spPr>
      </p:sp>
      <p:sp>
        <p:nvSpPr>
          <p:cNvPr id="8" name="Text 6"/>
          <p:cNvSpPr/>
          <p:nvPr/>
        </p:nvSpPr>
        <p:spPr>
          <a:xfrm>
            <a:off x="685800" y="2615184"/>
            <a:ext cx="3337560" cy="38404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Integration (22 tests)</a:t>
            </a:r>
            <a:endParaRPr lang="en-US" sz="1300" dirty="0"/>
          </a:p>
        </p:txBody>
      </p:sp>
      <p:sp>
        <p:nvSpPr>
          <p:cNvPr id="9" name="Text 7"/>
          <p:cNvSpPr/>
          <p:nvPr/>
        </p:nvSpPr>
        <p:spPr>
          <a:xfrm>
            <a:off x="685800" y="2962656"/>
            <a:ext cx="4114800" cy="274320"/>
          </a:xfrm>
          <a:prstGeom prst="rect">
            <a:avLst/>
          </a:prstGeom>
          <a:noFill/>
          <a:ln/>
        </p:spPr>
        <p:txBody>
          <a:bodyPr wrap="square" lIns="0" tIns="0" rIns="0" bIns="0"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73% pass (6 skipped)</a:t>
            </a:r>
            <a:endParaRPr lang="en-US" sz="1100" dirty="0"/>
          </a:p>
        </p:txBody>
      </p:sp>
      <p:sp>
        <p:nvSpPr>
          <p:cNvPr id="10" name="Shape 8"/>
          <p:cNvSpPr/>
          <p:nvPr/>
        </p:nvSpPr>
        <p:spPr>
          <a:xfrm>
            <a:off x="548640" y="3419856"/>
            <a:ext cx="2834640" cy="713232"/>
          </a:xfrm>
          <a:prstGeom prst="roundRect">
            <a:avLst>
              <a:gd name="adj" fmla="val 6410"/>
            </a:avLst>
          </a:prstGeom>
          <a:solidFill>
            <a:srgbClr val="3E8FA8"/>
          </a:solidFill>
          <a:ln/>
        </p:spPr>
      </p:sp>
      <p:sp>
        <p:nvSpPr>
          <p:cNvPr id="11" name="Text 9"/>
          <p:cNvSpPr/>
          <p:nvPr/>
        </p:nvSpPr>
        <p:spPr>
          <a:xfrm>
            <a:off x="685800" y="3456432"/>
            <a:ext cx="2651760" cy="38404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Verification (13 tests)</a:t>
            </a:r>
            <a:endParaRPr lang="en-US" sz="1300" dirty="0"/>
          </a:p>
        </p:txBody>
      </p:sp>
      <p:sp>
        <p:nvSpPr>
          <p:cNvPr id="12" name="Text 10"/>
          <p:cNvSpPr/>
          <p:nvPr/>
        </p:nvSpPr>
        <p:spPr>
          <a:xfrm>
            <a:off x="685800" y="3803904"/>
            <a:ext cx="4114800" cy="274320"/>
          </a:xfrm>
          <a:prstGeom prst="rect">
            <a:avLst/>
          </a:prstGeom>
          <a:noFill/>
          <a:ln/>
        </p:spPr>
        <p:txBody>
          <a:bodyPr wrap="square" lIns="0" tIns="0" rIns="0" bIns="0" rtlCol="0" anchor="ctr"/>
          <a:lstStyle/>
          <a:p>
            <a:pPr marL="0" indent="0">
              <a:buNone/>
            </a:pPr>
            <a:r>
              <a:rPr lang="en-US" sz="1100" i="1" dirty="0">
                <a:solidFill>
                  <a:srgbClr val="FFFFFF"/>
                </a:solidFill>
                <a:latin typeface="Calibri" pitchFamily="34" charset="0"/>
                <a:ea typeface="Calibri" pitchFamily="34" charset="-122"/>
                <a:cs typeface="Calibri" pitchFamily="34" charset="-120"/>
              </a:rPr>
              <a:t>85% pass (2 skipped)</a:t>
            </a:r>
            <a:endParaRPr lang="en-US" sz="1100" dirty="0"/>
          </a:p>
        </p:txBody>
      </p:sp>
      <p:sp>
        <p:nvSpPr>
          <p:cNvPr id="13" name="Shape 11"/>
          <p:cNvSpPr/>
          <p:nvPr/>
        </p:nvSpPr>
        <p:spPr>
          <a:xfrm>
            <a:off x="548640" y="4261104"/>
            <a:ext cx="2011680" cy="713232"/>
          </a:xfrm>
          <a:prstGeom prst="roundRect">
            <a:avLst>
              <a:gd name="adj" fmla="val 6410"/>
            </a:avLst>
          </a:prstGeom>
          <a:solidFill>
            <a:srgbClr val="6B7A8D"/>
          </a:solidFill>
          <a:ln/>
        </p:spPr>
      </p:sp>
      <p:sp>
        <p:nvSpPr>
          <p:cNvPr id="14" name="Text 12"/>
          <p:cNvSpPr/>
          <p:nvPr/>
        </p:nvSpPr>
        <p:spPr>
          <a:xfrm>
            <a:off x="685800" y="4297680"/>
            <a:ext cx="1828800" cy="38404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Exploration (45+ tests)</a:t>
            </a:r>
            <a:endParaRPr lang="en-US" sz="1300" dirty="0"/>
          </a:p>
        </p:txBody>
      </p:sp>
      <p:sp>
        <p:nvSpPr>
          <p:cNvPr id="15" name="Text 13"/>
          <p:cNvSpPr/>
          <p:nvPr/>
        </p:nvSpPr>
        <p:spPr>
          <a:xfrm>
            <a:off x="685800" y="4645152"/>
            <a:ext cx="4114800" cy="274320"/>
          </a:xfrm>
          <a:prstGeom prst="rect">
            <a:avLst/>
          </a:prstGeom>
          <a:noFill/>
          <a:ln/>
        </p:spPr>
        <p:txBody>
          <a:bodyPr wrap="square" lIns="0" tIns="0" rIns="0" bIns="0" rtlCol="0" anchor="ctr"/>
          <a:lstStyle/>
          <a:p>
            <a:pPr marL="0" indent="0">
              <a:buNone/>
            </a:pPr>
            <a:r>
              <a:rPr lang="en-US" sz="1100" i="1" dirty="0">
                <a:solidFill>
                  <a:srgbClr val="1A2330"/>
                </a:solidFill>
                <a:latin typeface="Calibri" pitchFamily="34" charset="0"/>
                <a:ea typeface="Calibri" pitchFamily="34" charset="-122"/>
                <a:cs typeface="Calibri" pitchFamily="34" charset="-120"/>
              </a:rPr>
              <a:t>Diagnostic only — never in CI</a:t>
            </a:r>
            <a:endParaRPr lang="en-US" sz="1100" dirty="0"/>
          </a:p>
        </p:txBody>
      </p:sp>
      <p:sp>
        <p:nvSpPr>
          <p:cNvPr id="16" name="Text 14"/>
          <p:cNvSpPr/>
          <p:nvPr/>
        </p:nvSpPr>
        <p:spPr>
          <a:xfrm>
            <a:off x="4846320" y="1737360"/>
            <a:ext cx="1737360" cy="713232"/>
          </a:xfrm>
          <a:prstGeom prst="rect">
            <a:avLst/>
          </a:prstGeom>
          <a:noFill/>
          <a:ln/>
        </p:spPr>
        <p:txBody>
          <a:bodyPr wrap="square" lIns="0" tIns="0" rIns="0" bIns="0" rtlCol="0" anchor="ctr"/>
          <a:lstStyle/>
          <a:p>
            <a:pPr marL="0" indent="0">
              <a:buNone/>
            </a:pPr>
            <a:r>
              <a:rPr lang="en-US" sz="1100" b="1" dirty="0">
                <a:solidFill>
                  <a:srgbClr val="1F3864"/>
                </a:solidFill>
                <a:latin typeface="Calibri" pitchFamily="34" charset="0"/>
                <a:ea typeface="Calibri" pitchFamily="34" charset="-122"/>
                <a:cs typeface="Calibri" pitchFamily="34" charset="-120"/>
              </a:rPr>
              <a:t>↑ Most effort here (we own these)</a:t>
            </a:r>
            <a:endParaRPr lang="en-US" sz="1100" dirty="0"/>
          </a:p>
        </p:txBody>
      </p:sp>
      <p:sp>
        <p:nvSpPr>
          <p:cNvPr id="17" name="Text 15"/>
          <p:cNvSpPr/>
          <p:nvPr/>
        </p:nvSpPr>
        <p:spPr>
          <a:xfrm>
            <a:off x="6675120" y="1691640"/>
            <a:ext cx="5029200" cy="347472"/>
          </a:xfrm>
          <a:prstGeom prst="rect">
            <a:avLst/>
          </a:prstGeom>
          <a:noFill/>
          <a:ln/>
        </p:spPr>
        <p:txBody>
          <a:bodyPr wrap="square" lIns="0" tIns="0" rIns="0" bIns="0" rtlCol="0" anchor="ctr"/>
          <a:lstStyle/>
          <a:p>
            <a:pPr marL="0" indent="0">
              <a:buNone/>
            </a:pPr>
            <a:r>
              <a:rPr lang="en-US" sz="1600" b="1" dirty="0">
                <a:solidFill>
                  <a:srgbClr val="1F3864"/>
                </a:solidFill>
                <a:latin typeface="Cambria" pitchFamily="34" charset="0"/>
                <a:ea typeface="Cambria" pitchFamily="34" charset="-122"/>
                <a:cs typeface="Cambria" pitchFamily="34" charset="-120"/>
              </a:rPr>
              <a:t>Design decisions</a:t>
            </a:r>
            <a:endParaRPr lang="en-US" sz="1600" dirty="0"/>
          </a:p>
        </p:txBody>
      </p:sp>
      <p:sp>
        <p:nvSpPr>
          <p:cNvPr id="18" name="Shape 16"/>
          <p:cNvSpPr/>
          <p:nvPr/>
        </p:nvSpPr>
        <p:spPr>
          <a:xfrm>
            <a:off x="6675120" y="2148840"/>
            <a:ext cx="5029200" cy="713232"/>
          </a:xfrm>
          <a:prstGeom prst="roundRect">
            <a:avLst>
              <a:gd name="adj" fmla="val 7692"/>
            </a:avLst>
          </a:prstGeom>
          <a:solidFill>
            <a:srgbClr val="F4F8FB"/>
          </a:solidFill>
          <a:ln w="12700">
            <a:solidFill>
              <a:srgbClr val="DCE7F0"/>
            </a:solidFill>
            <a:prstDash val="solid"/>
          </a:ln>
        </p:spPr>
      </p:sp>
      <p:sp>
        <p:nvSpPr>
          <p:cNvPr id="19" name="Text 17"/>
          <p:cNvSpPr/>
          <p:nvPr/>
        </p:nvSpPr>
        <p:spPr>
          <a:xfrm>
            <a:off x="6858000" y="2194560"/>
            <a:ext cx="4663440" cy="274320"/>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createFreshAccount()</a:t>
            </a:r>
            <a:endParaRPr lang="en-US" sz="1250" dirty="0"/>
          </a:p>
        </p:txBody>
      </p:sp>
      <p:sp>
        <p:nvSpPr>
          <p:cNvPr id="20" name="Text 18"/>
          <p:cNvSpPr/>
          <p:nvPr/>
        </p:nvSpPr>
        <p:spPr>
          <a:xfrm>
            <a:off x="6858000" y="2459736"/>
            <a:ext cx="4663440" cy="347472"/>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Isolated cardholder per test — prevents terminal-state contamination across tests</a:t>
            </a:r>
            <a:endParaRPr lang="en-US" sz="1150" dirty="0"/>
          </a:p>
        </p:txBody>
      </p:sp>
      <p:sp>
        <p:nvSpPr>
          <p:cNvPr id="21" name="Shape 19"/>
          <p:cNvSpPr/>
          <p:nvPr/>
        </p:nvSpPr>
        <p:spPr>
          <a:xfrm>
            <a:off x="6675120" y="2971800"/>
            <a:ext cx="5029200" cy="713232"/>
          </a:xfrm>
          <a:prstGeom prst="roundRect">
            <a:avLst>
              <a:gd name="adj" fmla="val 7692"/>
            </a:avLst>
          </a:prstGeom>
          <a:solidFill>
            <a:srgbClr val="F4F8FB"/>
          </a:solidFill>
          <a:ln w="12700">
            <a:solidFill>
              <a:srgbClr val="DCE7F0"/>
            </a:solidFill>
            <a:prstDash val="solid"/>
          </a:ln>
        </p:spPr>
      </p:sp>
      <p:sp>
        <p:nvSpPr>
          <p:cNvPr id="22" name="Text 20"/>
          <p:cNvSpPr/>
          <p:nvPr/>
        </p:nvSpPr>
        <p:spPr>
          <a:xfrm>
            <a:off x="6858000" y="3017520"/>
            <a:ext cx="4663440" cy="274320"/>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Sequential workers</a:t>
            </a:r>
            <a:endParaRPr lang="en-US" sz="1250" dirty="0"/>
          </a:p>
        </p:txBody>
      </p:sp>
      <p:sp>
        <p:nvSpPr>
          <p:cNvPr id="23" name="Text 21"/>
          <p:cNvSpPr/>
          <p:nvPr/>
        </p:nvSpPr>
        <p:spPr>
          <a:xfrm>
            <a:off x="6858000" y="3282696"/>
            <a:ext cx="4663440" cy="347472"/>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1 worker — Berkeley staging rate-limits parallel cardholder creation</a:t>
            </a:r>
            <a:endParaRPr lang="en-US" sz="1150" dirty="0"/>
          </a:p>
        </p:txBody>
      </p:sp>
      <p:sp>
        <p:nvSpPr>
          <p:cNvPr id="24" name="Shape 22"/>
          <p:cNvSpPr/>
          <p:nvPr/>
        </p:nvSpPr>
        <p:spPr>
          <a:xfrm>
            <a:off x="6675120" y="3794760"/>
            <a:ext cx="5029200" cy="713232"/>
          </a:xfrm>
          <a:prstGeom prst="roundRect">
            <a:avLst>
              <a:gd name="adj" fmla="val 7692"/>
            </a:avLst>
          </a:prstGeom>
          <a:solidFill>
            <a:srgbClr val="F4F8FB"/>
          </a:solidFill>
          <a:ln w="12700">
            <a:solidFill>
              <a:srgbClr val="DCE7F0"/>
            </a:solidFill>
            <a:prstDash val="solid"/>
          </a:ln>
        </p:spPr>
      </p:sp>
      <p:sp>
        <p:nvSpPr>
          <p:cNvPr id="25" name="Text 23"/>
          <p:cNvSpPr/>
          <p:nvPr/>
        </p:nvSpPr>
        <p:spPr>
          <a:xfrm>
            <a:off x="6858000" y="3840480"/>
            <a:ext cx="4663440" cy="274320"/>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test.skip() with reason</a:t>
            </a:r>
            <a:endParaRPr lang="en-US" sz="1250" dirty="0"/>
          </a:p>
        </p:txBody>
      </p:sp>
      <p:sp>
        <p:nvSpPr>
          <p:cNvPr id="26" name="Text 24"/>
          <p:cNvSpPr/>
          <p:nvPr/>
        </p:nvSpPr>
        <p:spPr>
          <a:xfrm>
            <a:off x="6858000" y="4105656"/>
            <a:ext cx="4663440" cy="347472"/>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Blocked tests skip cleanly with documented cause — zero unexplained failures</a:t>
            </a:r>
            <a:endParaRPr lang="en-US" sz="1150" dirty="0"/>
          </a:p>
        </p:txBody>
      </p:sp>
      <p:sp>
        <p:nvSpPr>
          <p:cNvPr id="27" name="Shape 25"/>
          <p:cNvSpPr/>
          <p:nvPr/>
        </p:nvSpPr>
        <p:spPr>
          <a:xfrm>
            <a:off x="6675120" y="4617720"/>
            <a:ext cx="5029200" cy="713232"/>
          </a:xfrm>
          <a:prstGeom prst="roundRect">
            <a:avLst>
              <a:gd name="adj" fmla="val 7692"/>
            </a:avLst>
          </a:prstGeom>
          <a:solidFill>
            <a:srgbClr val="F4F8FB"/>
          </a:solidFill>
          <a:ln w="12700">
            <a:solidFill>
              <a:srgbClr val="DCE7F0"/>
            </a:solidFill>
            <a:prstDash val="solid"/>
          </a:ln>
        </p:spPr>
      </p:sp>
      <p:sp>
        <p:nvSpPr>
          <p:cNvPr id="28" name="Text 26"/>
          <p:cNvSpPr/>
          <p:nvPr/>
        </p:nvSpPr>
        <p:spPr>
          <a:xfrm>
            <a:off x="6858000" y="4663440"/>
            <a:ext cx="4663440" cy="274320"/>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Timestamped test data</a:t>
            </a:r>
            <a:endParaRPr lang="en-US" sz="1250" dirty="0"/>
          </a:p>
        </p:txBody>
      </p:sp>
      <p:sp>
        <p:nvSpPr>
          <p:cNvPr id="29" name="Text 27"/>
          <p:cNvSpPr/>
          <p:nvPr/>
        </p:nvSpPr>
        <p:spPr>
          <a:xfrm>
            <a:off x="6858000" y="4928616"/>
            <a:ext cx="4663440" cy="347472"/>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Re-runnable without manual cleanup; globally unique idempotency keys</a:t>
            </a:r>
            <a:endParaRPr lang="en-US" sz="1150" dirty="0"/>
          </a:p>
        </p:txBody>
      </p:sp>
      <p:sp>
        <p:nvSpPr>
          <p:cNvPr id="30" name="Shape 28"/>
          <p:cNvSpPr/>
          <p:nvPr/>
        </p:nvSpPr>
        <p:spPr>
          <a:xfrm>
            <a:off x="6675120" y="5440680"/>
            <a:ext cx="5029200" cy="713232"/>
          </a:xfrm>
          <a:prstGeom prst="roundRect">
            <a:avLst>
              <a:gd name="adj" fmla="val 7692"/>
            </a:avLst>
          </a:prstGeom>
          <a:solidFill>
            <a:srgbClr val="F4F8FB"/>
          </a:solidFill>
          <a:ln w="12700">
            <a:solidFill>
              <a:srgbClr val="DCE7F0"/>
            </a:solidFill>
            <a:prstDash val="solid"/>
          </a:ln>
        </p:spPr>
      </p:sp>
      <p:sp>
        <p:nvSpPr>
          <p:cNvPr id="31" name="Text 29"/>
          <p:cNvSpPr/>
          <p:nvPr/>
        </p:nvSpPr>
        <p:spPr>
          <a:xfrm>
            <a:off x="6858000" y="5486400"/>
            <a:ext cx="4663440" cy="274320"/>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Read-back verify</a:t>
            </a:r>
            <a:endParaRPr lang="en-US" sz="1250" dirty="0"/>
          </a:p>
        </p:txBody>
      </p:sp>
      <p:sp>
        <p:nvSpPr>
          <p:cNvPr id="32" name="Text 30"/>
          <p:cNvSpPr/>
          <p:nvPr/>
        </p:nvSpPr>
        <p:spPr>
          <a:xfrm>
            <a:off x="6858000" y="5751576"/>
            <a:ext cx="4663440" cy="347472"/>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Create → GET → compare: confirms API persists what was submitted</a:t>
            </a:r>
            <a:endParaRPr lang="en-US" sz="1150" dirty="0"/>
          </a:p>
        </p:txBody>
      </p:sp>
      <p:sp>
        <p:nvSpPr>
          <p:cNvPr id="33" name="Text 31"/>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03</a:t>
            </a:r>
            <a:endParaRPr lang="en-US" sz="1000" dirty="0"/>
          </a:p>
        </p:txBody>
      </p:sp>
      <p:sp>
        <p:nvSpPr>
          <p:cNvPr id="34" name="Text 32"/>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TOOLING</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Playwright + TypeScript as the backbone</a:t>
            </a:r>
            <a:endParaRPr lang="en-US" sz="3000" dirty="0"/>
          </a:p>
        </p:txBody>
      </p:sp>
      <p:sp>
        <p:nvSpPr>
          <p:cNvPr id="4" name="Shape 2"/>
          <p:cNvSpPr/>
          <p:nvPr/>
        </p:nvSpPr>
        <p:spPr>
          <a:xfrm>
            <a:off x="548640" y="1755648"/>
            <a:ext cx="4114800" cy="3977640"/>
          </a:xfrm>
          <a:prstGeom prst="roundRect">
            <a:avLst>
              <a:gd name="adj" fmla="val 1839"/>
            </a:avLst>
          </a:prstGeom>
          <a:solidFill>
            <a:srgbClr val="21295C"/>
          </a:solidFill>
          <a:ln/>
          <a:effectLst>
            <a:outerShdw blurRad="76200" dist="38100" dir="5400000" algn="bl" rotWithShape="0">
              <a:srgbClr val="000000">
                <a:alpha val="12000"/>
              </a:srgbClr>
            </a:outerShdw>
          </a:effectLst>
        </p:spPr>
      </p:sp>
      <p:sp>
        <p:nvSpPr>
          <p:cNvPr id="5" name="Shape 3"/>
          <p:cNvSpPr/>
          <p:nvPr/>
        </p:nvSpPr>
        <p:spPr>
          <a:xfrm>
            <a:off x="868680" y="2084832"/>
            <a:ext cx="777240" cy="777240"/>
          </a:xfrm>
          <a:prstGeom prst="ellipse">
            <a:avLst/>
          </a:prstGeom>
          <a:solidFill>
            <a:srgbClr val="F2A65A"/>
          </a:solidFill>
          <a:ln/>
          <a:effectLst>
            <a:outerShdw blurRad="76200" dist="38100" dir="54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70762" y="2286914"/>
            <a:ext cx="373075" cy="373075"/>
          </a:xfrm>
          <a:prstGeom prst="rect">
            <a:avLst/>
          </a:prstGeom>
        </p:spPr>
      </p:pic>
      <p:sp>
        <p:nvSpPr>
          <p:cNvPr id="7" name="Text 4"/>
          <p:cNvSpPr/>
          <p:nvPr/>
        </p:nvSpPr>
        <p:spPr>
          <a:xfrm>
            <a:off x="1783080" y="2231136"/>
            <a:ext cx="2743200" cy="512064"/>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Why Playwright + TS</a:t>
            </a:r>
            <a:endParaRPr lang="en-US" sz="1700" dirty="0"/>
          </a:p>
        </p:txBody>
      </p:sp>
      <p:sp>
        <p:nvSpPr>
          <p:cNvPr id="8" name="Text 5"/>
          <p:cNvSpPr/>
          <p:nvPr/>
        </p:nvSpPr>
        <p:spPr>
          <a:xfrm>
            <a:off x="960120" y="2816352"/>
            <a:ext cx="3520440" cy="22860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 Typed payloads</a:t>
            </a:r>
            <a:endParaRPr lang="en-US" sz="1250" dirty="0"/>
          </a:p>
        </p:txBody>
      </p:sp>
      <p:sp>
        <p:nvSpPr>
          <p:cNvPr id="9" name="Text 6"/>
          <p:cNvSpPr/>
          <p:nvPr/>
        </p:nvSpPr>
        <p:spPr>
          <a:xfrm>
            <a:off x="960120" y="3035808"/>
            <a:ext cx="3520440" cy="201168"/>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Contract drift caught at compile time</a:t>
            </a:r>
            <a:endParaRPr lang="en-US" sz="1100" dirty="0"/>
          </a:p>
        </p:txBody>
      </p:sp>
      <p:sp>
        <p:nvSpPr>
          <p:cNvPr id="10" name="Text 7"/>
          <p:cNvSpPr/>
          <p:nvPr/>
        </p:nvSpPr>
        <p:spPr>
          <a:xfrm>
            <a:off x="960120" y="3273552"/>
            <a:ext cx="3520440" cy="22860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 API request fixture</a:t>
            </a:r>
            <a:endParaRPr lang="en-US" sz="1250" dirty="0"/>
          </a:p>
        </p:txBody>
      </p:sp>
      <p:sp>
        <p:nvSpPr>
          <p:cNvPr id="11" name="Text 8"/>
          <p:cNvSpPr/>
          <p:nvPr/>
        </p:nvSpPr>
        <p:spPr>
          <a:xfrm>
            <a:off x="960120" y="3493008"/>
            <a:ext cx="3520440" cy="201168"/>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No browser needed; scales to UI if needed</a:t>
            </a:r>
            <a:endParaRPr lang="en-US" sz="1100" dirty="0"/>
          </a:p>
        </p:txBody>
      </p:sp>
      <p:sp>
        <p:nvSpPr>
          <p:cNvPr id="12" name="Text 9"/>
          <p:cNvSpPr/>
          <p:nvPr/>
        </p:nvSpPr>
        <p:spPr>
          <a:xfrm>
            <a:off x="960120" y="3730752"/>
            <a:ext cx="3520440" cy="22860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 Fixtures system</a:t>
            </a:r>
            <a:endParaRPr lang="en-US" sz="1250" dirty="0"/>
          </a:p>
        </p:txBody>
      </p:sp>
      <p:sp>
        <p:nvSpPr>
          <p:cNvPr id="13" name="Text 10"/>
          <p:cNvSpPr/>
          <p:nvPr/>
        </p:nvSpPr>
        <p:spPr>
          <a:xfrm>
            <a:off x="960120" y="3950208"/>
            <a:ext cx="3520440" cy="201168"/>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Proper DI for createFreshAccount + seededAccount</a:t>
            </a:r>
            <a:endParaRPr lang="en-US" sz="1100" dirty="0"/>
          </a:p>
        </p:txBody>
      </p:sp>
      <p:sp>
        <p:nvSpPr>
          <p:cNvPr id="14" name="Text 11"/>
          <p:cNvSpPr/>
          <p:nvPr/>
        </p:nvSpPr>
        <p:spPr>
          <a:xfrm>
            <a:off x="960120" y="4187952"/>
            <a:ext cx="3520440" cy="22860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 Binary search loops</a:t>
            </a:r>
            <a:endParaRPr lang="en-US" sz="1250" dirty="0"/>
          </a:p>
        </p:txBody>
      </p:sp>
      <p:sp>
        <p:nvSpPr>
          <p:cNvPr id="15" name="Text 12"/>
          <p:cNvSpPr/>
          <p:nvPr/>
        </p:nvSpPr>
        <p:spPr>
          <a:xfrm>
            <a:off x="960120" y="4407408"/>
            <a:ext cx="3520440" cy="201168"/>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Find exact field limits — impractical in Postman</a:t>
            </a:r>
            <a:endParaRPr lang="en-US" sz="1100" dirty="0"/>
          </a:p>
        </p:txBody>
      </p:sp>
      <p:sp>
        <p:nvSpPr>
          <p:cNvPr id="16" name="Text 13"/>
          <p:cNvSpPr/>
          <p:nvPr/>
        </p:nvSpPr>
        <p:spPr>
          <a:xfrm>
            <a:off x="960120" y="4645152"/>
            <a:ext cx="3520440" cy="22860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 Parallelism &amp; HTML reports</a:t>
            </a:r>
            <a:endParaRPr lang="en-US" sz="1250" dirty="0"/>
          </a:p>
        </p:txBody>
      </p:sp>
      <p:sp>
        <p:nvSpPr>
          <p:cNvPr id="17" name="Text 14"/>
          <p:cNvSpPr/>
          <p:nvPr/>
        </p:nvSpPr>
        <p:spPr>
          <a:xfrm>
            <a:off x="960120" y="4864608"/>
            <a:ext cx="3520440" cy="201168"/>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Strong CI story; shared Node/TS with devs</a:t>
            </a:r>
            <a:endParaRPr lang="en-US" sz="1100" dirty="0"/>
          </a:p>
        </p:txBody>
      </p:sp>
      <p:sp>
        <p:nvSpPr>
          <p:cNvPr id="18" name="Shape 15"/>
          <p:cNvSpPr/>
          <p:nvPr/>
        </p:nvSpPr>
        <p:spPr>
          <a:xfrm>
            <a:off x="4892040" y="1755648"/>
            <a:ext cx="6903720" cy="585216"/>
          </a:xfrm>
          <a:prstGeom prst="roundRect">
            <a:avLst>
              <a:gd name="adj" fmla="val 9375"/>
            </a:avLst>
          </a:prstGeom>
          <a:solidFill>
            <a:srgbClr val="F4F8FB"/>
          </a:solidFill>
          <a:ln w="12700">
            <a:solidFill>
              <a:srgbClr val="DCE7F0"/>
            </a:solidFill>
            <a:prstDash val="solid"/>
          </a:ln>
        </p:spPr>
      </p:sp>
      <p:sp>
        <p:nvSpPr>
          <p:cNvPr id="19" name="Shape 16"/>
          <p:cNvSpPr/>
          <p:nvPr/>
        </p:nvSpPr>
        <p:spPr>
          <a:xfrm>
            <a:off x="5001768" y="1837944"/>
            <a:ext cx="420624" cy="420624"/>
          </a:xfrm>
          <a:prstGeom prst="ellipse">
            <a:avLst/>
          </a:prstGeom>
          <a:solidFill>
            <a:srgbClr val="065A82"/>
          </a:solidFill>
          <a:ln/>
          <a:effectLst>
            <a:outerShdw blurRad="76200" dist="38100" dir="5400000" algn="bl" rotWithShape="0">
              <a:srgbClr val="000000">
                <a:alpha val="12000"/>
              </a:srgbClr>
            </a:outerShdw>
          </a:effectLst>
        </p:spPr>
      </p:sp>
      <p:pic>
        <p:nvPicPr>
          <p:cNvPr id="20" name="Image 1" descr="preencoded.png"/>
          <p:cNvPicPr>
            <a:picLocks noChangeAspect="1"/>
          </p:cNvPicPr>
          <p:nvPr/>
        </p:nvPicPr>
        <p:blipFill>
          <a:blip r:embed="rId4"/>
          <a:stretch>
            <a:fillRect/>
          </a:stretch>
        </p:blipFill>
        <p:spPr>
          <a:xfrm>
            <a:off x="5111130" y="1947306"/>
            <a:ext cx="201900" cy="201900"/>
          </a:xfrm>
          <a:prstGeom prst="rect">
            <a:avLst/>
          </a:prstGeom>
        </p:spPr>
      </p:pic>
      <p:sp>
        <p:nvSpPr>
          <p:cNvPr id="21" name="Text 17"/>
          <p:cNvSpPr/>
          <p:nvPr/>
        </p:nvSpPr>
        <p:spPr>
          <a:xfrm>
            <a:off x="5550408" y="1755648"/>
            <a:ext cx="2194560" cy="585216"/>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Postman / Newman</a:t>
            </a:r>
            <a:endParaRPr lang="en-US" sz="1300" dirty="0"/>
          </a:p>
        </p:txBody>
      </p:sp>
      <p:sp>
        <p:nvSpPr>
          <p:cNvPr id="22" name="Text 18"/>
          <p:cNvSpPr/>
          <p:nvPr/>
        </p:nvSpPr>
        <p:spPr>
          <a:xfrm>
            <a:off x="7726680" y="1755648"/>
            <a:ext cx="2743200" cy="585216"/>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Exploratory, living docs, CI smoke</a:t>
            </a:r>
            <a:endParaRPr lang="en-US" sz="1200" dirty="0"/>
          </a:p>
        </p:txBody>
      </p:sp>
      <p:sp>
        <p:nvSpPr>
          <p:cNvPr id="23" name="Text 19"/>
          <p:cNvSpPr/>
          <p:nvPr/>
        </p:nvSpPr>
        <p:spPr>
          <a:xfrm>
            <a:off x="10469880" y="1755648"/>
            <a:ext cx="1234440" cy="585216"/>
          </a:xfrm>
          <a:prstGeom prst="rect">
            <a:avLst/>
          </a:prstGeom>
          <a:noFill/>
          <a:ln/>
        </p:spPr>
        <p:txBody>
          <a:bodyPr wrap="square" lIns="0" tIns="0" rIns="0" bIns="0" rtlCol="0" anchor="ctr"/>
          <a:lstStyle/>
          <a:p>
            <a:pPr marL="0" indent="0" algn="r">
              <a:buNone/>
            </a:pPr>
            <a:r>
              <a:rPr lang="en-US" sz="1050" b="1" dirty="0">
                <a:solidFill>
                  <a:srgbClr val="F2A65A"/>
                </a:solidFill>
                <a:latin typeface="Calibri" pitchFamily="34" charset="0"/>
                <a:ea typeface="Calibri" pitchFamily="34" charset="-122"/>
                <a:cs typeface="Calibri" pitchFamily="34" charset="-120"/>
              </a:rPr>
              <a:t>Parallel job in CI</a:t>
            </a:r>
            <a:endParaRPr lang="en-US" sz="1050" dirty="0"/>
          </a:p>
        </p:txBody>
      </p:sp>
      <p:sp>
        <p:nvSpPr>
          <p:cNvPr id="24" name="Shape 20"/>
          <p:cNvSpPr/>
          <p:nvPr/>
        </p:nvSpPr>
        <p:spPr>
          <a:xfrm>
            <a:off x="4892040" y="2432304"/>
            <a:ext cx="6903720" cy="585216"/>
          </a:xfrm>
          <a:prstGeom prst="roundRect">
            <a:avLst>
              <a:gd name="adj" fmla="val 9375"/>
            </a:avLst>
          </a:prstGeom>
          <a:solidFill>
            <a:srgbClr val="F4F8FB"/>
          </a:solidFill>
          <a:ln w="12700">
            <a:solidFill>
              <a:srgbClr val="DCE7F0"/>
            </a:solidFill>
            <a:prstDash val="solid"/>
          </a:ln>
        </p:spPr>
      </p:sp>
      <p:sp>
        <p:nvSpPr>
          <p:cNvPr id="25" name="Shape 21"/>
          <p:cNvSpPr/>
          <p:nvPr/>
        </p:nvSpPr>
        <p:spPr>
          <a:xfrm>
            <a:off x="5001768" y="2514600"/>
            <a:ext cx="420624" cy="420624"/>
          </a:xfrm>
          <a:prstGeom prst="ellipse">
            <a:avLst/>
          </a:prstGeom>
          <a:solidFill>
            <a:srgbClr val="065A82"/>
          </a:solidFill>
          <a:ln/>
          <a:effectLst>
            <a:outerShdw blurRad="76200" dist="38100" dir="5400000" algn="bl" rotWithShape="0">
              <a:srgbClr val="000000">
                <a:alpha val="12000"/>
              </a:srgbClr>
            </a:outerShdw>
          </a:effectLst>
        </p:spPr>
      </p:sp>
      <p:pic>
        <p:nvPicPr>
          <p:cNvPr id="26" name="Image 2" descr="preencoded.png"/>
          <p:cNvPicPr>
            <a:picLocks noChangeAspect="1"/>
          </p:cNvPicPr>
          <p:nvPr/>
        </p:nvPicPr>
        <p:blipFill>
          <a:blip r:embed="rId5"/>
          <a:stretch>
            <a:fillRect/>
          </a:stretch>
        </p:blipFill>
        <p:spPr>
          <a:xfrm>
            <a:off x="5111130" y="2623962"/>
            <a:ext cx="201900" cy="201900"/>
          </a:xfrm>
          <a:prstGeom prst="rect">
            <a:avLst/>
          </a:prstGeom>
        </p:spPr>
      </p:pic>
      <p:sp>
        <p:nvSpPr>
          <p:cNvPr id="27" name="Text 22"/>
          <p:cNvSpPr/>
          <p:nvPr/>
        </p:nvSpPr>
        <p:spPr>
          <a:xfrm>
            <a:off x="5550408" y="2432304"/>
            <a:ext cx="2194560" cy="585216"/>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Jest / Vitest</a:t>
            </a:r>
            <a:endParaRPr lang="en-US" sz="1300" dirty="0"/>
          </a:p>
        </p:txBody>
      </p:sp>
      <p:sp>
        <p:nvSpPr>
          <p:cNvPr id="28" name="Text 23"/>
          <p:cNvSpPr/>
          <p:nvPr/>
        </p:nvSpPr>
        <p:spPr>
          <a:xfrm>
            <a:off x="7726680" y="2432304"/>
            <a:ext cx="2743200" cy="585216"/>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Unit tests on integration glue code</a:t>
            </a:r>
            <a:endParaRPr lang="en-US" sz="1200" dirty="0"/>
          </a:p>
        </p:txBody>
      </p:sp>
      <p:sp>
        <p:nvSpPr>
          <p:cNvPr id="29" name="Text 24"/>
          <p:cNvSpPr/>
          <p:nvPr/>
        </p:nvSpPr>
        <p:spPr>
          <a:xfrm>
            <a:off x="10469880" y="2432304"/>
            <a:ext cx="1234440" cy="585216"/>
          </a:xfrm>
          <a:prstGeom prst="rect">
            <a:avLst/>
          </a:prstGeom>
          <a:noFill/>
          <a:ln/>
        </p:spPr>
        <p:txBody>
          <a:bodyPr wrap="square" lIns="0" tIns="0" rIns="0" bIns="0" rtlCol="0" anchor="ctr"/>
          <a:lstStyle/>
          <a:p>
            <a:pPr marL="0" indent="0" algn="r">
              <a:buNone/>
            </a:pPr>
            <a:r>
              <a:rPr lang="en-US" sz="1050" b="1" dirty="0">
                <a:solidFill>
                  <a:srgbClr val="F2A65A"/>
                </a:solidFill>
                <a:latin typeface="Calibri" pitchFamily="34" charset="0"/>
                <a:ea typeface="Calibri" pitchFamily="34" charset="-122"/>
                <a:cs typeface="Calibri" pitchFamily="34" charset="-120"/>
              </a:rPr>
              <a:t>Recommended</a:t>
            </a:r>
            <a:endParaRPr lang="en-US" sz="1050" dirty="0"/>
          </a:p>
        </p:txBody>
      </p:sp>
      <p:sp>
        <p:nvSpPr>
          <p:cNvPr id="30" name="Shape 25"/>
          <p:cNvSpPr/>
          <p:nvPr/>
        </p:nvSpPr>
        <p:spPr>
          <a:xfrm>
            <a:off x="4892040" y="3108960"/>
            <a:ext cx="6903720" cy="585216"/>
          </a:xfrm>
          <a:prstGeom prst="roundRect">
            <a:avLst>
              <a:gd name="adj" fmla="val 9375"/>
            </a:avLst>
          </a:prstGeom>
          <a:solidFill>
            <a:srgbClr val="F4F8FB"/>
          </a:solidFill>
          <a:ln w="12700">
            <a:solidFill>
              <a:srgbClr val="DCE7F0"/>
            </a:solidFill>
            <a:prstDash val="solid"/>
          </a:ln>
        </p:spPr>
      </p:sp>
      <p:sp>
        <p:nvSpPr>
          <p:cNvPr id="31" name="Shape 26"/>
          <p:cNvSpPr/>
          <p:nvPr/>
        </p:nvSpPr>
        <p:spPr>
          <a:xfrm>
            <a:off x="5001768" y="3191256"/>
            <a:ext cx="420624" cy="420624"/>
          </a:xfrm>
          <a:prstGeom prst="ellipse">
            <a:avLst/>
          </a:prstGeom>
          <a:solidFill>
            <a:srgbClr val="065A82"/>
          </a:solidFill>
          <a:ln/>
          <a:effectLst>
            <a:outerShdw blurRad="76200" dist="38100" dir="5400000" algn="bl" rotWithShape="0">
              <a:srgbClr val="000000">
                <a:alpha val="12000"/>
              </a:srgbClr>
            </a:outerShdw>
          </a:effectLst>
        </p:spPr>
      </p:sp>
      <p:pic>
        <p:nvPicPr>
          <p:cNvPr id="32" name="Image 3" descr="preencoded.png"/>
          <p:cNvPicPr>
            <a:picLocks noChangeAspect="1"/>
          </p:cNvPicPr>
          <p:nvPr/>
        </p:nvPicPr>
        <p:blipFill>
          <a:blip r:embed="rId6"/>
          <a:stretch>
            <a:fillRect/>
          </a:stretch>
        </p:blipFill>
        <p:spPr>
          <a:xfrm>
            <a:off x="5111130" y="3300618"/>
            <a:ext cx="201900" cy="201900"/>
          </a:xfrm>
          <a:prstGeom prst="rect">
            <a:avLst/>
          </a:prstGeom>
        </p:spPr>
      </p:pic>
      <p:sp>
        <p:nvSpPr>
          <p:cNvPr id="33" name="Text 27"/>
          <p:cNvSpPr/>
          <p:nvPr/>
        </p:nvSpPr>
        <p:spPr>
          <a:xfrm>
            <a:off x="5550408" y="3108960"/>
            <a:ext cx="2194560" cy="585216"/>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Pact</a:t>
            </a:r>
            <a:endParaRPr lang="en-US" sz="1300" dirty="0"/>
          </a:p>
        </p:txBody>
      </p:sp>
      <p:sp>
        <p:nvSpPr>
          <p:cNvPr id="34" name="Text 28"/>
          <p:cNvSpPr/>
          <p:nvPr/>
        </p:nvSpPr>
        <p:spPr>
          <a:xfrm>
            <a:off x="7726680" y="3108960"/>
            <a:ext cx="2743200" cy="585216"/>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Consumer-driven contract testing</a:t>
            </a:r>
            <a:endParaRPr lang="en-US" sz="1200" dirty="0"/>
          </a:p>
        </p:txBody>
      </p:sp>
      <p:sp>
        <p:nvSpPr>
          <p:cNvPr id="35" name="Text 29"/>
          <p:cNvSpPr/>
          <p:nvPr/>
        </p:nvSpPr>
        <p:spPr>
          <a:xfrm>
            <a:off x="10469880" y="3108960"/>
            <a:ext cx="1234440" cy="585216"/>
          </a:xfrm>
          <a:prstGeom prst="rect">
            <a:avLst/>
          </a:prstGeom>
          <a:noFill/>
          <a:ln/>
        </p:spPr>
        <p:txBody>
          <a:bodyPr wrap="square" lIns="0" tIns="0" rIns="0" bIns="0" rtlCol="0" anchor="ctr"/>
          <a:lstStyle/>
          <a:p>
            <a:pPr marL="0" indent="0" algn="r">
              <a:buNone/>
            </a:pPr>
            <a:r>
              <a:rPr lang="en-US" sz="1050" b="1" dirty="0">
                <a:solidFill>
                  <a:srgbClr val="F2A65A"/>
                </a:solidFill>
                <a:latin typeface="Calibri" pitchFamily="34" charset="0"/>
                <a:ea typeface="Calibri" pitchFamily="34" charset="-122"/>
                <a:cs typeface="Calibri" pitchFamily="34" charset="-120"/>
              </a:rPr>
              <a:t>Recommended</a:t>
            </a:r>
            <a:endParaRPr lang="en-US" sz="1050" dirty="0"/>
          </a:p>
        </p:txBody>
      </p:sp>
      <p:sp>
        <p:nvSpPr>
          <p:cNvPr id="36" name="Shape 30"/>
          <p:cNvSpPr/>
          <p:nvPr/>
        </p:nvSpPr>
        <p:spPr>
          <a:xfrm>
            <a:off x="4892040" y="3785616"/>
            <a:ext cx="6903720" cy="585216"/>
          </a:xfrm>
          <a:prstGeom prst="roundRect">
            <a:avLst>
              <a:gd name="adj" fmla="val 9375"/>
            </a:avLst>
          </a:prstGeom>
          <a:solidFill>
            <a:srgbClr val="F4F8FB"/>
          </a:solidFill>
          <a:ln w="12700">
            <a:solidFill>
              <a:srgbClr val="DCE7F0"/>
            </a:solidFill>
            <a:prstDash val="solid"/>
          </a:ln>
        </p:spPr>
      </p:sp>
      <p:sp>
        <p:nvSpPr>
          <p:cNvPr id="37" name="Shape 31"/>
          <p:cNvSpPr/>
          <p:nvPr/>
        </p:nvSpPr>
        <p:spPr>
          <a:xfrm>
            <a:off x="5001768" y="3867912"/>
            <a:ext cx="420624" cy="420624"/>
          </a:xfrm>
          <a:prstGeom prst="ellipse">
            <a:avLst/>
          </a:prstGeom>
          <a:solidFill>
            <a:srgbClr val="065A82"/>
          </a:solidFill>
          <a:ln/>
          <a:effectLst>
            <a:outerShdw blurRad="76200" dist="38100" dir="5400000" algn="bl" rotWithShape="0">
              <a:srgbClr val="000000">
                <a:alpha val="12000"/>
              </a:srgbClr>
            </a:outerShdw>
          </a:effectLst>
        </p:spPr>
      </p:sp>
      <p:pic>
        <p:nvPicPr>
          <p:cNvPr id="38" name="Image 4" descr="preencoded.png"/>
          <p:cNvPicPr>
            <a:picLocks noChangeAspect="1"/>
          </p:cNvPicPr>
          <p:nvPr/>
        </p:nvPicPr>
        <p:blipFill>
          <a:blip r:embed="rId7"/>
          <a:stretch>
            <a:fillRect/>
          </a:stretch>
        </p:blipFill>
        <p:spPr>
          <a:xfrm>
            <a:off x="5111130" y="3977274"/>
            <a:ext cx="201900" cy="201900"/>
          </a:xfrm>
          <a:prstGeom prst="rect">
            <a:avLst/>
          </a:prstGeom>
        </p:spPr>
      </p:pic>
      <p:sp>
        <p:nvSpPr>
          <p:cNvPr id="39" name="Text 32"/>
          <p:cNvSpPr/>
          <p:nvPr/>
        </p:nvSpPr>
        <p:spPr>
          <a:xfrm>
            <a:off x="5550408" y="3785616"/>
            <a:ext cx="2194560" cy="585216"/>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Artillery</a:t>
            </a:r>
            <a:endParaRPr lang="en-US" sz="1300" dirty="0"/>
          </a:p>
        </p:txBody>
      </p:sp>
      <p:sp>
        <p:nvSpPr>
          <p:cNvPr id="40" name="Text 33"/>
          <p:cNvSpPr/>
          <p:nvPr/>
        </p:nvSpPr>
        <p:spPr>
          <a:xfrm>
            <a:off x="7726680" y="3785616"/>
            <a:ext cx="2743200" cy="585216"/>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Load, throughput, rate-limit threshold</a:t>
            </a:r>
            <a:endParaRPr lang="en-US" sz="1200" dirty="0"/>
          </a:p>
        </p:txBody>
      </p:sp>
      <p:sp>
        <p:nvSpPr>
          <p:cNvPr id="41" name="Text 34"/>
          <p:cNvSpPr/>
          <p:nvPr/>
        </p:nvSpPr>
        <p:spPr>
          <a:xfrm>
            <a:off x="10469880" y="3785616"/>
            <a:ext cx="1234440" cy="585216"/>
          </a:xfrm>
          <a:prstGeom prst="rect">
            <a:avLst/>
          </a:prstGeom>
          <a:noFill/>
          <a:ln/>
        </p:spPr>
        <p:txBody>
          <a:bodyPr wrap="square" lIns="0" tIns="0" rIns="0" bIns="0" rtlCol="0" anchor="ctr"/>
          <a:lstStyle/>
          <a:p>
            <a:pPr marL="0" indent="0" algn="r">
              <a:buNone/>
            </a:pPr>
            <a:r>
              <a:rPr lang="en-US" sz="1050" b="1" dirty="0">
                <a:solidFill>
                  <a:srgbClr val="F2A65A"/>
                </a:solidFill>
                <a:latin typeface="Calibri" pitchFamily="34" charset="0"/>
                <a:ea typeface="Calibri" pitchFamily="34" charset="-122"/>
                <a:cs typeface="Calibri" pitchFamily="34" charset="-120"/>
              </a:rPr>
              <a:t>Local only — sign-off required</a:t>
            </a:r>
            <a:endParaRPr lang="en-US" sz="1050" dirty="0"/>
          </a:p>
        </p:txBody>
      </p:sp>
      <p:sp>
        <p:nvSpPr>
          <p:cNvPr id="42" name="Shape 35"/>
          <p:cNvSpPr/>
          <p:nvPr/>
        </p:nvSpPr>
        <p:spPr>
          <a:xfrm>
            <a:off x="4892040" y="4462272"/>
            <a:ext cx="6903720" cy="585216"/>
          </a:xfrm>
          <a:prstGeom prst="roundRect">
            <a:avLst>
              <a:gd name="adj" fmla="val 9375"/>
            </a:avLst>
          </a:prstGeom>
          <a:solidFill>
            <a:srgbClr val="F4F8FB"/>
          </a:solidFill>
          <a:ln w="12700">
            <a:solidFill>
              <a:srgbClr val="DCE7F0"/>
            </a:solidFill>
            <a:prstDash val="solid"/>
          </a:ln>
        </p:spPr>
      </p:sp>
      <p:sp>
        <p:nvSpPr>
          <p:cNvPr id="43" name="Shape 36"/>
          <p:cNvSpPr/>
          <p:nvPr/>
        </p:nvSpPr>
        <p:spPr>
          <a:xfrm>
            <a:off x="5001768" y="4544568"/>
            <a:ext cx="420624" cy="420624"/>
          </a:xfrm>
          <a:prstGeom prst="ellipse">
            <a:avLst/>
          </a:prstGeom>
          <a:solidFill>
            <a:srgbClr val="065A82"/>
          </a:solidFill>
          <a:ln/>
          <a:effectLst>
            <a:outerShdw blurRad="76200" dist="38100" dir="5400000" algn="bl" rotWithShape="0">
              <a:srgbClr val="000000">
                <a:alpha val="12000"/>
              </a:srgbClr>
            </a:outerShdw>
          </a:effectLst>
        </p:spPr>
      </p:sp>
      <p:pic>
        <p:nvPicPr>
          <p:cNvPr id="44" name="Image 5" descr="preencoded.png"/>
          <p:cNvPicPr>
            <a:picLocks noChangeAspect="1"/>
          </p:cNvPicPr>
          <p:nvPr/>
        </p:nvPicPr>
        <p:blipFill>
          <a:blip r:embed="rId8"/>
          <a:stretch>
            <a:fillRect/>
          </a:stretch>
        </p:blipFill>
        <p:spPr>
          <a:xfrm>
            <a:off x="5111130" y="4653930"/>
            <a:ext cx="201900" cy="201900"/>
          </a:xfrm>
          <a:prstGeom prst="rect">
            <a:avLst/>
          </a:prstGeom>
        </p:spPr>
      </p:pic>
      <p:sp>
        <p:nvSpPr>
          <p:cNvPr id="45" name="Text 37"/>
          <p:cNvSpPr/>
          <p:nvPr/>
        </p:nvSpPr>
        <p:spPr>
          <a:xfrm>
            <a:off x="5550408" y="4462272"/>
            <a:ext cx="2194560" cy="585216"/>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OWASP ZAP</a:t>
            </a:r>
            <a:endParaRPr lang="en-US" sz="1300" dirty="0"/>
          </a:p>
        </p:txBody>
      </p:sp>
      <p:sp>
        <p:nvSpPr>
          <p:cNvPr id="46" name="Text 38"/>
          <p:cNvSpPr/>
          <p:nvPr/>
        </p:nvSpPr>
        <p:spPr>
          <a:xfrm>
            <a:off x="7726680" y="4462272"/>
            <a:ext cx="2743200" cy="585216"/>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Auth isolation, PAN/CVV masking</a:t>
            </a:r>
            <a:endParaRPr lang="en-US" sz="1200" dirty="0"/>
          </a:p>
        </p:txBody>
      </p:sp>
      <p:sp>
        <p:nvSpPr>
          <p:cNvPr id="47" name="Text 39"/>
          <p:cNvSpPr/>
          <p:nvPr/>
        </p:nvSpPr>
        <p:spPr>
          <a:xfrm>
            <a:off x="10469880" y="4462272"/>
            <a:ext cx="1234440" cy="585216"/>
          </a:xfrm>
          <a:prstGeom prst="rect">
            <a:avLst/>
          </a:prstGeom>
          <a:noFill/>
          <a:ln/>
        </p:spPr>
        <p:txBody>
          <a:bodyPr wrap="square" lIns="0" tIns="0" rIns="0" bIns="0" rtlCol="0" anchor="ctr"/>
          <a:lstStyle/>
          <a:p>
            <a:pPr marL="0" indent="0" algn="r">
              <a:buNone/>
            </a:pPr>
            <a:r>
              <a:rPr lang="en-US" sz="1050" b="1" dirty="0">
                <a:solidFill>
                  <a:srgbClr val="F2A65A"/>
                </a:solidFill>
                <a:latin typeface="Calibri" pitchFamily="34" charset="0"/>
                <a:ea typeface="Calibri" pitchFamily="34" charset="-122"/>
                <a:cs typeface="Calibri" pitchFamily="34" charset="-120"/>
              </a:rPr>
              <a:t>Recommended</a:t>
            </a:r>
            <a:endParaRPr lang="en-US" sz="1050" dirty="0"/>
          </a:p>
        </p:txBody>
      </p:sp>
      <p:sp>
        <p:nvSpPr>
          <p:cNvPr id="48" name="Shape 40"/>
          <p:cNvSpPr/>
          <p:nvPr/>
        </p:nvSpPr>
        <p:spPr>
          <a:xfrm>
            <a:off x="4892040" y="5138928"/>
            <a:ext cx="6903720" cy="585216"/>
          </a:xfrm>
          <a:prstGeom prst="roundRect">
            <a:avLst>
              <a:gd name="adj" fmla="val 9375"/>
            </a:avLst>
          </a:prstGeom>
          <a:solidFill>
            <a:srgbClr val="F4F8FB"/>
          </a:solidFill>
          <a:ln w="12700">
            <a:solidFill>
              <a:srgbClr val="DCE7F0"/>
            </a:solidFill>
            <a:prstDash val="solid"/>
          </a:ln>
        </p:spPr>
      </p:sp>
      <p:sp>
        <p:nvSpPr>
          <p:cNvPr id="49" name="Shape 41"/>
          <p:cNvSpPr/>
          <p:nvPr/>
        </p:nvSpPr>
        <p:spPr>
          <a:xfrm>
            <a:off x="5001768" y="5221224"/>
            <a:ext cx="420624" cy="420624"/>
          </a:xfrm>
          <a:prstGeom prst="ellipse">
            <a:avLst/>
          </a:prstGeom>
          <a:solidFill>
            <a:srgbClr val="065A82"/>
          </a:solidFill>
          <a:ln/>
          <a:effectLst>
            <a:outerShdw blurRad="76200" dist="38100" dir="5400000" algn="bl" rotWithShape="0">
              <a:srgbClr val="000000">
                <a:alpha val="12000"/>
              </a:srgbClr>
            </a:outerShdw>
          </a:effectLst>
        </p:spPr>
      </p:sp>
      <p:pic>
        <p:nvPicPr>
          <p:cNvPr id="50" name="Image 6" descr="preencoded.png"/>
          <p:cNvPicPr>
            <a:picLocks noChangeAspect="1"/>
          </p:cNvPicPr>
          <p:nvPr/>
        </p:nvPicPr>
        <p:blipFill>
          <a:blip r:embed="rId9"/>
          <a:stretch>
            <a:fillRect/>
          </a:stretch>
        </p:blipFill>
        <p:spPr>
          <a:xfrm>
            <a:off x="5111130" y="5330586"/>
            <a:ext cx="201900" cy="201900"/>
          </a:xfrm>
          <a:prstGeom prst="rect">
            <a:avLst/>
          </a:prstGeom>
        </p:spPr>
      </p:pic>
      <p:sp>
        <p:nvSpPr>
          <p:cNvPr id="51" name="Text 42"/>
          <p:cNvSpPr/>
          <p:nvPr/>
        </p:nvSpPr>
        <p:spPr>
          <a:xfrm>
            <a:off x="5550408" y="5138928"/>
            <a:ext cx="2194560" cy="585216"/>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GitHub Actions</a:t>
            </a:r>
            <a:endParaRPr lang="en-US" sz="1300" dirty="0"/>
          </a:p>
        </p:txBody>
      </p:sp>
      <p:sp>
        <p:nvSpPr>
          <p:cNvPr id="52" name="Text 43"/>
          <p:cNvSpPr/>
          <p:nvPr/>
        </p:nvSpPr>
        <p:spPr>
          <a:xfrm>
            <a:off x="7726680" y="5138928"/>
            <a:ext cx="2743200" cy="585216"/>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Type-check + Playwright + Newman parallel; nightly run</a:t>
            </a:r>
            <a:endParaRPr lang="en-US" sz="1200" dirty="0"/>
          </a:p>
        </p:txBody>
      </p:sp>
      <p:sp>
        <p:nvSpPr>
          <p:cNvPr id="53" name="Text 44"/>
          <p:cNvSpPr/>
          <p:nvPr/>
        </p:nvSpPr>
        <p:spPr>
          <a:xfrm>
            <a:off x="10469880" y="5138928"/>
            <a:ext cx="1234440" cy="585216"/>
          </a:xfrm>
          <a:prstGeom prst="rect">
            <a:avLst/>
          </a:prstGeom>
          <a:noFill/>
          <a:ln/>
        </p:spPr>
        <p:txBody>
          <a:bodyPr wrap="square" lIns="0" tIns="0" rIns="0" bIns="0" rtlCol="0" anchor="ctr"/>
          <a:lstStyle/>
          <a:p>
            <a:pPr marL="0" indent="0" algn="r">
              <a:buNone/>
            </a:pPr>
            <a:r>
              <a:rPr lang="en-US" sz="1050" b="1" dirty="0">
                <a:solidFill>
                  <a:srgbClr val="F2A65A"/>
                </a:solidFill>
                <a:latin typeface="Calibri" pitchFamily="34" charset="0"/>
                <a:ea typeface="Calibri" pitchFamily="34" charset="-122"/>
                <a:cs typeface="Calibri" pitchFamily="34" charset="-120"/>
              </a:rPr>
              <a:t>35 min with cache</a:t>
            </a:r>
            <a:endParaRPr lang="en-US" sz="1050" dirty="0"/>
          </a:p>
        </p:txBody>
      </p:sp>
      <p:sp>
        <p:nvSpPr>
          <p:cNvPr id="54" name="Text 45"/>
          <p:cNvSpPr/>
          <p:nvPr/>
        </p:nvSpPr>
        <p:spPr>
          <a:xfrm>
            <a:off x="4892040" y="6309360"/>
            <a:ext cx="6903720" cy="274320"/>
          </a:xfrm>
          <a:prstGeom prst="rect">
            <a:avLst/>
          </a:prstGeom>
          <a:noFill/>
          <a:ln/>
        </p:spPr>
        <p:txBody>
          <a:bodyPr wrap="square" lIns="0" tIns="0" rIns="0" bIns="0" rtlCol="0" anchor="ctr"/>
          <a:lstStyle/>
          <a:p>
            <a:pPr marL="0" indent="0">
              <a:buNone/>
            </a:pPr>
            <a:r>
              <a:rPr lang="en-US" sz="1150" b="1" dirty="0">
                <a:solidFill>
                  <a:srgbClr val="1F3864"/>
                </a:solidFill>
                <a:latin typeface="Calibri" pitchFamily="34" charset="0"/>
                <a:ea typeface="Calibri" pitchFamily="34" charset="-122"/>
                <a:cs typeface="Calibri" pitchFamily="34" charset="-120"/>
              </a:rPr>
              <a:t>GitHub repo: </a:t>
            </a:r>
            <a:r>
              <a:rPr lang="en-US" sz="1150" dirty="0">
                <a:solidFill>
                  <a:srgbClr val="6B7A8D"/>
                </a:solidFill>
                <a:latin typeface="Calibri" pitchFamily="34" charset="0"/>
                <a:ea typeface="Calibri" pitchFamily="34" charset="-122"/>
                <a:cs typeface="Calibri" pitchFamily="34" charset="-120"/>
              </a:rPr>
              <a:t>github.com/parvezi4/berkeley-tests</a:t>
            </a:r>
            <a:endParaRPr lang="en-US" sz="1150" dirty="0"/>
          </a:p>
        </p:txBody>
      </p:sp>
      <p:sp>
        <p:nvSpPr>
          <p:cNvPr id="55" name="Text 46"/>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04</a:t>
            </a:r>
            <a:endParaRPr lang="en-US" sz="1000" dirty="0"/>
          </a:p>
        </p:txBody>
      </p:sp>
      <p:sp>
        <p:nvSpPr>
          <p:cNvPr id="56" name="Text 47"/>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COVERAGE</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Risk-weighted coverage — 98 tests, 0 hard failures</a:t>
            </a:r>
            <a:endParaRPr lang="en-US" sz="3000" dirty="0"/>
          </a:p>
        </p:txBody>
      </p:sp>
      <p:graphicFrame>
        <p:nvGraphicFramePr>
          <p:cNvPr id="4" name="Chart 0"/>
          <p:cNvGraphicFramePr/>
          <p:nvPr/>
        </p:nvGraphicFramePr>
        <p:xfrm>
          <a:off x="548640" y="1755648"/>
          <a:ext cx="54864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263640" y="1755648"/>
            <a:ext cx="5577840" cy="822960"/>
          </a:xfrm>
          <a:prstGeom prst="roundRect">
            <a:avLst>
              <a:gd name="adj" fmla="val 6667"/>
            </a:avLst>
          </a:prstGeom>
          <a:solidFill>
            <a:srgbClr val="F4F8FB"/>
          </a:solidFill>
          <a:ln w="12700">
            <a:solidFill>
              <a:srgbClr val="DCE7F0"/>
            </a:solidFill>
            <a:prstDash val="solid"/>
          </a:ln>
        </p:spPr>
      </p:sp>
      <p:sp>
        <p:nvSpPr>
          <p:cNvPr id="6" name="Shape 3"/>
          <p:cNvSpPr/>
          <p:nvPr/>
        </p:nvSpPr>
        <p:spPr>
          <a:xfrm>
            <a:off x="6446520" y="2039112"/>
            <a:ext cx="256032" cy="256032"/>
          </a:xfrm>
          <a:prstGeom prst="ellipse">
            <a:avLst/>
          </a:prstGeom>
          <a:solidFill>
            <a:srgbClr val="F2A65A"/>
          </a:solidFill>
          <a:ln/>
        </p:spPr>
      </p:sp>
      <p:sp>
        <p:nvSpPr>
          <p:cNvPr id="7" name="Text 4"/>
          <p:cNvSpPr/>
          <p:nvPr/>
        </p:nvSpPr>
        <p:spPr>
          <a:xfrm>
            <a:off x="6830568" y="1847088"/>
            <a:ext cx="4892040" cy="329184"/>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Value Loads</a:t>
            </a:r>
            <a:endParaRPr lang="en-US" sz="1400" dirty="0"/>
          </a:p>
        </p:txBody>
      </p:sp>
      <p:sp>
        <p:nvSpPr>
          <p:cNvPr id="8" name="Text 5"/>
          <p:cNvSpPr/>
          <p:nvPr/>
        </p:nvSpPr>
        <p:spPr>
          <a:xfrm>
            <a:off x="6830568" y="2167128"/>
            <a:ext cx="4892040" cy="384048"/>
          </a:xfrm>
          <a:prstGeom prst="rect">
            <a:avLst/>
          </a:prstGeom>
          <a:noFill/>
          <a:ln/>
        </p:spPr>
        <p:txBody>
          <a:bodyPr wrap="square" lIns="0" tIns="0" rIns="0" bIns="0" rtlCol="0" anchor="ctr"/>
          <a:lstStyle/>
          <a:p>
            <a:pPr marL="0" indent="0">
              <a:lnSpc>
                <a:spcPct val="98000"/>
              </a:lnSpc>
              <a:buNone/>
            </a:pPr>
            <a:r>
              <a:rPr lang="en-US" sz="1150" dirty="0">
                <a:solidFill>
                  <a:srgbClr val="6B7A8D"/>
                </a:solidFill>
                <a:latin typeface="Calibri" pitchFamily="34" charset="0"/>
                <a:ea typeface="Calibri" pitchFamily="34" charset="-122"/>
                <a:cs typeface="Calibri" pitchFamily="34" charset="-120"/>
              </a:rPr>
              <a:t>Exhaustive: happy, negative, idempotency, boundary, conservation. Direct money movement = highest risk.</a:t>
            </a:r>
            <a:endParaRPr lang="en-US" sz="1150" dirty="0"/>
          </a:p>
        </p:txBody>
      </p:sp>
      <p:sp>
        <p:nvSpPr>
          <p:cNvPr id="9" name="Shape 6"/>
          <p:cNvSpPr/>
          <p:nvPr/>
        </p:nvSpPr>
        <p:spPr>
          <a:xfrm>
            <a:off x="6263640" y="2670048"/>
            <a:ext cx="5577840" cy="822960"/>
          </a:xfrm>
          <a:prstGeom prst="roundRect">
            <a:avLst>
              <a:gd name="adj" fmla="val 6667"/>
            </a:avLst>
          </a:prstGeom>
          <a:solidFill>
            <a:srgbClr val="F4F8FB"/>
          </a:solidFill>
          <a:ln w="12700">
            <a:solidFill>
              <a:srgbClr val="DCE7F0"/>
            </a:solidFill>
            <a:prstDash val="solid"/>
          </a:ln>
        </p:spPr>
      </p:sp>
      <p:sp>
        <p:nvSpPr>
          <p:cNvPr id="10" name="Shape 7"/>
          <p:cNvSpPr/>
          <p:nvPr/>
        </p:nvSpPr>
        <p:spPr>
          <a:xfrm>
            <a:off x="6446520" y="2953512"/>
            <a:ext cx="256032" cy="256032"/>
          </a:xfrm>
          <a:prstGeom prst="ellipse">
            <a:avLst/>
          </a:prstGeom>
          <a:solidFill>
            <a:srgbClr val="1F3864"/>
          </a:solidFill>
          <a:ln/>
        </p:spPr>
      </p:sp>
      <p:sp>
        <p:nvSpPr>
          <p:cNvPr id="11" name="Text 8"/>
          <p:cNvSpPr/>
          <p:nvPr/>
        </p:nvSpPr>
        <p:spPr>
          <a:xfrm>
            <a:off x="6830568" y="2761488"/>
            <a:ext cx="4892040" cy="329184"/>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Accounts &amp; Cards</a:t>
            </a:r>
            <a:endParaRPr lang="en-US" sz="1400" dirty="0"/>
          </a:p>
        </p:txBody>
      </p:sp>
      <p:sp>
        <p:nvSpPr>
          <p:cNvPr id="12" name="Text 9"/>
          <p:cNvSpPr/>
          <p:nvPr/>
        </p:nvSpPr>
        <p:spPr>
          <a:xfrm>
            <a:off x="6830568" y="3081528"/>
            <a:ext cx="4892040" cy="384048"/>
          </a:xfrm>
          <a:prstGeom prst="rect">
            <a:avLst/>
          </a:prstGeom>
          <a:noFill/>
          <a:ln/>
        </p:spPr>
        <p:txBody>
          <a:bodyPr wrap="square" lIns="0" tIns="0" rIns="0" bIns="0" rtlCol="0" anchor="ctr"/>
          <a:lstStyle/>
          <a:p>
            <a:pPr marL="0" indent="0">
              <a:lnSpc>
                <a:spcPct val="98000"/>
              </a:lnSpc>
              <a:buNone/>
            </a:pPr>
            <a:r>
              <a:rPr lang="en-US" sz="1150" dirty="0">
                <a:solidFill>
                  <a:srgbClr val="6B7A8D"/>
                </a:solidFill>
                <a:latin typeface="Calibri" pitchFamily="34" charset="0"/>
                <a:ea typeface="Calibri" pitchFamily="34" charset="-122"/>
                <a:cs typeface="Calibri" pitchFamily="34" charset="-120"/>
              </a:rPr>
              <a:t>Full state machine. Balance integrity. Terminal states confirmed. Suspend/unsuspend reversible.</a:t>
            </a:r>
            <a:endParaRPr lang="en-US" sz="1150" dirty="0"/>
          </a:p>
        </p:txBody>
      </p:sp>
      <p:sp>
        <p:nvSpPr>
          <p:cNvPr id="13" name="Shape 10"/>
          <p:cNvSpPr/>
          <p:nvPr/>
        </p:nvSpPr>
        <p:spPr>
          <a:xfrm>
            <a:off x="6263640" y="3584448"/>
            <a:ext cx="5577840" cy="822960"/>
          </a:xfrm>
          <a:prstGeom prst="roundRect">
            <a:avLst>
              <a:gd name="adj" fmla="val 6667"/>
            </a:avLst>
          </a:prstGeom>
          <a:solidFill>
            <a:srgbClr val="F4F8FB"/>
          </a:solidFill>
          <a:ln w="12700">
            <a:solidFill>
              <a:srgbClr val="DCE7F0"/>
            </a:solidFill>
            <a:prstDash val="solid"/>
          </a:ln>
        </p:spPr>
      </p:sp>
      <p:sp>
        <p:nvSpPr>
          <p:cNvPr id="14" name="Shape 11"/>
          <p:cNvSpPr/>
          <p:nvPr/>
        </p:nvSpPr>
        <p:spPr>
          <a:xfrm>
            <a:off x="6446520" y="3867912"/>
            <a:ext cx="256032" cy="256032"/>
          </a:xfrm>
          <a:prstGeom prst="ellipse">
            <a:avLst/>
          </a:prstGeom>
          <a:solidFill>
            <a:srgbClr val="065A82"/>
          </a:solidFill>
          <a:ln/>
        </p:spPr>
      </p:sp>
      <p:sp>
        <p:nvSpPr>
          <p:cNvPr id="15" name="Text 12"/>
          <p:cNvSpPr/>
          <p:nvPr/>
        </p:nvSpPr>
        <p:spPr>
          <a:xfrm>
            <a:off x="6830568" y="3675888"/>
            <a:ext cx="4892040" cy="329184"/>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Cardholders</a:t>
            </a:r>
            <a:endParaRPr lang="en-US" sz="1400" dirty="0"/>
          </a:p>
        </p:txBody>
      </p:sp>
      <p:sp>
        <p:nvSpPr>
          <p:cNvPr id="16" name="Text 13"/>
          <p:cNvSpPr/>
          <p:nvPr/>
        </p:nvSpPr>
        <p:spPr>
          <a:xfrm>
            <a:off x="6830568" y="3995928"/>
            <a:ext cx="4892040" cy="384048"/>
          </a:xfrm>
          <a:prstGeom prst="rect">
            <a:avLst/>
          </a:prstGeom>
          <a:noFill/>
          <a:ln/>
        </p:spPr>
        <p:txBody>
          <a:bodyPr wrap="square" lIns="0" tIns="0" rIns="0" bIns="0" rtlCol="0" anchor="ctr"/>
          <a:lstStyle/>
          <a:p>
            <a:pPr marL="0" indent="0">
              <a:lnSpc>
                <a:spcPct val="98000"/>
              </a:lnSpc>
              <a:buNone/>
            </a:pPr>
            <a:r>
              <a:rPr lang="en-US" sz="1150" dirty="0">
                <a:solidFill>
                  <a:srgbClr val="6B7A8D"/>
                </a:solidFill>
                <a:latin typeface="Calibri" pitchFamily="34" charset="0"/>
                <a:ea typeface="Calibri" pitchFamily="34" charset="-122"/>
                <a:cs typeface="Calibri" pitchFamily="34" charset="-120"/>
              </a:rPr>
              <a:t>Full CRUD. KYC fields. Format validation. Address cooldown. Field length binary search.</a:t>
            </a:r>
            <a:endParaRPr lang="en-US" sz="1150" dirty="0"/>
          </a:p>
        </p:txBody>
      </p:sp>
      <p:sp>
        <p:nvSpPr>
          <p:cNvPr id="17" name="Shape 14"/>
          <p:cNvSpPr/>
          <p:nvPr/>
        </p:nvSpPr>
        <p:spPr>
          <a:xfrm>
            <a:off x="6263640" y="4498848"/>
            <a:ext cx="5577840" cy="822960"/>
          </a:xfrm>
          <a:prstGeom prst="roundRect">
            <a:avLst>
              <a:gd name="adj" fmla="val 6667"/>
            </a:avLst>
          </a:prstGeom>
          <a:solidFill>
            <a:srgbClr val="F4F8FB"/>
          </a:solidFill>
          <a:ln w="12700">
            <a:solidFill>
              <a:srgbClr val="DCE7F0"/>
            </a:solidFill>
            <a:prstDash val="solid"/>
          </a:ln>
        </p:spPr>
      </p:sp>
      <p:sp>
        <p:nvSpPr>
          <p:cNvPr id="18" name="Shape 15"/>
          <p:cNvSpPr/>
          <p:nvPr/>
        </p:nvSpPr>
        <p:spPr>
          <a:xfrm>
            <a:off x="6446520" y="4782312"/>
            <a:ext cx="256032" cy="256032"/>
          </a:xfrm>
          <a:prstGeom prst="ellipse">
            <a:avLst/>
          </a:prstGeom>
          <a:solidFill>
            <a:srgbClr val="6B7A8D"/>
          </a:solidFill>
          <a:ln/>
        </p:spPr>
      </p:sp>
      <p:sp>
        <p:nvSpPr>
          <p:cNvPr id="19" name="Text 16"/>
          <p:cNvSpPr/>
          <p:nvPr/>
        </p:nvSpPr>
        <p:spPr>
          <a:xfrm>
            <a:off x="6830568" y="4590288"/>
            <a:ext cx="4892040" cy="329184"/>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Programs</a:t>
            </a:r>
            <a:endParaRPr lang="en-US" sz="1400" dirty="0"/>
          </a:p>
        </p:txBody>
      </p:sp>
      <p:sp>
        <p:nvSpPr>
          <p:cNvPr id="20" name="Text 17"/>
          <p:cNvSpPr/>
          <p:nvPr/>
        </p:nvSpPr>
        <p:spPr>
          <a:xfrm>
            <a:off x="6830568" y="4910328"/>
            <a:ext cx="4892040" cy="384048"/>
          </a:xfrm>
          <a:prstGeom prst="rect">
            <a:avLst/>
          </a:prstGeom>
          <a:noFill/>
          <a:ln/>
        </p:spPr>
        <p:txBody>
          <a:bodyPr wrap="square" lIns="0" tIns="0" rIns="0" bIns="0" rtlCol="0" anchor="ctr"/>
          <a:lstStyle/>
          <a:p>
            <a:pPr marL="0" indent="0">
              <a:lnSpc>
                <a:spcPct val="98000"/>
              </a:lnSpc>
              <a:buNone/>
            </a:pPr>
            <a:r>
              <a:rPr lang="en-US" sz="1150" dirty="0">
                <a:solidFill>
                  <a:srgbClr val="6B7A8D"/>
                </a:solidFill>
                <a:latin typeface="Calibri" pitchFamily="34" charset="0"/>
                <a:ea typeface="Calibri" pitchFamily="34" charset="-122"/>
                <a:cs typeface="Calibri" pitchFamily="34" charset="-120"/>
              </a:rPr>
              <a:t>Read-only config + funding balance. Auth isolation. Independent of other suites.</a:t>
            </a:r>
            <a:endParaRPr lang="en-US" sz="1150" dirty="0"/>
          </a:p>
        </p:txBody>
      </p:sp>
      <p:sp>
        <p:nvSpPr>
          <p:cNvPr id="21" name="Text 18"/>
          <p:cNvSpPr/>
          <p:nvPr/>
        </p:nvSpPr>
        <p:spPr>
          <a:xfrm>
            <a:off x="548640" y="5486400"/>
            <a:ext cx="11064240" cy="749808"/>
          </a:xfrm>
          <a:prstGeom prst="rect">
            <a:avLst/>
          </a:prstGeom>
          <a:solidFill>
            <a:srgbClr val="FFF6EC"/>
          </a:solidFill>
          <a:ln w="12700">
            <a:solidFill>
              <a:srgbClr val="F2A65A"/>
            </a:solidFill>
          </a:ln>
        </p:spPr>
        <p:txBody>
          <a:bodyPr wrap="square" lIns="127000" tIns="127000" rIns="127000" bIns="127000" rtlCol="0" anchor="ctr"/>
          <a:lstStyle/>
          <a:p>
            <a:pPr marL="0" indent="0">
              <a:buNone/>
            </a:pPr>
            <a:r>
              <a:rPr lang="en-US" sz="1300" b="1" dirty="0">
                <a:solidFill>
                  <a:srgbClr val="1F3864"/>
                </a:solidFill>
                <a:latin typeface="Calibri" pitchFamily="34" charset="0"/>
                <a:ea typeface="Calibri" pitchFamily="34" charset="-122"/>
                <a:cs typeface="Calibri" pitchFamily="34" charset="-120"/>
              </a:rPr>
              <a:t>Don't quote a line-coverage %.  </a:t>
            </a:r>
            <a:r>
              <a:rPr lang="en-US" sz="1300" dirty="0">
                <a:solidFill>
                  <a:srgbClr val="1A2330"/>
                </a:solidFill>
                <a:latin typeface="Calibri" pitchFamily="34" charset="0"/>
                <a:ea typeface="Calibri" pitchFamily="34" charset="-122"/>
                <a:cs typeface="Calibri" pitchFamily="34" charset="-120"/>
              </a:rPr>
              <a:t>No source access — speak in requirement &amp; risk coverage: every endpoint, error, state transition, and money invariant has ≥1 test.</a:t>
            </a:r>
            <a:endParaRPr lang="en-US" sz="1300" dirty="0"/>
          </a:p>
        </p:txBody>
      </p:sp>
      <p:sp>
        <p:nvSpPr>
          <p:cNvPr id="22" name="Text 19"/>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05</a:t>
            </a:r>
            <a:endParaRPr lang="en-US" sz="1000" dirty="0"/>
          </a:p>
        </p:txBody>
      </p:sp>
      <p:sp>
        <p:nvSpPr>
          <p:cNvPr id="23" name="Text 20"/>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EMPIRICAL FINDINGS</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What we discovered by probing, not just reading the docs</a:t>
            </a:r>
            <a:endParaRPr lang="en-US" sz="3000" dirty="0"/>
          </a:p>
        </p:txBody>
      </p:sp>
      <p:sp>
        <p:nvSpPr>
          <p:cNvPr id="4" name="Shape 2"/>
          <p:cNvSpPr/>
          <p:nvPr/>
        </p:nvSpPr>
        <p:spPr>
          <a:xfrm>
            <a:off x="548640" y="1737360"/>
            <a:ext cx="3584448"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5" name="Shape 3"/>
          <p:cNvSpPr/>
          <p:nvPr/>
        </p:nvSpPr>
        <p:spPr>
          <a:xfrm>
            <a:off x="749808" y="1938528"/>
            <a:ext cx="640080" cy="640080"/>
          </a:xfrm>
          <a:prstGeom prst="ellipse">
            <a:avLst/>
          </a:prstGeom>
          <a:solidFill>
            <a:srgbClr val="1F3864"/>
          </a:solidFill>
          <a:ln/>
          <a:effectLst>
            <a:outerShdw blurRad="76200" dist="38100" dir="54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916229" y="2104949"/>
            <a:ext cx="307238" cy="307238"/>
          </a:xfrm>
          <a:prstGeom prst="rect">
            <a:avLst/>
          </a:prstGeom>
        </p:spPr>
      </p:pic>
      <p:sp>
        <p:nvSpPr>
          <p:cNvPr id="7" name="Text 4"/>
          <p:cNvSpPr/>
          <p:nvPr/>
        </p:nvSpPr>
        <p:spPr>
          <a:xfrm>
            <a:off x="1508760" y="1938528"/>
            <a:ext cx="2505456" cy="530352"/>
          </a:xfrm>
          <a:prstGeom prst="rect">
            <a:avLst/>
          </a:prstGeom>
          <a:noFill/>
          <a:ln/>
        </p:spPr>
        <p:txBody>
          <a:bodyPr wrap="square" lIns="0" tIns="0" rIns="0" bIns="0" rtlCol="0" anchor="ctr"/>
          <a:lstStyle/>
          <a:p>
            <a:pPr marL="0" indent="0">
              <a:buNone/>
            </a:pPr>
            <a:r>
              <a:rPr lang="en-US" sz="1350" b="1" dirty="0">
                <a:solidFill>
                  <a:srgbClr val="1A2330"/>
                </a:solidFill>
                <a:latin typeface="Cambria" pitchFamily="34" charset="0"/>
                <a:ea typeface="Cambria" pitchFamily="34" charset="-122"/>
                <a:cs typeface="Cambria" pitchFamily="34" charset="-120"/>
              </a:rPr>
              <a:t>Idempotency keys: globally scoped</a:t>
            </a:r>
            <a:endParaRPr lang="en-US" sz="1350" dirty="0"/>
          </a:p>
        </p:txBody>
      </p:sp>
      <p:sp>
        <p:nvSpPr>
          <p:cNvPr id="8" name="Text 5"/>
          <p:cNvSpPr/>
          <p:nvPr/>
        </p:nvSpPr>
        <p:spPr>
          <a:xfrm>
            <a:off x="749808" y="2670048"/>
            <a:ext cx="3236976" cy="914400"/>
          </a:xfrm>
          <a:prstGeom prst="rect">
            <a:avLst/>
          </a:prstGeom>
          <a:noFill/>
          <a:ln/>
        </p:spPr>
        <p:txBody>
          <a:bodyPr wrap="square" lIns="0" tIns="0" rIns="0" bIns="0" rtlCol="0" anchor="ctr"/>
          <a:lstStyle/>
          <a:p>
            <a:pPr marL="0" indent="0">
              <a:lnSpc>
                <a:spcPct val="100000"/>
              </a:lnSpc>
              <a:buNone/>
            </a:pPr>
            <a:r>
              <a:rPr lang="en-US" sz="1150" dirty="0">
                <a:solidFill>
                  <a:srgbClr val="6B7A8D"/>
                </a:solidFill>
                <a:latin typeface="Calibri" pitchFamily="34" charset="0"/>
                <a:ea typeface="Calibri" pitchFamily="34" charset="-122"/>
                <a:cs typeface="Calibri" pitchFamily="34" charset="-120"/>
              </a:rPr>
              <a:t>Assumed per-account. Confirmed global — same key on a DIFFERENT account returns duplicate_request. Every key must be globally unique.</a:t>
            </a:r>
            <a:endParaRPr lang="en-US" sz="1150" dirty="0"/>
          </a:p>
        </p:txBody>
      </p:sp>
      <p:sp>
        <p:nvSpPr>
          <p:cNvPr id="9" name="Shape 6"/>
          <p:cNvSpPr/>
          <p:nvPr/>
        </p:nvSpPr>
        <p:spPr>
          <a:xfrm>
            <a:off x="4334256" y="1737360"/>
            <a:ext cx="3584448"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10" name="Shape 7"/>
          <p:cNvSpPr/>
          <p:nvPr/>
        </p:nvSpPr>
        <p:spPr>
          <a:xfrm>
            <a:off x="4535424" y="1938528"/>
            <a:ext cx="640080" cy="640080"/>
          </a:xfrm>
          <a:prstGeom prst="ellipse">
            <a:avLst/>
          </a:prstGeom>
          <a:solidFill>
            <a:srgbClr val="9C0006"/>
          </a:solidFill>
          <a:ln/>
          <a:effectLst>
            <a:outerShdw blurRad="76200" dist="38100" dir="5400000" algn="bl" rotWithShape="0">
              <a:srgbClr val="000000">
                <a:alpha val="12000"/>
              </a:srgbClr>
            </a:outerShdw>
          </a:effectLst>
        </p:spPr>
      </p:sp>
      <p:pic>
        <p:nvPicPr>
          <p:cNvPr id="11" name="Image 1" descr="preencoded.png"/>
          <p:cNvPicPr>
            <a:picLocks noChangeAspect="1"/>
          </p:cNvPicPr>
          <p:nvPr/>
        </p:nvPicPr>
        <p:blipFill>
          <a:blip r:embed="rId4"/>
          <a:stretch>
            <a:fillRect/>
          </a:stretch>
        </p:blipFill>
        <p:spPr>
          <a:xfrm>
            <a:off x="4701845" y="2104949"/>
            <a:ext cx="307238" cy="307238"/>
          </a:xfrm>
          <a:prstGeom prst="rect">
            <a:avLst/>
          </a:prstGeom>
        </p:spPr>
      </p:pic>
      <p:sp>
        <p:nvSpPr>
          <p:cNvPr id="12" name="Text 8"/>
          <p:cNvSpPr/>
          <p:nvPr/>
        </p:nvSpPr>
        <p:spPr>
          <a:xfrm>
            <a:off x="5294376" y="1938528"/>
            <a:ext cx="2505456" cy="530352"/>
          </a:xfrm>
          <a:prstGeom prst="rect">
            <a:avLst/>
          </a:prstGeom>
          <a:noFill/>
          <a:ln/>
        </p:spPr>
        <p:txBody>
          <a:bodyPr wrap="square" lIns="0" tIns="0" rIns="0" bIns="0" rtlCol="0" anchor="ctr"/>
          <a:lstStyle/>
          <a:p>
            <a:pPr marL="0" indent="0">
              <a:buNone/>
            </a:pPr>
            <a:r>
              <a:rPr lang="en-US" sz="1350" b="1" dirty="0">
                <a:solidFill>
                  <a:srgbClr val="1A2330"/>
                </a:solidFill>
                <a:latin typeface="Cambria" pitchFamily="34" charset="0"/>
                <a:ea typeface="Cambria" pitchFamily="34" charset="-122"/>
                <a:cs typeface="Cambria" pitchFamily="34" charset="-120"/>
              </a:rPr>
              <a:t>date_of_birth: 3 formats, 1 API (BUG-1)</a:t>
            </a:r>
            <a:endParaRPr lang="en-US" sz="1350" dirty="0"/>
          </a:p>
        </p:txBody>
      </p:sp>
      <p:sp>
        <p:nvSpPr>
          <p:cNvPr id="13" name="Text 9"/>
          <p:cNvSpPr/>
          <p:nvPr/>
        </p:nvSpPr>
        <p:spPr>
          <a:xfrm>
            <a:off x="4535424" y="2670048"/>
            <a:ext cx="3236976" cy="914400"/>
          </a:xfrm>
          <a:prstGeom prst="rect">
            <a:avLst/>
          </a:prstGeom>
          <a:noFill/>
          <a:ln/>
        </p:spPr>
        <p:txBody>
          <a:bodyPr wrap="square" lIns="0" tIns="0" rIns="0" bIns="0" rtlCol="0" anchor="ctr"/>
          <a:lstStyle/>
          <a:p>
            <a:pPr marL="0" indent="0">
              <a:lnSpc>
                <a:spcPct val="100000"/>
              </a:lnSpc>
              <a:buNone/>
            </a:pPr>
            <a:r>
              <a:rPr lang="en-US" sz="1150" dirty="0">
                <a:solidFill>
                  <a:srgbClr val="6B7A8D"/>
                </a:solidFill>
                <a:latin typeface="Calibri" pitchFamily="34" charset="0"/>
                <a:ea typeface="Calibri" pitchFamily="34" charset="-122"/>
                <a:cs typeface="Calibri" pitchFamily="34" charset="-120"/>
              </a:rPr>
              <a:t>Create docs say dd-MM-yyyy. Update docs text says YYYY-MM-DD. OpenAPI example shows ISO timestamp. API only accepts dd-MM-yyyy. All three formats tested and documented.</a:t>
            </a:r>
            <a:endParaRPr lang="en-US" sz="1150" dirty="0"/>
          </a:p>
        </p:txBody>
      </p:sp>
      <p:sp>
        <p:nvSpPr>
          <p:cNvPr id="14" name="Shape 10"/>
          <p:cNvSpPr/>
          <p:nvPr/>
        </p:nvSpPr>
        <p:spPr>
          <a:xfrm>
            <a:off x="8119872" y="1737360"/>
            <a:ext cx="3584448"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15" name="Shape 11"/>
          <p:cNvSpPr/>
          <p:nvPr/>
        </p:nvSpPr>
        <p:spPr>
          <a:xfrm>
            <a:off x="8321040" y="1938528"/>
            <a:ext cx="640080" cy="640080"/>
          </a:xfrm>
          <a:prstGeom prst="ellipse">
            <a:avLst/>
          </a:prstGeom>
          <a:solidFill>
            <a:srgbClr val="065A82"/>
          </a:solidFill>
          <a:ln/>
          <a:effectLst>
            <a:outerShdw blurRad="76200" dist="38100" dir="5400000" algn="bl" rotWithShape="0">
              <a:srgbClr val="000000">
                <a:alpha val="12000"/>
              </a:srgbClr>
            </a:outerShdw>
          </a:effectLst>
        </p:spPr>
      </p:sp>
      <p:pic>
        <p:nvPicPr>
          <p:cNvPr id="16" name="Image 2" descr="preencoded.png"/>
          <p:cNvPicPr>
            <a:picLocks noChangeAspect="1"/>
          </p:cNvPicPr>
          <p:nvPr/>
        </p:nvPicPr>
        <p:blipFill>
          <a:blip r:embed="rId5"/>
          <a:stretch>
            <a:fillRect/>
          </a:stretch>
        </p:blipFill>
        <p:spPr>
          <a:xfrm>
            <a:off x="8487461" y="2104949"/>
            <a:ext cx="307238" cy="307238"/>
          </a:xfrm>
          <a:prstGeom prst="rect">
            <a:avLst/>
          </a:prstGeom>
        </p:spPr>
      </p:pic>
      <p:sp>
        <p:nvSpPr>
          <p:cNvPr id="17" name="Text 12"/>
          <p:cNvSpPr/>
          <p:nvPr/>
        </p:nvSpPr>
        <p:spPr>
          <a:xfrm>
            <a:off x="9079992" y="1938528"/>
            <a:ext cx="2505456" cy="530352"/>
          </a:xfrm>
          <a:prstGeom prst="rect">
            <a:avLst/>
          </a:prstGeom>
          <a:noFill/>
          <a:ln/>
        </p:spPr>
        <p:txBody>
          <a:bodyPr wrap="square" lIns="0" tIns="0" rIns="0" bIns="0" rtlCol="0" anchor="ctr"/>
          <a:lstStyle/>
          <a:p>
            <a:pPr marL="0" indent="0">
              <a:buNone/>
            </a:pPr>
            <a:r>
              <a:rPr lang="en-US" sz="1350" b="1" dirty="0">
                <a:solidFill>
                  <a:srgbClr val="1A2330"/>
                </a:solidFill>
                <a:latin typeface="Cambria" pitchFamily="34" charset="0"/>
                <a:ea typeface="Cambria" pitchFamily="34" charset="-122"/>
                <a:cs typeface="Cambria" pitchFamily="34" charset="-120"/>
              </a:rPr>
              <a:t>Field length hard limit: 60 chars</a:t>
            </a:r>
            <a:endParaRPr lang="en-US" sz="1350" dirty="0"/>
          </a:p>
        </p:txBody>
      </p:sp>
      <p:sp>
        <p:nvSpPr>
          <p:cNvPr id="18" name="Text 13"/>
          <p:cNvSpPr/>
          <p:nvPr/>
        </p:nvSpPr>
        <p:spPr>
          <a:xfrm>
            <a:off x="8321040" y="2670048"/>
            <a:ext cx="3236976" cy="914400"/>
          </a:xfrm>
          <a:prstGeom prst="rect">
            <a:avLst/>
          </a:prstGeom>
          <a:noFill/>
          <a:ln/>
        </p:spPr>
        <p:txBody>
          <a:bodyPr wrap="square" lIns="0" tIns="0" rIns="0" bIns="0" rtlCol="0" anchor="ctr"/>
          <a:lstStyle/>
          <a:p>
            <a:pPr marL="0" indent="0">
              <a:lnSpc>
                <a:spcPct val="100000"/>
              </a:lnSpc>
              <a:buNone/>
            </a:pPr>
            <a:r>
              <a:rPr lang="en-US" sz="1150" dirty="0">
                <a:solidFill>
                  <a:srgbClr val="6B7A8D"/>
                </a:solidFill>
                <a:latin typeface="Calibri" pitchFamily="34" charset="0"/>
                <a:ea typeface="Calibri" pitchFamily="34" charset="-122"/>
                <a:cs typeface="Calibri" pitchFamily="34" charset="-120"/>
              </a:rPr>
              <a:t>Docs say maxLength 50. Binary search (6 API calls) confirmed: 60 accepted, 61 rejected. Hard limit was undocumented.</a:t>
            </a:r>
            <a:endParaRPr lang="en-US" sz="1150" dirty="0"/>
          </a:p>
        </p:txBody>
      </p:sp>
      <p:sp>
        <p:nvSpPr>
          <p:cNvPr id="19" name="Shape 14"/>
          <p:cNvSpPr/>
          <p:nvPr/>
        </p:nvSpPr>
        <p:spPr>
          <a:xfrm>
            <a:off x="548640" y="3840480"/>
            <a:ext cx="3584448"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20" name="Shape 15"/>
          <p:cNvSpPr/>
          <p:nvPr/>
        </p:nvSpPr>
        <p:spPr>
          <a:xfrm>
            <a:off x="749808" y="4041648"/>
            <a:ext cx="640080" cy="640080"/>
          </a:xfrm>
          <a:prstGeom prst="ellipse">
            <a:avLst/>
          </a:prstGeom>
          <a:solidFill>
            <a:srgbClr val="F2A65A"/>
          </a:solidFill>
          <a:ln/>
          <a:effectLst>
            <a:outerShdw blurRad="76200" dist="38100" dir="5400000" algn="bl" rotWithShape="0">
              <a:srgbClr val="000000">
                <a:alpha val="12000"/>
              </a:srgbClr>
            </a:outerShdw>
          </a:effectLst>
        </p:spPr>
      </p:sp>
      <p:pic>
        <p:nvPicPr>
          <p:cNvPr id="21" name="Image 3" descr="preencoded.png"/>
          <p:cNvPicPr>
            <a:picLocks noChangeAspect="1"/>
          </p:cNvPicPr>
          <p:nvPr/>
        </p:nvPicPr>
        <p:blipFill>
          <a:blip r:embed="rId6"/>
          <a:stretch>
            <a:fillRect/>
          </a:stretch>
        </p:blipFill>
        <p:spPr>
          <a:xfrm>
            <a:off x="916229" y="4208069"/>
            <a:ext cx="307238" cy="307238"/>
          </a:xfrm>
          <a:prstGeom prst="rect">
            <a:avLst/>
          </a:prstGeom>
        </p:spPr>
      </p:pic>
      <p:sp>
        <p:nvSpPr>
          <p:cNvPr id="22" name="Text 16"/>
          <p:cNvSpPr/>
          <p:nvPr/>
        </p:nvSpPr>
        <p:spPr>
          <a:xfrm>
            <a:off x="1508760" y="4041648"/>
            <a:ext cx="2505456" cy="530352"/>
          </a:xfrm>
          <a:prstGeom prst="rect">
            <a:avLst/>
          </a:prstGeom>
          <a:noFill/>
          <a:ln/>
        </p:spPr>
        <p:txBody>
          <a:bodyPr wrap="square" lIns="0" tIns="0" rIns="0" bIns="0" rtlCol="0" anchor="ctr"/>
          <a:lstStyle/>
          <a:p>
            <a:pPr marL="0" indent="0">
              <a:buNone/>
            </a:pPr>
            <a:r>
              <a:rPr lang="en-US" sz="1350" b="1" dirty="0">
                <a:solidFill>
                  <a:srgbClr val="1A2330"/>
                </a:solidFill>
                <a:latin typeface="Cambria" pitchFamily="34" charset="0"/>
                <a:ea typeface="Cambria" pitchFamily="34" charset="-122"/>
                <a:cs typeface="Cambria" pitchFamily="34" charset="-120"/>
              </a:rPr>
              <a:t>Phone: required for Canadian programs</a:t>
            </a:r>
            <a:endParaRPr lang="en-US" sz="1350" dirty="0"/>
          </a:p>
        </p:txBody>
      </p:sp>
      <p:sp>
        <p:nvSpPr>
          <p:cNvPr id="23" name="Text 17"/>
          <p:cNvSpPr/>
          <p:nvPr/>
        </p:nvSpPr>
        <p:spPr>
          <a:xfrm>
            <a:off x="749808" y="4773168"/>
            <a:ext cx="3236976" cy="914400"/>
          </a:xfrm>
          <a:prstGeom prst="rect">
            <a:avLst/>
          </a:prstGeom>
          <a:noFill/>
          <a:ln/>
        </p:spPr>
        <p:txBody>
          <a:bodyPr wrap="square" lIns="0" tIns="0" rIns="0" bIns="0" rtlCol="0" anchor="ctr"/>
          <a:lstStyle/>
          <a:p>
            <a:pPr marL="0" indent="0">
              <a:lnSpc>
                <a:spcPct val="100000"/>
              </a:lnSpc>
              <a:buNone/>
            </a:pPr>
            <a:r>
              <a:rPr lang="en-US" sz="1150" dirty="0">
                <a:solidFill>
                  <a:srgbClr val="6B7A8D"/>
                </a:solidFill>
                <a:latin typeface="Calibri" pitchFamily="34" charset="0"/>
                <a:ea typeface="Calibri" pitchFamily="34" charset="-122"/>
                <a:cs typeface="Calibri" pitchFamily="34" charset="-120"/>
              </a:rPr>
              <a:t>Docs say optional. Program 137 (CAD) enforces phone — omitting returns invalid_cardholder error with explicit message.</a:t>
            </a:r>
            <a:endParaRPr lang="en-US" sz="1150" dirty="0"/>
          </a:p>
        </p:txBody>
      </p:sp>
      <p:sp>
        <p:nvSpPr>
          <p:cNvPr id="24" name="Shape 18"/>
          <p:cNvSpPr/>
          <p:nvPr/>
        </p:nvSpPr>
        <p:spPr>
          <a:xfrm>
            <a:off x="4334256" y="3840480"/>
            <a:ext cx="3584448"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25" name="Shape 19"/>
          <p:cNvSpPr/>
          <p:nvPr/>
        </p:nvSpPr>
        <p:spPr>
          <a:xfrm>
            <a:off x="4535424" y="4041648"/>
            <a:ext cx="640080" cy="640080"/>
          </a:xfrm>
          <a:prstGeom prst="ellipse">
            <a:avLst/>
          </a:prstGeom>
          <a:solidFill>
            <a:srgbClr val="7F6000"/>
          </a:solidFill>
          <a:ln/>
          <a:effectLst>
            <a:outerShdw blurRad="76200" dist="38100" dir="5400000" algn="bl" rotWithShape="0">
              <a:srgbClr val="000000">
                <a:alpha val="12000"/>
              </a:srgbClr>
            </a:outerShdw>
          </a:effectLst>
        </p:spPr>
      </p:sp>
      <p:pic>
        <p:nvPicPr>
          <p:cNvPr id="26" name="Image 4" descr="preencoded.png"/>
          <p:cNvPicPr>
            <a:picLocks noChangeAspect="1"/>
          </p:cNvPicPr>
          <p:nvPr/>
        </p:nvPicPr>
        <p:blipFill>
          <a:blip r:embed="rId7"/>
          <a:stretch>
            <a:fillRect/>
          </a:stretch>
        </p:blipFill>
        <p:spPr>
          <a:xfrm>
            <a:off x="4701845" y="4208069"/>
            <a:ext cx="307238" cy="307238"/>
          </a:xfrm>
          <a:prstGeom prst="rect">
            <a:avLst/>
          </a:prstGeom>
        </p:spPr>
      </p:pic>
      <p:sp>
        <p:nvSpPr>
          <p:cNvPr id="27" name="Text 20"/>
          <p:cNvSpPr/>
          <p:nvPr/>
        </p:nvSpPr>
        <p:spPr>
          <a:xfrm>
            <a:off x="5294376" y="4041648"/>
            <a:ext cx="2505456" cy="530352"/>
          </a:xfrm>
          <a:prstGeom prst="rect">
            <a:avLst/>
          </a:prstGeom>
          <a:noFill/>
          <a:ln/>
        </p:spPr>
        <p:txBody>
          <a:bodyPr wrap="square" lIns="0" tIns="0" rIns="0" bIns="0" rtlCol="0" anchor="ctr"/>
          <a:lstStyle/>
          <a:p>
            <a:pPr marL="0" indent="0">
              <a:buNone/>
            </a:pPr>
            <a:r>
              <a:rPr lang="en-US" sz="1350" b="1" dirty="0">
                <a:solidFill>
                  <a:srgbClr val="1A2330"/>
                </a:solidFill>
                <a:latin typeface="Cambria" pitchFamily="34" charset="0"/>
                <a:ea typeface="Cambria" pitchFamily="34" charset="-122"/>
                <a:cs typeface="Cambria" pitchFamily="34" charset="-120"/>
              </a:rPr>
              <a:t>Balance unit mismatch: minor in, major out</a:t>
            </a:r>
            <a:endParaRPr lang="en-US" sz="1350" dirty="0"/>
          </a:p>
        </p:txBody>
      </p:sp>
      <p:sp>
        <p:nvSpPr>
          <p:cNvPr id="28" name="Text 21"/>
          <p:cNvSpPr/>
          <p:nvPr/>
        </p:nvSpPr>
        <p:spPr>
          <a:xfrm>
            <a:off x="4535424" y="4773168"/>
            <a:ext cx="3236976" cy="914400"/>
          </a:xfrm>
          <a:prstGeom prst="rect">
            <a:avLst/>
          </a:prstGeom>
          <a:noFill/>
          <a:ln/>
        </p:spPr>
        <p:txBody>
          <a:bodyPr wrap="square" lIns="0" tIns="0" rIns="0" bIns="0" rtlCol="0" anchor="ctr"/>
          <a:lstStyle/>
          <a:p>
            <a:pPr marL="0" indent="0">
              <a:lnSpc>
                <a:spcPct val="100000"/>
              </a:lnSpc>
              <a:buNone/>
            </a:pPr>
            <a:r>
              <a:rPr lang="en-US" sz="1150" dirty="0">
                <a:solidFill>
                  <a:srgbClr val="6B7A8D"/>
                </a:solidFill>
                <a:latin typeface="Calibri" pitchFamily="34" charset="0"/>
                <a:ea typeface="Calibri" pitchFamily="34" charset="-122"/>
                <a:cs typeface="Calibri" pitchFamily="34" charset="-120"/>
              </a:rPr>
              <a:t>Amounts sent in minor units (500 = $5.00). Balances returned in major units ("5.00"). Undocumented. Our tests now assert delta === amount/100.</a:t>
            </a:r>
            <a:endParaRPr lang="en-US" sz="1150" dirty="0"/>
          </a:p>
        </p:txBody>
      </p:sp>
      <p:sp>
        <p:nvSpPr>
          <p:cNvPr id="29" name="Shape 22"/>
          <p:cNvSpPr/>
          <p:nvPr/>
        </p:nvSpPr>
        <p:spPr>
          <a:xfrm>
            <a:off x="8119872" y="3840480"/>
            <a:ext cx="3584448"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30" name="Shape 23"/>
          <p:cNvSpPr/>
          <p:nvPr/>
        </p:nvSpPr>
        <p:spPr>
          <a:xfrm>
            <a:off x="8321040" y="4041648"/>
            <a:ext cx="640080" cy="640080"/>
          </a:xfrm>
          <a:prstGeom prst="ellipse">
            <a:avLst/>
          </a:prstGeom>
          <a:solidFill>
            <a:srgbClr val="6B7A8D"/>
          </a:solidFill>
          <a:ln/>
          <a:effectLst>
            <a:outerShdw blurRad="76200" dist="38100" dir="5400000" algn="bl" rotWithShape="0">
              <a:srgbClr val="000000">
                <a:alpha val="12000"/>
              </a:srgbClr>
            </a:outerShdw>
          </a:effectLst>
        </p:spPr>
      </p:sp>
      <p:pic>
        <p:nvPicPr>
          <p:cNvPr id="31" name="Image 5" descr="preencoded.png"/>
          <p:cNvPicPr>
            <a:picLocks noChangeAspect="1"/>
          </p:cNvPicPr>
          <p:nvPr/>
        </p:nvPicPr>
        <p:blipFill>
          <a:blip r:embed="rId8"/>
          <a:stretch>
            <a:fillRect/>
          </a:stretch>
        </p:blipFill>
        <p:spPr>
          <a:xfrm>
            <a:off x="8487461" y="4208069"/>
            <a:ext cx="307238" cy="307238"/>
          </a:xfrm>
          <a:prstGeom prst="rect">
            <a:avLst/>
          </a:prstGeom>
        </p:spPr>
      </p:pic>
      <p:sp>
        <p:nvSpPr>
          <p:cNvPr id="32" name="Text 24"/>
          <p:cNvSpPr/>
          <p:nvPr/>
        </p:nvSpPr>
        <p:spPr>
          <a:xfrm>
            <a:off x="9079992" y="4041648"/>
            <a:ext cx="2505456" cy="530352"/>
          </a:xfrm>
          <a:prstGeom prst="rect">
            <a:avLst/>
          </a:prstGeom>
          <a:noFill/>
          <a:ln/>
        </p:spPr>
        <p:txBody>
          <a:bodyPr wrap="square" lIns="0" tIns="0" rIns="0" bIns="0" rtlCol="0" anchor="ctr"/>
          <a:lstStyle/>
          <a:p>
            <a:pPr marL="0" indent="0">
              <a:buNone/>
            </a:pPr>
            <a:r>
              <a:rPr lang="en-US" sz="1350" b="1" dirty="0">
                <a:solidFill>
                  <a:srgbClr val="1A2330"/>
                </a:solidFill>
                <a:latin typeface="Cambria" pitchFamily="34" charset="0"/>
                <a:ea typeface="Cambria" pitchFamily="34" charset="-122"/>
                <a:cs typeface="Cambria" pitchFamily="34" charset="-120"/>
              </a:rPr>
              <a:t>external_tag: optional despite docs saying required</a:t>
            </a:r>
            <a:endParaRPr lang="en-US" sz="1350" dirty="0"/>
          </a:p>
        </p:txBody>
      </p:sp>
      <p:sp>
        <p:nvSpPr>
          <p:cNvPr id="33" name="Text 25"/>
          <p:cNvSpPr/>
          <p:nvPr/>
        </p:nvSpPr>
        <p:spPr>
          <a:xfrm>
            <a:off x="8321040" y="4773168"/>
            <a:ext cx="3236976" cy="914400"/>
          </a:xfrm>
          <a:prstGeom prst="rect">
            <a:avLst/>
          </a:prstGeom>
          <a:noFill/>
          <a:ln/>
        </p:spPr>
        <p:txBody>
          <a:bodyPr wrap="square" lIns="0" tIns="0" rIns="0" bIns="0" rtlCol="0" anchor="ctr"/>
          <a:lstStyle/>
          <a:p>
            <a:pPr marL="0" indent="0">
              <a:lnSpc>
                <a:spcPct val="100000"/>
              </a:lnSpc>
              <a:buNone/>
            </a:pPr>
            <a:r>
              <a:rPr lang="en-US" sz="1150" dirty="0">
                <a:solidFill>
                  <a:srgbClr val="6B7A8D"/>
                </a:solidFill>
                <a:latin typeface="Calibri" pitchFamily="34" charset="0"/>
                <a:ea typeface="Calibri" pitchFamily="34" charset="-122"/>
                <a:cs typeface="Calibri" pitchFamily="34" charset="-120"/>
              </a:rPr>
              <a:t>Markdown table says Yes (required). OpenAPI schema has no required array. API accepts without it — returns 201. Docs are wrong.</a:t>
            </a:r>
            <a:endParaRPr lang="en-US" sz="1150" dirty="0"/>
          </a:p>
        </p:txBody>
      </p:sp>
      <p:sp>
        <p:nvSpPr>
          <p:cNvPr id="34" name="Text 26"/>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06</a:t>
            </a:r>
            <a:endParaRPr lang="en-US" sz="1000" dirty="0"/>
          </a:p>
        </p:txBody>
      </p:sp>
      <p:sp>
        <p:nvSpPr>
          <p:cNvPr id="35" name="Text 27"/>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BUG DOCUMENTATION</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Three documented API / documentation defects (with citations)</a:t>
            </a:r>
            <a:endParaRPr lang="en-US" sz="3000" dirty="0"/>
          </a:p>
        </p:txBody>
      </p:sp>
      <p:sp>
        <p:nvSpPr>
          <p:cNvPr id="4" name="Text 2"/>
          <p:cNvSpPr/>
          <p:nvPr/>
        </p:nvSpPr>
        <p:spPr>
          <a:xfrm>
            <a:off x="548640" y="1719072"/>
            <a:ext cx="11064240" cy="329184"/>
          </a:xfrm>
          <a:prstGeom prst="rect">
            <a:avLst/>
          </a:prstGeom>
          <a:noFill/>
          <a:ln/>
        </p:spPr>
        <p:txBody>
          <a:bodyPr wrap="square" lIns="0" tIns="0" rIns="0" bIns="0" rtlCol="0" anchor="ctr"/>
          <a:lstStyle/>
          <a:p>
            <a:pPr marL="0" indent="0">
              <a:buNone/>
            </a:pPr>
            <a:r>
              <a:rPr lang="en-US" sz="1400" b="1" dirty="0">
                <a:solidFill>
                  <a:srgbClr val="9C0006"/>
                </a:solidFill>
                <a:latin typeface="Calibri" pitchFamily="34" charset="0"/>
                <a:ea typeface="Calibri" pitchFamily="34" charset="-122"/>
                <a:cs typeface="Calibri" pitchFamily="34" charset="-120"/>
              </a:rPr>
              <a:t>BUG-1: date_of_birth format: three formats stated, one accepted</a:t>
            </a:r>
            <a:endParaRPr lang="en-US" sz="1400" dirty="0"/>
          </a:p>
        </p:txBody>
      </p:sp>
      <p:sp>
        <p:nvSpPr>
          <p:cNvPr id="5" name="Text 3"/>
          <p:cNvSpPr/>
          <p:nvPr/>
        </p:nvSpPr>
        <p:spPr>
          <a:xfrm>
            <a:off x="685800" y="2507526"/>
            <a:ext cx="10972800" cy="0"/>
          </a:xfrm>
          <a:prstGeom prst="rect">
            <a:avLst/>
          </a:prstGeom>
          <a:solidFill>
            <a:srgbClr val="F4F8FB"/>
          </a:solidFill>
          <a:ln w="6350">
            <a:solidFill>
              <a:srgbClr val="DCE7F0"/>
            </a:solidFill>
          </a:ln>
        </p:spPr>
        <p:txBody>
          <a:bodyPr wrap="square" lIns="0" tIns="0" rIns="0" bIns="0" rtlCol="0" anchor="ctr"/>
          <a:lstStyle/>
          <a:p>
            <a:pPr marL="0" indent="0">
              <a:buNone/>
            </a:pPr>
            <a:r>
              <a:rPr lang="en-US" sz="1100" dirty="0">
                <a:solidFill>
                  <a:srgbClr val="1A2330"/>
                </a:solidFill>
                <a:latin typeface="Calibri" pitchFamily="34" charset="0"/>
                <a:ea typeface="Calibri" pitchFamily="34" charset="-122"/>
                <a:cs typeface="Calibri" pitchFamily="34" charset="-120"/>
              </a:rPr>
              <a:t>Source | URL | Field | Docs say | Status</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Create Cardholder docs | /reference/createcardholder-1.md | dd-MM-yyyy | 13-01-1990 | ✅ Works</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Update Cardholder docs text | /reference/updatecardholder-1.md | YYYY-MM-DD | 1980-01-01 | ❌ Rejected by API</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Update Cardholder OpenAPI example | Same page | ISO 8601 timestamp | 1980-01-01T00:00:00.000Z | ❌ Rejected by API</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 Tests: 4 passing tests assert dd-MM-yyyy works on both endpoints and the documented formats are rejected.</a:t>
            </a:r>
            <a:endParaRPr lang="en-US" sz="1100" dirty="0"/>
          </a:p>
        </p:txBody>
      </p:sp>
      <p:sp>
        <p:nvSpPr>
          <p:cNvPr id="6" name="Text 4"/>
          <p:cNvSpPr/>
          <p:nvPr/>
        </p:nvSpPr>
        <p:spPr>
          <a:xfrm>
            <a:off x="548640" y="3456432"/>
            <a:ext cx="11064240" cy="329184"/>
          </a:xfrm>
          <a:prstGeom prst="rect">
            <a:avLst/>
          </a:prstGeom>
          <a:noFill/>
          <a:ln/>
        </p:spPr>
        <p:txBody>
          <a:bodyPr wrap="square" lIns="0" tIns="0" rIns="0" bIns="0" rtlCol="0" anchor="ctr"/>
          <a:lstStyle/>
          <a:p>
            <a:pPr marL="0" indent="0">
              <a:buNone/>
            </a:pPr>
            <a:r>
              <a:rPr lang="en-US" sz="1400" b="1" dirty="0">
                <a:solidFill>
                  <a:srgbClr val="F2A65A"/>
                </a:solidFill>
                <a:latin typeface="Calibri" pitchFamily="34" charset="0"/>
                <a:ea typeface="Calibri" pitchFamily="34" charset="-122"/>
                <a:cs typeface="Calibri" pitchFamily="34" charset="-120"/>
              </a:rPr>
              <a:t>BUG-2: external_tag: markdown table says required; OpenAPI schema and API say optional</a:t>
            </a:r>
            <a:endParaRPr lang="en-US" sz="1400" dirty="0"/>
          </a:p>
        </p:txBody>
      </p:sp>
      <p:sp>
        <p:nvSpPr>
          <p:cNvPr id="7" name="Text 5"/>
          <p:cNvSpPr/>
          <p:nvPr/>
        </p:nvSpPr>
        <p:spPr>
          <a:xfrm>
            <a:off x="685800" y="4167249"/>
            <a:ext cx="10972800" cy="0"/>
          </a:xfrm>
          <a:prstGeom prst="rect">
            <a:avLst/>
          </a:prstGeom>
          <a:solidFill>
            <a:srgbClr val="F4F8FB"/>
          </a:solidFill>
          <a:ln w="6350">
            <a:solidFill>
              <a:srgbClr val="DCE7F0"/>
            </a:solidFill>
          </a:ln>
        </p:spPr>
        <p:txBody>
          <a:bodyPr wrap="square" lIns="0" tIns="0" rIns="0" bIns="0" rtlCol="0" anchor="ctr"/>
          <a:lstStyle/>
          <a:p>
            <a:pPr marL="0" indent="0">
              <a:buNone/>
            </a:pPr>
            <a:r>
              <a:rPr lang="en-US" sz="1100" dirty="0">
                <a:solidFill>
                  <a:srgbClr val="1A2330"/>
                </a:solidFill>
                <a:latin typeface="Calibri" pitchFamily="34" charset="0"/>
                <a:ea typeface="Calibri" pitchFamily="34" charset="-122"/>
                <a:cs typeface="Calibri" pitchFamily="34" charset="-120"/>
              </a:rPr>
              <a:t>Source | URL | Field | Docs say | Status</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Value Load markdown table | /reference/createvalueload.md | external_tag | Yes (required) | ❌ Wrong</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Value Load OpenAPI schema | Same page | external_tag | Not in required[] | ✅ Accurate</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Live API | Staging | Without external_tag | 201 returned | external_tag is optional</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 Fix applied: our OpenAPI spec updated. Berkeley should correct the markdown table.</a:t>
            </a:r>
            <a:endParaRPr lang="en-US" sz="1100" dirty="0"/>
          </a:p>
        </p:txBody>
      </p:sp>
      <p:sp>
        <p:nvSpPr>
          <p:cNvPr id="8" name="Text 6"/>
          <p:cNvSpPr/>
          <p:nvPr/>
        </p:nvSpPr>
        <p:spPr>
          <a:xfrm>
            <a:off x="548640" y="5193792"/>
            <a:ext cx="11064240" cy="329184"/>
          </a:xfrm>
          <a:prstGeom prst="rect">
            <a:avLst/>
          </a:prstGeom>
          <a:noFill/>
          <a:ln/>
        </p:spPr>
        <p:txBody>
          <a:bodyPr wrap="square" lIns="0" tIns="0" rIns="0" bIns="0" rtlCol="0" anchor="ctr"/>
          <a:lstStyle/>
          <a:p>
            <a:pPr marL="0" indent="0">
              <a:buNone/>
            </a:pPr>
            <a:r>
              <a:rPr lang="en-US" sz="1400" b="1" dirty="0">
                <a:solidFill>
                  <a:srgbClr val="7F6000"/>
                </a:solidFill>
                <a:latin typeface="Calibri" pitchFamily="34" charset="0"/>
                <a:ea typeface="Calibri" pitchFamily="34" charset="-122"/>
                <a:cs typeface="Calibri" pitchFamily="34" charset="-120"/>
              </a:rPr>
              <a:t>BUG-3: Unit system inconsistency: minor units in, major units out — completely undocumented</a:t>
            </a:r>
            <a:endParaRPr lang="en-US" sz="1400" dirty="0"/>
          </a:p>
        </p:txBody>
      </p:sp>
      <p:sp>
        <p:nvSpPr>
          <p:cNvPr id="9" name="Text 7"/>
          <p:cNvSpPr/>
          <p:nvPr/>
        </p:nvSpPr>
        <p:spPr>
          <a:xfrm>
            <a:off x="685800" y="5870103"/>
            <a:ext cx="10972800" cy="0"/>
          </a:xfrm>
          <a:prstGeom prst="rect">
            <a:avLst/>
          </a:prstGeom>
          <a:solidFill>
            <a:srgbClr val="F4F8FB"/>
          </a:solidFill>
          <a:ln w="6350">
            <a:solidFill>
              <a:srgbClr val="DCE7F0"/>
            </a:solidFill>
          </a:ln>
        </p:spPr>
        <p:txBody>
          <a:bodyPr wrap="square" lIns="0" tIns="0" rIns="0" bIns="0" rtlCol="0" anchor="ctr"/>
          <a:lstStyle/>
          <a:p>
            <a:pPr marL="0" indent="0">
              <a:buNone/>
            </a:pPr>
            <a:r>
              <a:rPr lang="en-US" sz="1100" dirty="0">
                <a:solidFill>
                  <a:srgbClr val="1A2330"/>
                </a:solidFill>
                <a:latin typeface="Calibri" pitchFamily="34" charset="0"/>
                <a:ea typeface="Calibri" pitchFamily="34" charset="-122"/>
                <a:cs typeface="Calibri" pitchFamily="34" charset="-120"/>
              </a:rPr>
              <a:t>Context | Unit system | Example | Note</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Load/unload amount field | Minor units (cents) | 500 = $5.00 | Not documented — only inferred from example</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Balance response fields | Major units (dollars) | "5.00" = $5.00 | Shows as decimal string in all examples</a:t>
            </a:r>
            <a:endParaRPr lang="en-US" sz="1100" dirty="0"/>
          </a:p>
          <a:p>
            <a:pPr marL="0" indent="0">
              <a:buNone/>
            </a:pPr>
            <a:r>
              <a:rPr lang="en-US" sz="1100" dirty="0">
                <a:solidFill>
                  <a:srgbClr val="1A2330"/>
                </a:solidFill>
                <a:latin typeface="Calibri" pitchFamily="34" charset="0"/>
                <a:ea typeface="Calibri" pitchFamily="34" charset="-122"/>
                <a:cs typeface="Calibri" pitchFamily="34" charset="-120"/>
              </a:rPr>
              <a:t>→ Impact: integrators who compare load amounts to balance deltas without converting see a 100× discrepancy. Recommend Berkeley add a clear note to every amount and balance field.</a:t>
            </a:r>
            <a:endParaRPr lang="en-US" sz="1100" dirty="0"/>
          </a:p>
        </p:txBody>
      </p:sp>
      <p:sp>
        <p:nvSpPr>
          <p:cNvPr id="10" name="Text 8"/>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07</a:t>
            </a:r>
            <a:endParaRPr lang="en-US" sz="1000" dirty="0"/>
          </a:p>
        </p:txBody>
      </p:sp>
      <p:sp>
        <p:nvSpPr>
          <p:cNvPr id="11" name="Text 9"/>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PERFORMANCE &amp; LOAD</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Load testing from the outside — Artillery, local only</a:t>
            </a:r>
            <a:endParaRPr lang="en-US" sz="3000" dirty="0"/>
          </a:p>
        </p:txBody>
      </p:sp>
      <p:sp>
        <p:nvSpPr>
          <p:cNvPr id="4" name="Shape 2"/>
          <p:cNvSpPr/>
          <p:nvPr/>
        </p:nvSpPr>
        <p:spPr>
          <a:xfrm>
            <a:off x="548640" y="1755648"/>
            <a:ext cx="5303520" cy="3931920"/>
          </a:xfrm>
          <a:prstGeom prst="roundRect">
            <a:avLst>
              <a:gd name="adj" fmla="val 1860"/>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5" name="Shape 3"/>
          <p:cNvSpPr/>
          <p:nvPr/>
        </p:nvSpPr>
        <p:spPr>
          <a:xfrm>
            <a:off x="822960" y="2029968"/>
            <a:ext cx="749808" cy="749808"/>
          </a:xfrm>
          <a:prstGeom prst="ellipse">
            <a:avLst/>
          </a:prstGeom>
          <a:solidFill>
            <a:srgbClr val="1F3864"/>
          </a:solidFill>
          <a:ln/>
          <a:effectLst>
            <a:outerShdw blurRad="76200" dist="38100" dir="54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17910" y="2224918"/>
            <a:ext cx="359908" cy="359908"/>
          </a:xfrm>
          <a:prstGeom prst="rect">
            <a:avLst/>
          </a:prstGeom>
        </p:spPr>
      </p:pic>
      <p:sp>
        <p:nvSpPr>
          <p:cNvPr id="7" name="Text 4"/>
          <p:cNvSpPr/>
          <p:nvPr/>
        </p:nvSpPr>
        <p:spPr>
          <a:xfrm>
            <a:off x="1691640" y="2121408"/>
            <a:ext cx="3977640" cy="548640"/>
          </a:xfrm>
          <a:prstGeom prst="rect">
            <a:avLst/>
          </a:prstGeom>
          <a:noFill/>
          <a:ln/>
        </p:spPr>
        <p:txBody>
          <a:bodyPr wrap="square" lIns="0" tIns="0" rIns="0" bIns="0" rtlCol="0" anchor="ctr"/>
          <a:lstStyle/>
          <a:p>
            <a:pPr marL="0" indent="0">
              <a:buNone/>
            </a:pPr>
            <a:r>
              <a:rPr lang="en-US" sz="1600" b="1" dirty="0">
                <a:solidFill>
                  <a:srgbClr val="1A2330"/>
                </a:solidFill>
                <a:latin typeface="Cambria" pitchFamily="34" charset="0"/>
                <a:ea typeface="Cambria" pitchFamily="34" charset="-122"/>
                <a:cs typeface="Cambria" pitchFamily="34" charset="-120"/>
              </a:rPr>
              <a:t>What we CAN measure black-box</a:t>
            </a:r>
            <a:endParaRPr lang="en-US" sz="1600" dirty="0"/>
          </a:p>
        </p:txBody>
      </p:sp>
      <p:sp>
        <p:nvSpPr>
          <p:cNvPr id="8" name="Text 5"/>
          <p:cNvSpPr/>
          <p:nvPr/>
        </p:nvSpPr>
        <p:spPr>
          <a:xfrm>
            <a:off x="914400" y="2743200"/>
            <a:ext cx="4754880" cy="219456"/>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 Latency percentiles</a:t>
            </a:r>
            <a:endParaRPr lang="en-US" sz="1250" dirty="0"/>
          </a:p>
        </p:txBody>
      </p:sp>
      <p:sp>
        <p:nvSpPr>
          <p:cNvPr id="9" name="Text 6"/>
          <p:cNvSpPr/>
          <p:nvPr/>
        </p:nvSpPr>
        <p:spPr>
          <a:xfrm>
            <a:off x="914400" y="2962656"/>
            <a:ext cx="4754880" cy="201168"/>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p50/p95/p99 per endpoint vs. SLA targets</a:t>
            </a:r>
            <a:endParaRPr lang="en-US" sz="1150" dirty="0"/>
          </a:p>
        </p:txBody>
      </p:sp>
      <p:sp>
        <p:nvSpPr>
          <p:cNvPr id="10" name="Text 7"/>
          <p:cNvSpPr/>
          <p:nvPr/>
        </p:nvSpPr>
        <p:spPr>
          <a:xfrm>
            <a:off x="914400" y="3200400"/>
            <a:ext cx="4754880" cy="219456"/>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 Throughput ceiling</a:t>
            </a:r>
            <a:endParaRPr lang="en-US" sz="1250" dirty="0"/>
          </a:p>
        </p:txBody>
      </p:sp>
      <p:sp>
        <p:nvSpPr>
          <p:cNvPr id="11" name="Text 8"/>
          <p:cNvSpPr/>
          <p:nvPr/>
        </p:nvSpPr>
        <p:spPr>
          <a:xfrm>
            <a:off x="914400" y="3419856"/>
            <a:ext cx="4754880" cy="201168"/>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req/s before latency or errors climb</a:t>
            </a:r>
            <a:endParaRPr lang="en-US" sz="1150" dirty="0"/>
          </a:p>
        </p:txBody>
      </p:sp>
      <p:sp>
        <p:nvSpPr>
          <p:cNvPr id="12" name="Text 9"/>
          <p:cNvSpPr/>
          <p:nvPr/>
        </p:nvSpPr>
        <p:spPr>
          <a:xfrm>
            <a:off x="914400" y="3657600"/>
            <a:ext cx="4754880" cy="219456"/>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 Rate-limit threshold</a:t>
            </a:r>
            <a:endParaRPr lang="en-US" sz="1250" dirty="0"/>
          </a:p>
        </p:txBody>
      </p:sp>
      <p:sp>
        <p:nvSpPr>
          <p:cNvPr id="13" name="Text 10"/>
          <p:cNvSpPr/>
          <p:nvPr/>
        </p:nvSpPr>
        <p:spPr>
          <a:xfrm>
            <a:off x="914400" y="3877056"/>
            <a:ext cx="4754880" cy="201168"/>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when 429s start; headers returned; recovery time</a:t>
            </a:r>
            <a:endParaRPr lang="en-US" sz="1150" dirty="0"/>
          </a:p>
        </p:txBody>
      </p:sp>
      <p:sp>
        <p:nvSpPr>
          <p:cNvPr id="14" name="Text 11"/>
          <p:cNvSpPr/>
          <p:nvPr/>
        </p:nvSpPr>
        <p:spPr>
          <a:xfrm>
            <a:off x="914400" y="4114800"/>
            <a:ext cx="4754880" cy="219456"/>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 Concurrency safety</a:t>
            </a:r>
            <a:endParaRPr lang="en-US" sz="1250" dirty="0"/>
          </a:p>
        </p:txBody>
      </p:sp>
      <p:sp>
        <p:nvSpPr>
          <p:cNvPr id="15" name="Text 12"/>
          <p:cNvSpPr/>
          <p:nvPr/>
        </p:nvSpPr>
        <p:spPr>
          <a:xfrm>
            <a:off x="914400" y="4334256"/>
            <a:ext cx="4754880" cy="201168"/>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parallel loads on one account stay consistent</a:t>
            </a:r>
            <a:endParaRPr lang="en-US" sz="1150" dirty="0"/>
          </a:p>
        </p:txBody>
      </p:sp>
      <p:sp>
        <p:nvSpPr>
          <p:cNvPr id="16" name="Text 13"/>
          <p:cNvSpPr/>
          <p:nvPr/>
        </p:nvSpPr>
        <p:spPr>
          <a:xfrm>
            <a:off x="914400" y="4572000"/>
            <a:ext cx="4754880" cy="219456"/>
          </a:xfrm>
          <a:prstGeom prst="rect">
            <a:avLst/>
          </a:prstGeom>
          <a:noFill/>
          <a:ln/>
        </p:spPr>
        <p:txBody>
          <a:bodyPr wrap="square" lIns="0" tIns="0" rIns="0" bIns="0" rtlCol="0" anchor="ctr"/>
          <a:lstStyle/>
          <a:p>
            <a:pPr marL="0" indent="0">
              <a:buNone/>
            </a:pPr>
            <a:r>
              <a:rPr lang="en-US" sz="1250" b="1" dirty="0">
                <a:solidFill>
                  <a:srgbClr val="1A2330"/>
                </a:solidFill>
                <a:latin typeface="Calibri" pitchFamily="34" charset="0"/>
                <a:ea typeface="Calibri" pitchFamily="34" charset="-122"/>
                <a:cs typeface="Calibri" pitchFamily="34" charset="-120"/>
              </a:rPr>
              <a:t>· Pagination at scale</a:t>
            </a:r>
            <a:endParaRPr lang="en-US" sz="1250" dirty="0"/>
          </a:p>
        </p:txBody>
      </p:sp>
      <p:sp>
        <p:nvSpPr>
          <p:cNvPr id="17" name="Text 14"/>
          <p:cNvSpPr/>
          <p:nvPr/>
        </p:nvSpPr>
        <p:spPr>
          <a:xfrm>
            <a:off x="914400" y="4791456"/>
            <a:ext cx="4754880" cy="201168"/>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large transaction lists — latency &amp; stability</a:t>
            </a:r>
            <a:endParaRPr lang="en-US" sz="1150" dirty="0"/>
          </a:p>
        </p:txBody>
      </p:sp>
      <p:sp>
        <p:nvSpPr>
          <p:cNvPr id="18" name="Shape 15"/>
          <p:cNvSpPr/>
          <p:nvPr/>
        </p:nvSpPr>
        <p:spPr>
          <a:xfrm>
            <a:off x="6080760" y="1755648"/>
            <a:ext cx="5760720" cy="685800"/>
          </a:xfrm>
          <a:prstGeom prst="roundRect">
            <a:avLst>
              <a:gd name="adj" fmla="val 8000"/>
            </a:avLst>
          </a:prstGeom>
          <a:solidFill>
            <a:srgbClr val="FFFFFF"/>
          </a:solidFill>
          <a:ln w="12700">
            <a:solidFill>
              <a:srgbClr val="DCE7F0"/>
            </a:solidFill>
            <a:prstDash val="solid"/>
          </a:ln>
        </p:spPr>
      </p:sp>
      <p:sp>
        <p:nvSpPr>
          <p:cNvPr id="19" name="Shape 16"/>
          <p:cNvSpPr/>
          <p:nvPr/>
        </p:nvSpPr>
        <p:spPr>
          <a:xfrm>
            <a:off x="6190488" y="1874520"/>
            <a:ext cx="429768" cy="429768"/>
          </a:xfrm>
          <a:prstGeom prst="ellipse">
            <a:avLst/>
          </a:prstGeom>
          <a:solidFill>
            <a:srgbClr val="065A82"/>
          </a:solidFill>
          <a:ln/>
          <a:effectLst>
            <a:outerShdw blurRad="76200" dist="38100" dir="5400000" algn="bl" rotWithShape="0">
              <a:srgbClr val="000000">
                <a:alpha val="12000"/>
              </a:srgbClr>
            </a:outerShdw>
          </a:effectLst>
        </p:spPr>
      </p:sp>
      <p:pic>
        <p:nvPicPr>
          <p:cNvPr id="20" name="Image 1" descr="preencoded.png"/>
          <p:cNvPicPr>
            <a:picLocks noChangeAspect="1"/>
          </p:cNvPicPr>
          <p:nvPr/>
        </p:nvPicPr>
        <p:blipFill>
          <a:blip r:embed="rId4"/>
          <a:stretch>
            <a:fillRect/>
          </a:stretch>
        </p:blipFill>
        <p:spPr>
          <a:xfrm>
            <a:off x="6302228" y="1986260"/>
            <a:ext cx="206289" cy="206289"/>
          </a:xfrm>
          <a:prstGeom prst="rect">
            <a:avLst/>
          </a:prstGeom>
        </p:spPr>
      </p:pic>
      <p:sp>
        <p:nvSpPr>
          <p:cNvPr id="21" name="Text 17"/>
          <p:cNvSpPr/>
          <p:nvPr/>
        </p:nvSpPr>
        <p:spPr>
          <a:xfrm>
            <a:off x="6739128" y="1755648"/>
            <a:ext cx="1737360" cy="685800"/>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Quick smoke</a:t>
            </a:r>
            <a:endParaRPr lang="en-US" sz="1300" dirty="0"/>
          </a:p>
        </p:txBody>
      </p:sp>
      <p:sp>
        <p:nvSpPr>
          <p:cNvPr id="22" name="Text 18"/>
          <p:cNvSpPr/>
          <p:nvPr/>
        </p:nvSpPr>
        <p:spPr>
          <a:xfrm>
            <a:off x="8458200" y="1755648"/>
            <a:ext cx="3291840" cy="685800"/>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30s · 2 req/s · Confirm API up</a:t>
            </a:r>
            <a:endParaRPr lang="en-US" sz="1200" dirty="0"/>
          </a:p>
        </p:txBody>
      </p:sp>
      <p:sp>
        <p:nvSpPr>
          <p:cNvPr id="23" name="Shape 19"/>
          <p:cNvSpPr/>
          <p:nvPr/>
        </p:nvSpPr>
        <p:spPr>
          <a:xfrm>
            <a:off x="6080760" y="2551176"/>
            <a:ext cx="5760720" cy="685800"/>
          </a:xfrm>
          <a:prstGeom prst="roundRect">
            <a:avLst>
              <a:gd name="adj" fmla="val 8000"/>
            </a:avLst>
          </a:prstGeom>
          <a:solidFill>
            <a:srgbClr val="FFFFFF"/>
          </a:solidFill>
          <a:ln w="12700">
            <a:solidFill>
              <a:srgbClr val="DCE7F0"/>
            </a:solidFill>
            <a:prstDash val="solid"/>
          </a:ln>
        </p:spPr>
      </p:sp>
      <p:sp>
        <p:nvSpPr>
          <p:cNvPr id="24" name="Shape 20"/>
          <p:cNvSpPr/>
          <p:nvPr/>
        </p:nvSpPr>
        <p:spPr>
          <a:xfrm>
            <a:off x="6190488" y="2670048"/>
            <a:ext cx="429768" cy="429768"/>
          </a:xfrm>
          <a:prstGeom prst="ellipse">
            <a:avLst/>
          </a:prstGeom>
          <a:solidFill>
            <a:srgbClr val="065A82"/>
          </a:solidFill>
          <a:ln/>
          <a:effectLst>
            <a:outerShdw blurRad="76200" dist="38100" dir="5400000" algn="bl" rotWithShape="0">
              <a:srgbClr val="000000">
                <a:alpha val="12000"/>
              </a:srgbClr>
            </a:outerShdw>
          </a:effectLst>
        </p:spPr>
      </p:sp>
      <p:pic>
        <p:nvPicPr>
          <p:cNvPr id="25" name="Image 2" descr="preencoded.png"/>
          <p:cNvPicPr>
            <a:picLocks noChangeAspect="1"/>
          </p:cNvPicPr>
          <p:nvPr/>
        </p:nvPicPr>
        <p:blipFill>
          <a:blip r:embed="rId5"/>
          <a:stretch>
            <a:fillRect/>
          </a:stretch>
        </p:blipFill>
        <p:spPr>
          <a:xfrm>
            <a:off x="6302228" y="2781788"/>
            <a:ext cx="206289" cy="206289"/>
          </a:xfrm>
          <a:prstGeom prst="rect">
            <a:avLst/>
          </a:prstGeom>
        </p:spPr>
      </p:pic>
      <p:sp>
        <p:nvSpPr>
          <p:cNvPr id="26" name="Text 21"/>
          <p:cNvSpPr/>
          <p:nvPr/>
        </p:nvSpPr>
        <p:spPr>
          <a:xfrm>
            <a:off x="6739128" y="2551176"/>
            <a:ext cx="1737360" cy="685800"/>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Full load</a:t>
            </a:r>
            <a:endParaRPr lang="en-US" sz="1300" dirty="0"/>
          </a:p>
        </p:txBody>
      </p:sp>
      <p:sp>
        <p:nvSpPr>
          <p:cNvPr id="27" name="Text 22"/>
          <p:cNvSpPr/>
          <p:nvPr/>
        </p:nvSpPr>
        <p:spPr>
          <a:xfrm>
            <a:off x="8458200" y="2551176"/>
            <a:ext cx="3291840" cy="685800"/>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4+ min · Ramp to 15 req/s · Throughput &amp; latency</a:t>
            </a:r>
            <a:endParaRPr lang="en-US" sz="1200" dirty="0"/>
          </a:p>
        </p:txBody>
      </p:sp>
      <p:sp>
        <p:nvSpPr>
          <p:cNvPr id="28" name="Shape 23"/>
          <p:cNvSpPr/>
          <p:nvPr/>
        </p:nvSpPr>
        <p:spPr>
          <a:xfrm>
            <a:off x="6080760" y="3346704"/>
            <a:ext cx="5760720" cy="685800"/>
          </a:xfrm>
          <a:prstGeom prst="roundRect">
            <a:avLst>
              <a:gd name="adj" fmla="val 8000"/>
            </a:avLst>
          </a:prstGeom>
          <a:solidFill>
            <a:srgbClr val="FFFFFF"/>
          </a:solidFill>
          <a:ln w="12700">
            <a:solidFill>
              <a:srgbClr val="DCE7F0"/>
            </a:solidFill>
            <a:prstDash val="solid"/>
          </a:ln>
        </p:spPr>
      </p:sp>
      <p:sp>
        <p:nvSpPr>
          <p:cNvPr id="29" name="Shape 24"/>
          <p:cNvSpPr/>
          <p:nvPr/>
        </p:nvSpPr>
        <p:spPr>
          <a:xfrm>
            <a:off x="6190488" y="3465576"/>
            <a:ext cx="429768" cy="429768"/>
          </a:xfrm>
          <a:prstGeom prst="ellipse">
            <a:avLst/>
          </a:prstGeom>
          <a:solidFill>
            <a:srgbClr val="065A82"/>
          </a:solidFill>
          <a:ln/>
          <a:effectLst>
            <a:outerShdw blurRad="76200" dist="38100" dir="5400000" algn="bl" rotWithShape="0">
              <a:srgbClr val="000000">
                <a:alpha val="12000"/>
              </a:srgbClr>
            </a:outerShdw>
          </a:effectLst>
        </p:spPr>
      </p:sp>
      <p:pic>
        <p:nvPicPr>
          <p:cNvPr id="30" name="Image 3" descr="preencoded.png"/>
          <p:cNvPicPr>
            <a:picLocks noChangeAspect="1"/>
          </p:cNvPicPr>
          <p:nvPr/>
        </p:nvPicPr>
        <p:blipFill>
          <a:blip r:embed="rId6"/>
          <a:stretch>
            <a:fillRect/>
          </a:stretch>
        </p:blipFill>
        <p:spPr>
          <a:xfrm>
            <a:off x="6302228" y="3577316"/>
            <a:ext cx="206289" cy="206289"/>
          </a:xfrm>
          <a:prstGeom prst="rect">
            <a:avLst/>
          </a:prstGeom>
        </p:spPr>
      </p:pic>
      <p:sp>
        <p:nvSpPr>
          <p:cNvPr id="31" name="Text 25"/>
          <p:cNvSpPr/>
          <p:nvPr/>
        </p:nvSpPr>
        <p:spPr>
          <a:xfrm>
            <a:off x="6739128" y="3346704"/>
            <a:ext cx="1737360" cy="685800"/>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Incremental</a:t>
            </a:r>
            <a:endParaRPr lang="en-US" sz="1300" dirty="0"/>
          </a:p>
        </p:txBody>
      </p:sp>
      <p:sp>
        <p:nvSpPr>
          <p:cNvPr id="32" name="Text 26"/>
          <p:cNvSpPr/>
          <p:nvPr/>
        </p:nvSpPr>
        <p:spPr>
          <a:xfrm>
            <a:off x="8458200" y="3346704"/>
            <a:ext cx="3291840" cy="685800"/>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5-10 min · Finds rate-limit threshold (429 onset)</a:t>
            </a:r>
            <a:endParaRPr lang="en-US" sz="1200" dirty="0"/>
          </a:p>
        </p:txBody>
      </p:sp>
      <p:sp>
        <p:nvSpPr>
          <p:cNvPr id="33" name="Shape 27"/>
          <p:cNvSpPr/>
          <p:nvPr/>
        </p:nvSpPr>
        <p:spPr>
          <a:xfrm>
            <a:off x="6080760" y="4142232"/>
            <a:ext cx="5760720" cy="685800"/>
          </a:xfrm>
          <a:prstGeom prst="roundRect">
            <a:avLst>
              <a:gd name="adj" fmla="val 8000"/>
            </a:avLst>
          </a:prstGeom>
          <a:solidFill>
            <a:srgbClr val="FFFFFF"/>
          </a:solidFill>
          <a:ln w="12700">
            <a:solidFill>
              <a:srgbClr val="DCE7F0"/>
            </a:solidFill>
            <a:prstDash val="solid"/>
          </a:ln>
        </p:spPr>
      </p:sp>
      <p:sp>
        <p:nvSpPr>
          <p:cNvPr id="34" name="Shape 28"/>
          <p:cNvSpPr/>
          <p:nvPr/>
        </p:nvSpPr>
        <p:spPr>
          <a:xfrm>
            <a:off x="6190488" y="4261104"/>
            <a:ext cx="429768" cy="429768"/>
          </a:xfrm>
          <a:prstGeom prst="ellipse">
            <a:avLst/>
          </a:prstGeom>
          <a:solidFill>
            <a:srgbClr val="065A82"/>
          </a:solidFill>
          <a:ln/>
          <a:effectLst>
            <a:outerShdw blurRad="76200" dist="38100" dir="5400000" algn="bl" rotWithShape="0">
              <a:srgbClr val="000000">
                <a:alpha val="12000"/>
              </a:srgbClr>
            </a:outerShdw>
          </a:effectLst>
        </p:spPr>
      </p:sp>
      <p:pic>
        <p:nvPicPr>
          <p:cNvPr id="35" name="Image 4" descr="preencoded.png"/>
          <p:cNvPicPr>
            <a:picLocks noChangeAspect="1"/>
          </p:cNvPicPr>
          <p:nvPr/>
        </p:nvPicPr>
        <p:blipFill>
          <a:blip r:embed="rId7"/>
          <a:stretch>
            <a:fillRect/>
          </a:stretch>
        </p:blipFill>
        <p:spPr>
          <a:xfrm>
            <a:off x="6302228" y="4372844"/>
            <a:ext cx="206289" cy="206289"/>
          </a:xfrm>
          <a:prstGeom prst="rect">
            <a:avLst/>
          </a:prstGeom>
        </p:spPr>
      </p:pic>
      <p:sp>
        <p:nvSpPr>
          <p:cNvPr id="36" name="Text 29"/>
          <p:cNvSpPr/>
          <p:nvPr/>
        </p:nvSpPr>
        <p:spPr>
          <a:xfrm>
            <a:off x="6739128" y="4142232"/>
            <a:ext cx="1737360" cy="685800"/>
          </a:xfrm>
          <a:prstGeom prst="rect">
            <a:avLst/>
          </a:prstGeom>
          <a:noFill/>
          <a:ln/>
        </p:spPr>
        <p:txBody>
          <a:bodyPr wrap="square" lIns="0" tIns="0" rIns="0" bIns="0" rtlCol="0" anchor="ctr"/>
          <a:lstStyle/>
          <a:p>
            <a:pPr marL="0" indent="0">
              <a:buNone/>
            </a:pPr>
            <a:r>
              <a:rPr lang="en-US" sz="1300" b="1" dirty="0">
                <a:solidFill>
                  <a:srgbClr val="1A2330"/>
                </a:solidFill>
                <a:latin typeface="Calibri" pitchFamily="34" charset="0"/>
                <a:ea typeface="Calibri" pitchFamily="34" charset="-122"/>
                <a:cs typeface="Calibri" pitchFamily="34" charset="-120"/>
              </a:rPr>
              <a:t>Soak</a:t>
            </a:r>
            <a:endParaRPr lang="en-US" sz="1300" dirty="0"/>
          </a:p>
        </p:txBody>
      </p:sp>
      <p:sp>
        <p:nvSpPr>
          <p:cNvPr id="37" name="Text 30"/>
          <p:cNvSpPr/>
          <p:nvPr/>
        </p:nvSpPr>
        <p:spPr>
          <a:xfrm>
            <a:off x="8458200" y="4142232"/>
            <a:ext cx="3291840" cy="685800"/>
          </a:xfrm>
          <a:prstGeom prst="rect">
            <a:avLst/>
          </a:prstGeom>
          <a:noFill/>
          <a:ln/>
        </p:spPr>
        <p:txBody>
          <a:bodyPr wrap="square" lIns="0" tIns="0" rIns="0" bIns="0" rtlCol="0" anchor="ctr"/>
          <a:lstStyle/>
          <a:p>
            <a:pPr marL="0" indent="0">
              <a:buNone/>
            </a:pPr>
            <a:r>
              <a:rPr lang="en-US" sz="1200" dirty="0">
                <a:solidFill>
                  <a:srgbClr val="6B7A8D"/>
                </a:solidFill>
                <a:latin typeface="Calibri" pitchFamily="34" charset="0"/>
                <a:ea typeface="Calibri" pitchFamily="34" charset="-122"/>
                <a:cs typeface="Calibri" pitchFamily="34" charset="-120"/>
              </a:rPr>
              <a:t>Hours at load · Reveals drift, leaks, queue depth</a:t>
            </a:r>
            <a:endParaRPr lang="en-US" sz="1200" dirty="0"/>
          </a:p>
        </p:txBody>
      </p:sp>
      <p:sp>
        <p:nvSpPr>
          <p:cNvPr id="38" name="Shape 31"/>
          <p:cNvSpPr/>
          <p:nvPr/>
        </p:nvSpPr>
        <p:spPr>
          <a:xfrm>
            <a:off x="6080760" y="5010912"/>
            <a:ext cx="5760720" cy="914400"/>
          </a:xfrm>
          <a:prstGeom prst="roundRect">
            <a:avLst>
              <a:gd name="adj" fmla="val 6000"/>
            </a:avLst>
          </a:prstGeom>
          <a:solidFill>
            <a:srgbClr val="21295C"/>
          </a:solidFill>
          <a:ln/>
        </p:spPr>
      </p:sp>
      <p:sp>
        <p:nvSpPr>
          <p:cNvPr id="39" name="Text 32"/>
          <p:cNvSpPr/>
          <p:nvPr/>
        </p:nvSpPr>
        <p:spPr>
          <a:xfrm>
            <a:off x="6263640" y="5010912"/>
            <a:ext cx="5486400" cy="914400"/>
          </a:xfrm>
          <a:prstGeom prst="rect">
            <a:avLst/>
          </a:prstGeom>
          <a:noFill/>
          <a:ln/>
        </p:spPr>
        <p:txBody>
          <a:bodyPr wrap="square" lIns="0" tIns="0" rIns="0" bIns="0" rtlCol="0" anchor="ctr"/>
          <a:lstStyle/>
          <a:p>
            <a:pPr marL="0" indent="0">
              <a:buNone/>
            </a:pPr>
            <a:r>
              <a:rPr lang="en-US" sz="1150" b="1" dirty="0">
                <a:solidFill>
                  <a:srgbClr val="F2A65A"/>
                </a:solidFill>
                <a:latin typeface="Calibri" pitchFamily="34" charset="0"/>
                <a:ea typeface="Calibri" pitchFamily="34" charset="-122"/>
                <a:cs typeface="Calibri" pitchFamily="34" charset="-120"/>
              </a:rPr>
              <a:t>Critical:  </a:t>
            </a:r>
            <a:r>
              <a:rPr lang="en-US" sz="1150" dirty="0">
                <a:solidFill>
                  <a:srgbClr val="FFFFFF"/>
                </a:solidFill>
                <a:latin typeface="Calibri" pitchFamily="34" charset="0"/>
                <a:ea typeface="Calibri" pitchFamily="34" charset="-122"/>
                <a:cs typeface="Calibri" pitchFamily="34" charset="-120"/>
              </a:rPr>
              <a:t>Never load-test a payments provider without explicit written sign-off. Unauthorised load can trip fraud/DDoS protections and is a contractual issue. </a:t>
            </a:r>
            <a:r>
              <a:rPr lang="en-US" sz="1150" i="1" dirty="0">
                <a:solidFill>
                  <a:srgbClr val="CADCFC"/>
                </a:solidFill>
                <a:latin typeface="Calibri" pitchFamily="34" charset="0"/>
                <a:ea typeface="Calibri" pitchFamily="34" charset="-122"/>
                <a:cs typeface="Calibri" pitchFamily="34" charset="-120"/>
              </a:rPr>
              <a:t>Always staging, always with Berkeley's permission.</a:t>
            </a:r>
            <a:endParaRPr lang="en-US" sz="1150" dirty="0"/>
          </a:p>
        </p:txBody>
      </p:sp>
      <p:sp>
        <p:nvSpPr>
          <p:cNvPr id="40" name="Text 33"/>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08</a:t>
            </a:r>
            <a:endParaRPr lang="en-US" sz="1000" dirty="0"/>
          </a:p>
        </p:txBody>
      </p:sp>
      <p:sp>
        <p:nvSpPr>
          <p:cNvPr id="41" name="Text 34"/>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OPEN QUESTIONS</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What we need from Berkeley to complete the suite</a:t>
            </a:r>
            <a:endParaRPr lang="en-US" sz="3000" dirty="0"/>
          </a:p>
        </p:txBody>
      </p:sp>
      <p:sp>
        <p:nvSpPr>
          <p:cNvPr id="4" name="Shape 2"/>
          <p:cNvSpPr/>
          <p:nvPr/>
        </p:nvSpPr>
        <p:spPr>
          <a:xfrm>
            <a:off x="548640" y="1719072"/>
            <a:ext cx="11064240" cy="841248"/>
          </a:xfrm>
          <a:prstGeom prst="roundRect">
            <a:avLst>
              <a:gd name="adj" fmla="val 6522"/>
            </a:avLst>
          </a:prstGeom>
          <a:solidFill>
            <a:srgbClr val="F4F8FB"/>
          </a:solidFill>
          <a:ln w="12700">
            <a:solidFill>
              <a:srgbClr val="FFEBEE"/>
            </a:solidFill>
            <a:prstDash val="solid"/>
          </a:ln>
        </p:spPr>
      </p:sp>
      <p:sp>
        <p:nvSpPr>
          <p:cNvPr id="5" name="Shape 3"/>
          <p:cNvSpPr/>
          <p:nvPr/>
        </p:nvSpPr>
        <p:spPr>
          <a:xfrm>
            <a:off x="640080" y="1993392"/>
            <a:ext cx="658368" cy="292608"/>
          </a:xfrm>
          <a:prstGeom prst="roundRect">
            <a:avLst>
              <a:gd name="adj" fmla="val 50000"/>
            </a:avLst>
          </a:prstGeom>
          <a:solidFill>
            <a:srgbClr val="9C0006"/>
          </a:solidFill>
          <a:ln/>
        </p:spPr>
      </p:sp>
      <p:sp>
        <p:nvSpPr>
          <p:cNvPr id="6" name="Text 4"/>
          <p:cNvSpPr/>
          <p:nvPr/>
        </p:nvSpPr>
        <p:spPr>
          <a:xfrm>
            <a:off x="640080" y="1993392"/>
            <a:ext cx="65836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#18</a:t>
            </a:r>
            <a:endParaRPr lang="en-US" sz="1100" dirty="0"/>
          </a:p>
        </p:txBody>
      </p:sp>
      <p:sp>
        <p:nvSpPr>
          <p:cNvPr id="7" name="Text 5"/>
          <p:cNvSpPr/>
          <p:nvPr/>
        </p:nvSpPr>
        <p:spPr>
          <a:xfrm>
            <a:off x="1417320" y="1792224"/>
            <a:ext cx="5943600" cy="347472"/>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Account state instability</a:t>
            </a:r>
            <a:endParaRPr lang="en-US" sz="1400" dirty="0"/>
          </a:p>
        </p:txBody>
      </p:sp>
      <p:sp>
        <p:nvSpPr>
          <p:cNvPr id="8" name="Text 6"/>
          <p:cNvSpPr/>
          <p:nvPr/>
        </p:nvSpPr>
        <p:spPr>
          <a:xfrm>
            <a:off x="1417320" y="2139696"/>
            <a:ext cx="7680960" cy="365760"/>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After a value load returns 201, subsequent loads on the same account return 400 resource_not_found. Is this a staging quota, session state, or a rate limit?</a:t>
            </a:r>
            <a:endParaRPr lang="en-US" sz="1150" dirty="0"/>
          </a:p>
        </p:txBody>
      </p:sp>
      <p:sp>
        <p:nvSpPr>
          <p:cNvPr id="9" name="Shape 7"/>
          <p:cNvSpPr/>
          <p:nvPr/>
        </p:nvSpPr>
        <p:spPr>
          <a:xfrm>
            <a:off x="9189720" y="1883664"/>
            <a:ext cx="2286000" cy="502920"/>
          </a:xfrm>
          <a:prstGeom prst="roundRect">
            <a:avLst>
              <a:gd name="adj" fmla="val 10909"/>
            </a:avLst>
          </a:prstGeom>
          <a:solidFill>
            <a:srgbClr val="FFEBEE"/>
          </a:solidFill>
          <a:ln/>
        </p:spPr>
      </p:sp>
      <p:sp>
        <p:nvSpPr>
          <p:cNvPr id="10" name="Text 8"/>
          <p:cNvSpPr/>
          <p:nvPr/>
        </p:nvSpPr>
        <p:spPr>
          <a:xfrm>
            <a:off x="9189720" y="1883664"/>
            <a:ext cx="2286000" cy="502920"/>
          </a:xfrm>
          <a:prstGeom prst="rect">
            <a:avLst/>
          </a:prstGeom>
          <a:noFill/>
          <a:ln/>
        </p:spPr>
        <p:txBody>
          <a:bodyPr wrap="square" lIns="0" tIns="0" rIns="0" bIns="0" rtlCol="0" anchor="ctr"/>
          <a:lstStyle/>
          <a:p>
            <a:pPr marL="0" indent="0" algn="ctr">
              <a:buNone/>
            </a:pPr>
            <a:r>
              <a:rPr lang="en-US" sz="1050" b="1" dirty="0">
                <a:solidFill>
                  <a:srgbClr val="9C0006"/>
                </a:solidFill>
                <a:latin typeface="Calibri" pitchFamily="34" charset="0"/>
                <a:ea typeface="Calibri" pitchFamily="34" charset="-122"/>
                <a:cs typeface="Calibri" pitchFamily="34" charset="-120"/>
              </a:rPr>
              <a:t>Unblocks 6 integration tests</a:t>
            </a:r>
            <a:endParaRPr lang="en-US" sz="1050" dirty="0"/>
          </a:p>
        </p:txBody>
      </p:sp>
      <p:sp>
        <p:nvSpPr>
          <p:cNvPr id="11" name="Shape 9"/>
          <p:cNvSpPr/>
          <p:nvPr/>
        </p:nvSpPr>
        <p:spPr>
          <a:xfrm>
            <a:off x="548640" y="2651760"/>
            <a:ext cx="11064240" cy="841248"/>
          </a:xfrm>
          <a:prstGeom prst="roundRect">
            <a:avLst>
              <a:gd name="adj" fmla="val 6522"/>
            </a:avLst>
          </a:prstGeom>
          <a:solidFill>
            <a:srgbClr val="F4F8FB"/>
          </a:solidFill>
          <a:ln w="12700">
            <a:solidFill>
              <a:srgbClr val="FFF3CD"/>
            </a:solidFill>
            <a:prstDash val="solid"/>
          </a:ln>
        </p:spPr>
      </p:sp>
      <p:sp>
        <p:nvSpPr>
          <p:cNvPr id="12" name="Shape 10"/>
          <p:cNvSpPr/>
          <p:nvPr/>
        </p:nvSpPr>
        <p:spPr>
          <a:xfrm>
            <a:off x="640080" y="2926080"/>
            <a:ext cx="658368" cy="292608"/>
          </a:xfrm>
          <a:prstGeom prst="roundRect">
            <a:avLst>
              <a:gd name="adj" fmla="val 50000"/>
            </a:avLst>
          </a:prstGeom>
          <a:solidFill>
            <a:srgbClr val="7F6000"/>
          </a:solidFill>
          <a:ln/>
        </p:spPr>
      </p:sp>
      <p:sp>
        <p:nvSpPr>
          <p:cNvPr id="13" name="Text 11"/>
          <p:cNvSpPr/>
          <p:nvPr/>
        </p:nvSpPr>
        <p:spPr>
          <a:xfrm>
            <a:off x="640080" y="2926080"/>
            <a:ext cx="65836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#19</a:t>
            </a:r>
            <a:endParaRPr lang="en-US" sz="1100" dirty="0"/>
          </a:p>
        </p:txBody>
      </p:sp>
      <p:sp>
        <p:nvSpPr>
          <p:cNvPr id="14" name="Text 12"/>
          <p:cNvSpPr/>
          <p:nvPr/>
        </p:nvSpPr>
        <p:spPr>
          <a:xfrm>
            <a:off x="1417320" y="2724912"/>
            <a:ext cx="5943600" cy="347472"/>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Balance unit system (BUG-3)</a:t>
            </a:r>
            <a:endParaRPr lang="en-US" sz="1400" dirty="0"/>
          </a:p>
        </p:txBody>
      </p:sp>
      <p:sp>
        <p:nvSpPr>
          <p:cNvPr id="15" name="Text 13"/>
          <p:cNvSpPr/>
          <p:nvPr/>
        </p:nvSpPr>
        <p:spPr>
          <a:xfrm>
            <a:off x="1417320" y="3072384"/>
            <a:ext cx="7680960" cy="365760"/>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Load amount uses minor units; balance responses use major units. Intentional? Please document on every amount and balance field.</a:t>
            </a:r>
            <a:endParaRPr lang="en-US" sz="1150" dirty="0"/>
          </a:p>
        </p:txBody>
      </p:sp>
      <p:sp>
        <p:nvSpPr>
          <p:cNvPr id="16" name="Shape 14"/>
          <p:cNvSpPr/>
          <p:nvPr/>
        </p:nvSpPr>
        <p:spPr>
          <a:xfrm>
            <a:off x="9189720" y="2816352"/>
            <a:ext cx="2286000" cy="502920"/>
          </a:xfrm>
          <a:prstGeom prst="roundRect">
            <a:avLst>
              <a:gd name="adj" fmla="val 10909"/>
            </a:avLst>
          </a:prstGeom>
          <a:solidFill>
            <a:srgbClr val="FFF3CD"/>
          </a:solidFill>
          <a:ln/>
        </p:spPr>
      </p:sp>
      <p:sp>
        <p:nvSpPr>
          <p:cNvPr id="17" name="Text 15"/>
          <p:cNvSpPr/>
          <p:nvPr/>
        </p:nvSpPr>
        <p:spPr>
          <a:xfrm>
            <a:off x="9189720" y="2816352"/>
            <a:ext cx="2286000" cy="502920"/>
          </a:xfrm>
          <a:prstGeom prst="rect">
            <a:avLst/>
          </a:prstGeom>
          <a:noFill/>
          <a:ln/>
        </p:spPr>
        <p:txBody>
          <a:bodyPr wrap="square" lIns="0" tIns="0" rIns="0" bIns="0" rtlCol="0" anchor="ctr"/>
          <a:lstStyle/>
          <a:p>
            <a:pPr marL="0" indent="0" algn="ctr">
              <a:buNone/>
            </a:pPr>
            <a:r>
              <a:rPr lang="en-US" sz="1050" b="1" dirty="0">
                <a:solidFill>
                  <a:srgbClr val="7F6000"/>
                </a:solidFill>
                <a:latin typeface="Calibri" pitchFamily="34" charset="0"/>
                <a:ea typeface="Calibri" pitchFamily="34" charset="-122"/>
                <a:cs typeface="Calibri" pitchFamily="34" charset="-120"/>
              </a:rPr>
              <a:t>Unblocks money conservation assertion</a:t>
            </a:r>
            <a:endParaRPr lang="en-US" sz="1050" dirty="0"/>
          </a:p>
        </p:txBody>
      </p:sp>
      <p:sp>
        <p:nvSpPr>
          <p:cNvPr id="18" name="Shape 16"/>
          <p:cNvSpPr/>
          <p:nvPr/>
        </p:nvSpPr>
        <p:spPr>
          <a:xfrm>
            <a:off x="548640" y="3584448"/>
            <a:ext cx="11064240" cy="841248"/>
          </a:xfrm>
          <a:prstGeom prst="roundRect">
            <a:avLst>
              <a:gd name="adj" fmla="val 6522"/>
            </a:avLst>
          </a:prstGeom>
          <a:solidFill>
            <a:srgbClr val="F4F8FB"/>
          </a:solidFill>
          <a:ln w="12700">
            <a:solidFill>
              <a:srgbClr val="FFF3CD"/>
            </a:solidFill>
            <a:prstDash val="solid"/>
          </a:ln>
        </p:spPr>
      </p:sp>
      <p:sp>
        <p:nvSpPr>
          <p:cNvPr id="19" name="Shape 17"/>
          <p:cNvSpPr/>
          <p:nvPr/>
        </p:nvSpPr>
        <p:spPr>
          <a:xfrm>
            <a:off x="640080" y="3858768"/>
            <a:ext cx="658368" cy="292608"/>
          </a:xfrm>
          <a:prstGeom prst="roundRect">
            <a:avLst>
              <a:gd name="adj" fmla="val 50000"/>
            </a:avLst>
          </a:prstGeom>
          <a:solidFill>
            <a:srgbClr val="7F6000"/>
          </a:solidFill>
          <a:ln/>
        </p:spPr>
      </p:sp>
      <p:sp>
        <p:nvSpPr>
          <p:cNvPr id="20" name="Text 18"/>
          <p:cNvSpPr/>
          <p:nvPr/>
        </p:nvSpPr>
        <p:spPr>
          <a:xfrm>
            <a:off x="640080" y="3858768"/>
            <a:ext cx="65836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#20</a:t>
            </a:r>
            <a:endParaRPr lang="en-US" sz="1100" dirty="0"/>
          </a:p>
        </p:txBody>
      </p:sp>
      <p:sp>
        <p:nvSpPr>
          <p:cNvPr id="21" name="Text 19"/>
          <p:cNvSpPr/>
          <p:nvPr/>
        </p:nvSpPr>
        <p:spPr>
          <a:xfrm>
            <a:off x="1417320" y="3657600"/>
            <a:ext cx="5943600" cy="347472"/>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Status transition initial state</a:t>
            </a:r>
            <a:endParaRPr lang="en-US" sz="1400" dirty="0"/>
          </a:p>
        </p:txBody>
      </p:sp>
      <p:sp>
        <p:nvSpPr>
          <p:cNvPr id="22" name="Text 20"/>
          <p:cNvSpPr/>
          <p:nvPr/>
        </p:nvSpPr>
        <p:spPr>
          <a:xfrm>
            <a:off x="1417320" y="4005072"/>
            <a:ext cx="7680960" cy="365760"/>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Fresh accounts sometimes return invalid_status on suspend. What is the correct initial state and when does a new account become eligible for status changes?</a:t>
            </a:r>
            <a:endParaRPr lang="en-US" sz="1150" dirty="0"/>
          </a:p>
        </p:txBody>
      </p:sp>
      <p:sp>
        <p:nvSpPr>
          <p:cNvPr id="23" name="Shape 21"/>
          <p:cNvSpPr/>
          <p:nvPr/>
        </p:nvSpPr>
        <p:spPr>
          <a:xfrm>
            <a:off x="9189720" y="3749040"/>
            <a:ext cx="2286000" cy="502920"/>
          </a:xfrm>
          <a:prstGeom prst="roundRect">
            <a:avLst>
              <a:gd name="adj" fmla="val 10909"/>
            </a:avLst>
          </a:prstGeom>
          <a:solidFill>
            <a:srgbClr val="FFF3CD"/>
          </a:solidFill>
          <a:ln/>
        </p:spPr>
      </p:sp>
      <p:sp>
        <p:nvSpPr>
          <p:cNvPr id="24" name="Text 22"/>
          <p:cNvSpPr/>
          <p:nvPr/>
        </p:nvSpPr>
        <p:spPr>
          <a:xfrm>
            <a:off x="9189720" y="3749040"/>
            <a:ext cx="2286000" cy="502920"/>
          </a:xfrm>
          <a:prstGeom prst="rect">
            <a:avLst/>
          </a:prstGeom>
          <a:noFill/>
          <a:ln/>
        </p:spPr>
        <p:txBody>
          <a:bodyPr wrap="square" lIns="0" tIns="0" rIns="0" bIns="0" rtlCol="0" anchor="ctr"/>
          <a:lstStyle/>
          <a:p>
            <a:pPr marL="0" indent="0" algn="ctr">
              <a:buNone/>
            </a:pPr>
            <a:r>
              <a:rPr lang="en-US" sz="1050" b="1" dirty="0">
                <a:solidFill>
                  <a:srgbClr val="7F6000"/>
                </a:solidFill>
                <a:latin typeface="Calibri" pitchFamily="34" charset="0"/>
                <a:ea typeface="Calibri" pitchFamily="34" charset="-122"/>
                <a:cs typeface="Calibri" pitchFamily="34" charset="-120"/>
              </a:rPr>
              <a:t>Unblocks 2 verification tests</a:t>
            </a:r>
            <a:endParaRPr lang="en-US" sz="1050" dirty="0"/>
          </a:p>
        </p:txBody>
      </p:sp>
      <p:sp>
        <p:nvSpPr>
          <p:cNvPr id="25" name="Shape 23"/>
          <p:cNvSpPr/>
          <p:nvPr/>
        </p:nvSpPr>
        <p:spPr>
          <a:xfrm>
            <a:off x="548640" y="4517136"/>
            <a:ext cx="11064240" cy="841248"/>
          </a:xfrm>
          <a:prstGeom prst="roundRect">
            <a:avLst>
              <a:gd name="adj" fmla="val 6522"/>
            </a:avLst>
          </a:prstGeom>
          <a:solidFill>
            <a:srgbClr val="F4F8FB"/>
          </a:solidFill>
          <a:ln w="12700">
            <a:solidFill>
              <a:srgbClr val="DCE7F0"/>
            </a:solidFill>
            <a:prstDash val="solid"/>
          </a:ln>
        </p:spPr>
      </p:sp>
      <p:sp>
        <p:nvSpPr>
          <p:cNvPr id="26" name="Shape 24"/>
          <p:cNvSpPr/>
          <p:nvPr/>
        </p:nvSpPr>
        <p:spPr>
          <a:xfrm>
            <a:off x="640080" y="4791456"/>
            <a:ext cx="658368" cy="292608"/>
          </a:xfrm>
          <a:prstGeom prst="roundRect">
            <a:avLst>
              <a:gd name="adj" fmla="val 50000"/>
            </a:avLst>
          </a:prstGeom>
          <a:solidFill>
            <a:srgbClr val="6B7A8D"/>
          </a:solidFill>
          <a:ln/>
        </p:spPr>
      </p:sp>
      <p:sp>
        <p:nvSpPr>
          <p:cNvPr id="27" name="Text 25"/>
          <p:cNvSpPr/>
          <p:nvPr/>
        </p:nvSpPr>
        <p:spPr>
          <a:xfrm>
            <a:off x="640080" y="4791456"/>
            <a:ext cx="65836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1417320" y="4590288"/>
            <a:ext cx="5943600" cy="347472"/>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Negative balance policy</a:t>
            </a:r>
            <a:endParaRPr lang="en-US" sz="1400" dirty="0"/>
          </a:p>
        </p:txBody>
      </p:sp>
      <p:sp>
        <p:nvSpPr>
          <p:cNvPr id="29" name="Text 27"/>
          <p:cNvSpPr/>
          <p:nvPr/>
        </p:nvSpPr>
        <p:spPr>
          <a:xfrm>
            <a:off x="1417320" y="4937760"/>
            <a:ext cx="7680960" cy="365760"/>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If unload amount &gt; available balance, is the request rejected (4xx) or does a negative balance occur? Docs are silent. Unload is not enabled for program 137 on staging.</a:t>
            </a:r>
            <a:endParaRPr lang="en-US" sz="1150" dirty="0"/>
          </a:p>
        </p:txBody>
      </p:sp>
      <p:sp>
        <p:nvSpPr>
          <p:cNvPr id="30" name="Shape 28"/>
          <p:cNvSpPr/>
          <p:nvPr/>
        </p:nvSpPr>
        <p:spPr>
          <a:xfrm>
            <a:off x="9189720" y="4681728"/>
            <a:ext cx="2286000" cy="502920"/>
          </a:xfrm>
          <a:prstGeom prst="roundRect">
            <a:avLst>
              <a:gd name="adj" fmla="val 10909"/>
            </a:avLst>
          </a:prstGeom>
          <a:solidFill>
            <a:srgbClr val="F4F8FB"/>
          </a:solidFill>
          <a:ln/>
        </p:spPr>
      </p:sp>
      <p:sp>
        <p:nvSpPr>
          <p:cNvPr id="31" name="Text 29"/>
          <p:cNvSpPr/>
          <p:nvPr/>
        </p:nvSpPr>
        <p:spPr>
          <a:xfrm>
            <a:off x="9189720" y="4681728"/>
            <a:ext cx="2286000" cy="502920"/>
          </a:xfrm>
          <a:prstGeom prst="rect">
            <a:avLst/>
          </a:prstGeom>
          <a:noFill/>
          <a:ln/>
        </p:spPr>
        <p:txBody>
          <a:bodyPr wrap="square" lIns="0" tIns="0" rIns="0" bIns="0" rtlCol="0" anchor="ctr"/>
          <a:lstStyle/>
          <a:p>
            <a:pPr marL="0" indent="0" algn="ctr">
              <a:buNone/>
            </a:pPr>
            <a:r>
              <a:rPr lang="en-US" sz="1050" b="1" dirty="0">
                <a:solidFill>
                  <a:srgbClr val="6B7A8D"/>
                </a:solidFill>
                <a:latin typeface="Calibri" pitchFamily="34" charset="0"/>
                <a:ea typeface="Calibri" pitchFamily="34" charset="-122"/>
                <a:cs typeface="Calibri" pitchFamily="34" charset="-120"/>
              </a:rPr>
              <a:t>Required for money conservation coverage</a:t>
            </a:r>
            <a:endParaRPr lang="en-US" sz="1050" dirty="0"/>
          </a:p>
        </p:txBody>
      </p:sp>
      <p:sp>
        <p:nvSpPr>
          <p:cNvPr id="32" name="Shape 30"/>
          <p:cNvSpPr/>
          <p:nvPr/>
        </p:nvSpPr>
        <p:spPr>
          <a:xfrm>
            <a:off x="548640" y="5449824"/>
            <a:ext cx="11064240" cy="841248"/>
          </a:xfrm>
          <a:prstGeom prst="roundRect">
            <a:avLst>
              <a:gd name="adj" fmla="val 6522"/>
            </a:avLst>
          </a:prstGeom>
          <a:solidFill>
            <a:srgbClr val="F4F8FB"/>
          </a:solidFill>
          <a:ln w="12700">
            <a:solidFill>
              <a:srgbClr val="DCE7F0"/>
            </a:solidFill>
            <a:prstDash val="solid"/>
          </a:ln>
        </p:spPr>
      </p:sp>
      <p:sp>
        <p:nvSpPr>
          <p:cNvPr id="33" name="Shape 31"/>
          <p:cNvSpPr/>
          <p:nvPr/>
        </p:nvSpPr>
        <p:spPr>
          <a:xfrm>
            <a:off x="640080" y="5724144"/>
            <a:ext cx="658368" cy="292608"/>
          </a:xfrm>
          <a:prstGeom prst="roundRect">
            <a:avLst>
              <a:gd name="adj" fmla="val 50000"/>
            </a:avLst>
          </a:prstGeom>
          <a:solidFill>
            <a:srgbClr val="6B7A8D"/>
          </a:solidFill>
          <a:ln/>
        </p:spPr>
      </p:sp>
      <p:sp>
        <p:nvSpPr>
          <p:cNvPr id="34" name="Text 32"/>
          <p:cNvSpPr/>
          <p:nvPr/>
        </p:nvSpPr>
        <p:spPr>
          <a:xfrm>
            <a:off x="640080" y="5724144"/>
            <a:ext cx="65836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5" name="Text 33"/>
          <p:cNvSpPr/>
          <p:nvPr/>
        </p:nvSpPr>
        <p:spPr>
          <a:xfrm>
            <a:off x="1417320" y="5522976"/>
            <a:ext cx="5943600" cy="347472"/>
          </a:xfrm>
          <a:prstGeom prst="rect">
            <a:avLst/>
          </a:prstGeom>
          <a:noFill/>
          <a:ln/>
        </p:spPr>
        <p:txBody>
          <a:bodyPr wrap="square" lIns="0" tIns="0" rIns="0" bIns="0" rtlCol="0" anchor="ctr"/>
          <a:lstStyle/>
          <a:p>
            <a:pPr marL="0" indent="0">
              <a:buNone/>
            </a:pPr>
            <a:r>
              <a:rPr lang="en-US" sz="1400" b="1" dirty="0">
                <a:solidFill>
                  <a:srgbClr val="1A2330"/>
                </a:solidFill>
                <a:latin typeface="Cambria" pitchFamily="34" charset="0"/>
                <a:ea typeface="Cambria" pitchFamily="34" charset="-122"/>
                <a:cs typeface="Cambria" pitchFamily="34" charset="-120"/>
              </a:rPr>
              <a:t>Idempotency key TTL</a:t>
            </a:r>
            <a:endParaRPr lang="en-US" sz="1400" dirty="0"/>
          </a:p>
        </p:txBody>
      </p:sp>
      <p:sp>
        <p:nvSpPr>
          <p:cNvPr id="36" name="Text 34"/>
          <p:cNvSpPr/>
          <p:nvPr/>
        </p:nvSpPr>
        <p:spPr>
          <a:xfrm>
            <a:off x="1417320" y="5870448"/>
            <a:ext cx="7680960" cy="365760"/>
          </a:xfrm>
          <a:prstGeom prst="rect">
            <a:avLst/>
          </a:prstGeom>
          <a:noFill/>
          <a:ln/>
        </p:spPr>
        <p:txBody>
          <a:bodyPr wrap="square" lIns="0" tIns="0" rIns="0" bIns="0" rtlCol="0" anchor="ctr"/>
          <a:lstStyle/>
          <a:p>
            <a:pPr marL="0" indent="0">
              <a:buNone/>
            </a:pPr>
            <a:r>
              <a:rPr lang="en-US" sz="1150" dirty="0">
                <a:solidFill>
                  <a:srgbClr val="6B7A8D"/>
                </a:solidFill>
                <a:latin typeface="Calibri" pitchFamily="34" charset="0"/>
                <a:ea typeface="Calibri" pitchFamily="34" charset="-122"/>
                <a:cs typeface="Calibri" pitchFamily="34" charset="-120"/>
              </a:rPr>
              <a:t>How long is an idempotency key valid? 24h? Indefinitely? Out of scope here but needed for production retry strategy.</a:t>
            </a:r>
            <a:endParaRPr lang="en-US" sz="1150" dirty="0"/>
          </a:p>
        </p:txBody>
      </p:sp>
      <p:sp>
        <p:nvSpPr>
          <p:cNvPr id="37" name="Shape 35"/>
          <p:cNvSpPr/>
          <p:nvPr/>
        </p:nvSpPr>
        <p:spPr>
          <a:xfrm>
            <a:off x="9189720" y="5614416"/>
            <a:ext cx="2286000" cy="502920"/>
          </a:xfrm>
          <a:prstGeom prst="roundRect">
            <a:avLst>
              <a:gd name="adj" fmla="val 10909"/>
            </a:avLst>
          </a:prstGeom>
          <a:solidFill>
            <a:srgbClr val="F4F8FB"/>
          </a:solidFill>
          <a:ln/>
        </p:spPr>
      </p:sp>
      <p:sp>
        <p:nvSpPr>
          <p:cNvPr id="38" name="Text 36"/>
          <p:cNvSpPr/>
          <p:nvPr/>
        </p:nvSpPr>
        <p:spPr>
          <a:xfrm>
            <a:off x="9189720" y="5614416"/>
            <a:ext cx="2286000" cy="502920"/>
          </a:xfrm>
          <a:prstGeom prst="rect">
            <a:avLst/>
          </a:prstGeom>
          <a:noFill/>
          <a:ln/>
        </p:spPr>
        <p:txBody>
          <a:bodyPr wrap="square" lIns="0" tIns="0" rIns="0" bIns="0" rtlCol="0" anchor="ctr"/>
          <a:lstStyle/>
          <a:p>
            <a:pPr marL="0" indent="0" algn="ctr">
              <a:buNone/>
            </a:pPr>
            <a:r>
              <a:rPr lang="en-US" sz="1050" b="1" dirty="0">
                <a:solidFill>
                  <a:srgbClr val="6B7A8D"/>
                </a:solidFill>
                <a:latin typeface="Calibri" pitchFamily="34" charset="0"/>
                <a:ea typeface="Calibri" pitchFamily="34" charset="-122"/>
                <a:cs typeface="Calibri" pitchFamily="34" charset="-120"/>
              </a:rPr>
              <a:t>Needed for production integration guide</a:t>
            </a:r>
            <a:endParaRPr lang="en-US" sz="1050" dirty="0"/>
          </a:p>
        </p:txBody>
      </p:sp>
      <p:sp>
        <p:nvSpPr>
          <p:cNvPr id="39" name="Text 37"/>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09</a:t>
            </a:r>
            <a:endParaRPr lang="en-US" sz="1000" dirty="0"/>
          </a:p>
        </p:txBody>
      </p:sp>
      <p:sp>
        <p:nvSpPr>
          <p:cNvPr id="40" name="Text 38"/>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BEYOND BLACK-BOX</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Recommending white &amp; grey-box tests — showing breadth</a:t>
            </a:r>
            <a:endParaRPr lang="en-US" sz="3000" dirty="0"/>
          </a:p>
        </p:txBody>
      </p:sp>
      <p:sp>
        <p:nvSpPr>
          <p:cNvPr id="4" name="Shape 2"/>
          <p:cNvSpPr/>
          <p:nvPr/>
        </p:nvSpPr>
        <p:spPr>
          <a:xfrm>
            <a:off x="548640" y="1719072"/>
            <a:ext cx="3584448" cy="3822192"/>
          </a:xfrm>
          <a:prstGeom prst="roundRect">
            <a:avLst>
              <a:gd name="adj" fmla="val 2041"/>
            </a:avLst>
          </a:prstGeom>
          <a:solidFill>
            <a:srgbClr val="FFFFFF"/>
          </a:solidFill>
          <a:ln w="19050">
            <a:solidFill>
              <a:srgbClr val="1F3864"/>
            </a:solidFill>
            <a:prstDash val="solid"/>
          </a:ln>
          <a:effectLst>
            <a:outerShdw blurRad="76200" dist="38100" dir="5400000" algn="bl" rotWithShape="0">
              <a:srgbClr val="000000">
                <a:alpha val="12000"/>
              </a:srgbClr>
            </a:outerShdw>
          </a:effectLst>
        </p:spPr>
      </p:sp>
      <p:sp>
        <p:nvSpPr>
          <p:cNvPr id="5" name="Shape 3"/>
          <p:cNvSpPr/>
          <p:nvPr/>
        </p:nvSpPr>
        <p:spPr>
          <a:xfrm>
            <a:off x="804672" y="1975104"/>
            <a:ext cx="1463040" cy="475488"/>
          </a:xfrm>
          <a:prstGeom prst="roundRect">
            <a:avLst>
              <a:gd name="adj" fmla="val 50000"/>
            </a:avLst>
          </a:prstGeom>
          <a:solidFill>
            <a:srgbClr val="1F3864"/>
          </a:solidFill>
          <a:ln/>
        </p:spPr>
      </p:sp>
      <p:sp>
        <p:nvSpPr>
          <p:cNvPr id="6" name="Text 4"/>
          <p:cNvSpPr/>
          <p:nvPr/>
        </p:nvSpPr>
        <p:spPr>
          <a:xfrm>
            <a:off x="804672" y="1975104"/>
            <a:ext cx="1463040" cy="475488"/>
          </a:xfrm>
          <a:prstGeom prst="rect">
            <a:avLst/>
          </a:prstGeom>
          <a:noFill/>
          <a:ln/>
        </p:spPr>
        <p:txBody>
          <a:bodyPr wrap="square" lIns="0" tIns="0" rIns="0" bIns="0" rtlCol="0" anchor="ctr"/>
          <a:lstStyle/>
          <a:p>
            <a:pPr marL="0" indent="0" algn="ctr">
              <a:buNone/>
            </a:pPr>
            <a:r>
              <a:rPr lang="en-US" sz="1400" b="1" kern="0" spc="200" dirty="0">
                <a:solidFill>
                  <a:srgbClr val="FFFFFF"/>
                </a:solidFill>
                <a:latin typeface="Calibri" pitchFamily="34" charset="0"/>
                <a:ea typeface="Calibri" pitchFamily="34" charset="-122"/>
                <a:cs typeface="Calibri" pitchFamily="34" charset="-120"/>
              </a:rPr>
              <a:t>BLACK</a:t>
            </a:r>
            <a:endParaRPr lang="en-US" sz="1400" dirty="0"/>
          </a:p>
        </p:txBody>
      </p:sp>
      <p:sp>
        <p:nvSpPr>
          <p:cNvPr id="7" name="Text 5"/>
          <p:cNvSpPr/>
          <p:nvPr/>
        </p:nvSpPr>
        <p:spPr>
          <a:xfrm>
            <a:off x="804672" y="2542032"/>
            <a:ext cx="3127248" cy="475488"/>
          </a:xfrm>
          <a:prstGeom prst="rect">
            <a:avLst/>
          </a:prstGeom>
          <a:noFill/>
          <a:ln/>
        </p:spPr>
        <p:txBody>
          <a:bodyPr wrap="square" lIns="0" tIns="0" rIns="0" bIns="0" rtlCol="0" anchor="ctr"/>
          <a:lstStyle/>
          <a:p>
            <a:pPr marL="0" indent="0">
              <a:lnSpc>
                <a:spcPct val="98000"/>
              </a:lnSpc>
              <a:buNone/>
            </a:pPr>
            <a:r>
              <a:rPr lang="en-US" sz="1100" i="1" dirty="0">
                <a:solidFill>
                  <a:srgbClr val="6B7A8D"/>
                </a:solidFill>
                <a:latin typeface="Calibri" pitchFamily="34" charset="0"/>
                <a:ea typeface="Calibri" pitchFamily="34" charset="-122"/>
                <a:cs typeface="Calibri" pitchFamily="34" charset="-120"/>
              </a:rPr>
              <a:t>API contract only · us, now · 90/98 passing</a:t>
            </a:r>
            <a:endParaRPr lang="en-US" sz="1100" dirty="0"/>
          </a:p>
        </p:txBody>
      </p:sp>
      <p:sp>
        <p:nvSpPr>
          <p:cNvPr id="8" name="Shape 6"/>
          <p:cNvSpPr/>
          <p:nvPr/>
        </p:nvSpPr>
        <p:spPr>
          <a:xfrm>
            <a:off x="804672" y="3246120"/>
            <a:ext cx="201168" cy="201168"/>
          </a:xfrm>
          <a:prstGeom prst="ellipse">
            <a:avLst/>
          </a:prstGeom>
          <a:solidFill>
            <a:srgbClr val="1F3864"/>
          </a:solidFill>
          <a:ln/>
        </p:spPr>
      </p:sp>
      <p:sp>
        <p:nvSpPr>
          <p:cNvPr id="9" name="Text 7"/>
          <p:cNvSpPr/>
          <p:nvPr/>
        </p:nvSpPr>
        <p:spPr>
          <a:xfrm>
            <a:off x="1097280" y="3136392"/>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Money conservation across load/unload</a:t>
            </a:r>
            <a:endParaRPr lang="en-US" sz="1200" dirty="0"/>
          </a:p>
        </p:txBody>
      </p:sp>
      <p:sp>
        <p:nvSpPr>
          <p:cNvPr id="10" name="Shape 8"/>
          <p:cNvSpPr/>
          <p:nvPr/>
        </p:nvSpPr>
        <p:spPr>
          <a:xfrm>
            <a:off x="804672" y="3822192"/>
            <a:ext cx="201168" cy="201168"/>
          </a:xfrm>
          <a:prstGeom prst="ellipse">
            <a:avLst/>
          </a:prstGeom>
          <a:solidFill>
            <a:srgbClr val="1F3864"/>
          </a:solidFill>
          <a:ln/>
        </p:spPr>
      </p:sp>
      <p:sp>
        <p:nvSpPr>
          <p:cNvPr id="11" name="Text 9"/>
          <p:cNvSpPr/>
          <p:nvPr/>
        </p:nvSpPr>
        <p:spPr>
          <a:xfrm>
            <a:off x="1097280" y="3712464"/>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Full state-transition matrix (valid paths)</a:t>
            </a:r>
            <a:endParaRPr lang="en-US" sz="1200" dirty="0"/>
          </a:p>
        </p:txBody>
      </p:sp>
      <p:sp>
        <p:nvSpPr>
          <p:cNvPr id="12" name="Shape 10"/>
          <p:cNvSpPr/>
          <p:nvPr/>
        </p:nvSpPr>
        <p:spPr>
          <a:xfrm>
            <a:off x="804672" y="4398264"/>
            <a:ext cx="201168" cy="201168"/>
          </a:xfrm>
          <a:prstGeom prst="ellipse">
            <a:avLst/>
          </a:prstGeom>
          <a:solidFill>
            <a:srgbClr val="1F3864"/>
          </a:solidFill>
          <a:ln/>
        </p:spPr>
      </p:sp>
      <p:sp>
        <p:nvSpPr>
          <p:cNvPr id="13" name="Text 11"/>
          <p:cNvSpPr/>
          <p:nvPr/>
        </p:nvSpPr>
        <p:spPr>
          <a:xfrm>
            <a:off x="1097280" y="4288536"/>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Schema &amp; error-code assertions</a:t>
            </a:r>
            <a:endParaRPr lang="en-US" sz="1200" dirty="0"/>
          </a:p>
        </p:txBody>
      </p:sp>
      <p:sp>
        <p:nvSpPr>
          <p:cNvPr id="14" name="Shape 12"/>
          <p:cNvSpPr/>
          <p:nvPr/>
        </p:nvSpPr>
        <p:spPr>
          <a:xfrm>
            <a:off x="804672" y="4974336"/>
            <a:ext cx="201168" cy="201168"/>
          </a:xfrm>
          <a:prstGeom prst="ellipse">
            <a:avLst/>
          </a:prstGeom>
          <a:solidFill>
            <a:srgbClr val="1F3864"/>
          </a:solidFill>
          <a:ln/>
        </p:spPr>
      </p:sp>
      <p:sp>
        <p:nvSpPr>
          <p:cNvPr id="15" name="Text 13"/>
          <p:cNvSpPr/>
          <p:nvPr/>
        </p:nvSpPr>
        <p:spPr>
          <a:xfrm>
            <a:off x="1097280" y="4864608"/>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Idempotency global scope verification</a:t>
            </a:r>
            <a:endParaRPr lang="en-US" sz="1200" dirty="0"/>
          </a:p>
        </p:txBody>
      </p:sp>
      <p:sp>
        <p:nvSpPr>
          <p:cNvPr id="16" name="Shape 14"/>
          <p:cNvSpPr/>
          <p:nvPr/>
        </p:nvSpPr>
        <p:spPr>
          <a:xfrm>
            <a:off x="4334256" y="1719072"/>
            <a:ext cx="3584448" cy="3822192"/>
          </a:xfrm>
          <a:prstGeom prst="roundRect">
            <a:avLst>
              <a:gd name="adj" fmla="val 2041"/>
            </a:avLst>
          </a:prstGeom>
          <a:solidFill>
            <a:srgbClr val="FFFFFF"/>
          </a:solidFill>
          <a:ln w="19050">
            <a:solidFill>
              <a:srgbClr val="065A82"/>
            </a:solidFill>
            <a:prstDash val="solid"/>
          </a:ln>
          <a:effectLst>
            <a:outerShdw blurRad="76200" dist="38100" dir="5400000" algn="bl" rotWithShape="0">
              <a:srgbClr val="000000">
                <a:alpha val="12000"/>
              </a:srgbClr>
            </a:outerShdw>
          </a:effectLst>
        </p:spPr>
      </p:sp>
      <p:sp>
        <p:nvSpPr>
          <p:cNvPr id="17" name="Shape 15"/>
          <p:cNvSpPr/>
          <p:nvPr/>
        </p:nvSpPr>
        <p:spPr>
          <a:xfrm>
            <a:off x="4590288" y="1975104"/>
            <a:ext cx="1463040" cy="475488"/>
          </a:xfrm>
          <a:prstGeom prst="roundRect">
            <a:avLst>
              <a:gd name="adj" fmla="val 50000"/>
            </a:avLst>
          </a:prstGeom>
          <a:solidFill>
            <a:srgbClr val="065A82"/>
          </a:solidFill>
          <a:ln/>
        </p:spPr>
      </p:sp>
      <p:sp>
        <p:nvSpPr>
          <p:cNvPr id="18" name="Text 16"/>
          <p:cNvSpPr/>
          <p:nvPr/>
        </p:nvSpPr>
        <p:spPr>
          <a:xfrm>
            <a:off x="4590288" y="1975104"/>
            <a:ext cx="1463040" cy="475488"/>
          </a:xfrm>
          <a:prstGeom prst="rect">
            <a:avLst/>
          </a:prstGeom>
          <a:noFill/>
          <a:ln/>
        </p:spPr>
        <p:txBody>
          <a:bodyPr wrap="square" lIns="0" tIns="0" rIns="0" bIns="0" rtlCol="0" anchor="ctr"/>
          <a:lstStyle/>
          <a:p>
            <a:pPr marL="0" indent="0" algn="ctr">
              <a:buNone/>
            </a:pPr>
            <a:r>
              <a:rPr lang="en-US" sz="1400" b="1" kern="0" spc="200" dirty="0">
                <a:solidFill>
                  <a:srgbClr val="FFFFFF"/>
                </a:solidFill>
                <a:latin typeface="Calibri" pitchFamily="34" charset="0"/>
                <a:ea typeface="Calibri" pitchFamily="34" charset="-122"/>
                <a:cs typeface="Calibri" pitchFamily="34" charset="-120"/>
              </a:rPr>
              <a:t>GREY</a:t>
            </a:r>
            <a:endParaRPr lang="en-US" sz="1400" dirty="0"/>
          </a:p>
        </p:txBody>
      </p:sp>
      <p:sp>
        <p:nvSpPr>
          <p:cNvPr id="19" name="Text 17"/>
          <p:cNvSpPr/>
          <p:nvPr/>
        </p:nvSpPr>
        <p:spPr>
          <a:xfrm>
            <a:off x="4590288" y="2542032"/>
            <a:ext cx="3127248" cy="475488"/>
          </a:xfrm>
          <a:prstGeom prst="rect">
            <a:avLst/>
          </a:prstGeom>
          <a:noFill/>
          <a:ln/>
        </p:spPr>
        <p:txBody>
          <a:bodyPr wrap="square" lIns="0" tIns="0" rIns="0" bIns="0" rtlCol="0" anchor="ctr"/>
          <a:lstStyle/>
          <a:p>
            <a:pPr marL="0" indent="0">
              <a:lnSpc>
                <a:spcPct val="98000"/>
              </a:lnSpc>
              <a:buNone/>
            </a:pPr>
            <a:r>
              <a:rPr lang="en-US" sz="1100" i="1" dirty="0">
                <a:solidFill>
                  <a:srgbClr val="6B7A8D"/>
                </a:solidFill>
                <a:latin typeface="Calibri" pitchFamily="34" charset="0"/>
                <a:ea typeface="Calibri" pitchFamily="34" charset="-122"/>
                <a:cs typeface="Calibri" pitchFamily="34" charset="-120"/>
              </a:rPr>
              <a:t>Logs, DB, events · us + Berkeley</a:t>
            </a:r>
            <a:endParaRPr lang="en-US" sz="1100" dirty="0"/>
          </a:p>
        </p:txBody>
      </p:sp>
      <p:sp>
        <p:nvSpPr>
          <p:cNvPr id="20" name="Shape 18"/>
          <p:cNvSpPr/>
          <p:nvPr/>
        </p:nvSpPr>
        <p:spPr>
          <a:xfrm>
            <a:off x="4590288" y="3246120"/>
            <a:ext cx="201168" cy="201168"/>
          </a:xfrm>
          <a:prstGeom prst="ellipse">
            <a:avLst/>
          </a:prstGeom>
          <a:solidFill>
            <a:srgbClr val="065A82"/>
          </a:solidFill>
          <a:ln/>
        </p:spPr>
      </p:sp>
      <p:sp>
        <p:nvSpPr>
          <p:cNvPr id="21" name="Text 19"/>
          <p:cNvSpPr/>
          <p:nvPr/>
        </p:nvSpPr>
        <p:spPr>
          <a:xfrm>
            <a:off x="4882896" y="3136392"/>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API response matches ledger posting</a:t>
            </a:r>
            <a:endParaRPr lang="en-US" sz="1200" dirty="0"/>
          </a:p>
        </p:txBody>
      </p:sp>
      <p:sp>
        <p:nvSpPr>
          <p:cNvPr id="22" name="Shape 20"/>
          <p:cNvSpPr/>
          <p:nvPr/>
        </p:nvSpPr>
        <p:spPr>
          <a:xfrm>
            <a:off x="4590288" y="3822192"/>
            <a:ext cx="201168" cy="201168"/>
          </a:xfrm>
          <a:prstGeom prst="ellipse">
            <a:avLst/>
          </a:prstGeom>
          <a:solidFill>
            <a:srgbClr val="065A82"/>
          </a:solidFill>
          <a:ln/>
        </p:spPr>
      </p:sp>
      <p:sp>
        <p:nvSpPr>
          <p:cNvPr id="23" name="Text 21"/>
          <p:cNvSpPr/>
          <p:nvPr/>
        </p:nvSpPr>
        <p:spPr>
          <a:xfrm>
            <a:off x="4882896" y="3712464"/>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Domain events emitted (value_load.created)</a:t>
            </a:r>
            <a:endParaRPr lang="en-US" sz="1200" dirty="0"/>
          </a:p>
        </p:txBody>
      </p:sp>
      <p:sp>
        <p:nvSpPr>
          <p:cNvPr id="24" name="Shape 22"/>
          <p:cNvSpPr/>
          <p:nvPr/>
        </p:nvSpPr>
        <p:spPr>
          <a:xfrm>
            <a:off x="4590288" y="4398264"/>
            <a:ext cx="201168" cy="201168"/>
          </a:xfrm>
          <a:prstGeom prst="ellipse">
            <a:avLst/>
          </a:prstGeom>
          <a:solidFill>
            <a:srgbClr val="065A82"/>
          </a:solidFill>
          <a:ln/>
        </p:spPr>
      </p:sp>
      <p:sp>
        <p:nvSpPr>
          <p:cNvPr id="25" name="Text 23"/>
          <p:cNvSpPr/>
          <p:nvPr/>
        </p:nvSpPr>
        <p:spPr>
          <a:xfrm>
            <a:off x="4882896" y="4288536"/>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Provider-side Pact verification in Berkeley CI</a:t>
            </a:r>
            <a:endParaRPr lang="en-US" sz="1200" dirty="0"/>
          </a:p>
        </p:txBody>
      </p:sp>
      <p:sp>
        <p:nvSpPr>
          <p:cNvPr id="26" name="Shape 24"/>
          <p:cNvSpPr/>
          <p:nvPr/>
        </p:nvSpPr>
        <p:spPr>
          <a:xfrm>
            <a:off x="4590288" y="4974336"/>
            <a:ext cx="201168" cy="201168"/>
          </a:xfrm>
          <a:prstGeom prst="ellipse">
            <a:avLst/>
          </a:prstGeom>
          <a:solidFill>
            <a:srgbClr val="065A82"/>
          </a:solidFill>
          <a:ln/>
        </p:spPr>
      </p:sp>
      <p:sp>
        <p:nvSpPr>
          <p:cNvPr id="27" name="Text 25"/>
          <p:cNvSpPr/>
          <p:nvPr/>
        </p:nvSpPr>
        <p:spPr>
          <a:xfrm>
            <a:off x="4882896" y="4864608"/>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Observability-driven load path checks</a:t>
            </a:r>
            <a:endParaRPr lang="en-US" sz="1200" dirty="0"/>
          </a:p>
        </p:txBody>
      </p:sp>
      <p:sp>
        <p:nvSpPr>
          <p:cNvPr id="28" name="Shape 26"/>
          <p:cNvSpPr/>
          <p:nvPr/>
        </p:nvSpPr>
        <p:spPr>
          <a:xfrm>
            <a:off x="8119872" y="1719072"/>
            <a:ext cx="3584448" cy="3822192"/>
          </a:xfrm>
          <a:prstGeom prst="roundRect">
            <a:avLst>
              <a:gd name="adj" fmla="val 2041"/>
            </a:avLst>
          </a:prstGeom>
          <a:solidFill>
            <a:srgbClr val="FFFFFF"/>
          </a:solidFill>
          <a:ln w="19050">
            <a:solidFill>
              <a:srgbClr val="F2A65A"/>
            </a:solidFill>
            <a:prstDash val="solid"/>
          </a:ln>
          <a:effectLst>
            <a:outerShdw blurRad="76200" dist="38100" dir="5400000" algn="bl" rotWithShape="0">
              <a:srgbClr val="000000">
                <a:alpha val="12000"/>
              </a:srgbClr>
            </a:outerShdw>
          </a:effectLst>
        </p:spPr>
      </p:sp>
      <p:sp>
        <p:nvSpPr>
          <p:cNvPr id="29" name="Shape 27"/>
          <p:cNvSpPr/>
          <p:nvPr/>
        </p:nvSpPr>
        <p:spPr>
          <a:xfrm>
            <a:off x="8375904" y="1975104"/>
            <a:ext cx="1463040" cy="475488"/>
          </a:xfrm>
          <a:prstGeom prst="roundRect">
            <a:avLst>
              <a:gd name="adj" fmla="val 50000"/>
            </a:avLst>
          </a:prstGeom>
          <a:solidFill>
            <a:srgbClr val="F2A65A"/>
          </a:solidFill>
          <a:ln/>
        </p:spPr>
      </p:sp>
      <p:sp>
        <p:nvSpPr>
          <p:cNvPr id="30" name="Text 28"/>
          <p:cNvSpPr/>
          <p:nvPr/>
        </p:nvSpPr>
        <p:spPr>
          <a:xfrm>
            <a:off x="8375904" y="1975104"/>
            <a:ext cx="1463040" cy="475488"/>
          </a:xfrm>
          <a:prstGeom prst="rect">
            <a:avLst/>
          </a:prstGeom>
          <a:noFill/>
          <a:ln/>
        </p:spPr>
        <p:txBody>
          <a:bodyPr wrap="square" lIns="0" tIns="0" rIns="0" bIns="0" rtlCol="0" anchor="ctr"/>
          <a:lstStyle/>
          <a:p>
            <a:pPr marL="0" indent="0" algn="ctr">
              <a:buNone/>
            </a:pPr>
            <a:r>
              <a:rPr lang="en-US" sz="1400" b="1" kern="0" spc="200" dirty="0">
                <a:solidFill>
                  <a:srgbClr val="FFFFFF"/>
                </a:solidFill>
                <a:latin typeface="Calibri" pitchFamily="34" charset="0"/>
                <a:ea typeface="Calibri" pitchFamily="34" charset="-122"/>
                <a:cs typeface="Calibri" pitchFamily="34" charset="-120"/>
              </a:rPr>
              <a:t>WHITE</a:t>
            </a:r>
            <a:endParaRPr lang="en-US" sz="1400" dirty="0"/>
          </a:p>
        </p:txBody>
      </p:sp>
      <p:sp>
        <p:nvSpPr>
          <p:cNvPr id="31" name="Text 29"/>
          <p:cNvSpPr/>
          <p:nvPr/>
        </p:nvSpPr>
        <p:spPr>
          <a:xfrm>
            <a:off x="8375904" y="2542032"/>
            <a:ext cx="3127248" cy="475488"/>
          </a:xfrm>
          <a:prstGeom prst="rect">
            <a:avLst/>
          </a:prstGeom>
          <a:noFill/>
          <a:ln/>
        </p:spPr>
        <p:txBody>
          <a:bodyPr wrap="square" lIns="0" tIns="0" rIns="0" bIns="0" rtlCol="0" anchor="ctr"/>
          <a:lstStyle/>
          <a:p>
            <a:pPr marL="0" indent="0">
              <a:lnSpc>
                <a:spcPct val="98000"/>
              </a:lnSpc>
              <a:buNone/>
            </a:pPr>
            <a:r>
              <a:rPr lang="en-US" sz="1100" i="1" dirty="0">
                <a:solidFill>
                  <a:srgbClr val="6B7A8D"/>
                </a:solidFill>
                <a:latin typeface="Calibri" pitchFamily="34" charset="0"/>
                <a:ea typeface="Calibri" pitchFamily="34" charset="-122"/>
                <a:cs typeface="Calibri" pitchFamily="34" charset="-120"/>
              </a:rPr>
              <a:t>Source code · Berkeley engineering</a:t>
            </a:r>
            <a:endParaRPr lang="en-US" sz="1100" dirty="0"/>
          </a:p>
        </p:txBody>
      </p:sp>
      <p:sp>
        <p:nvSpPr>
          <p:cNvPr id="32" name="Shape 30"/>
          <p:cNvSpPr/>
          <p:nvPr/>
        </p:nvSpPr>
        <p:spPr>
          <a:xfrm>
            <a:off x="8375904" y="3246120"/>
            <a:ext cx="201168" cy="201168"/>
          </a:xfrm>
          <a:prstGeom prst="ellipse">
            <a:avLst/>
          </a:prstGeom>
          <a:solidFill>
            <a:srgbClr val="F2A65A"/>
          </a:solidFill>
          <a:ln/>
        </p:spPr>
      </p:sp>
      <p:sp>
        <p:nvSpPr>
          <p:cNvPr id="33" name="Text 31"/>
          <p:cNvSpPr/>
          <p:nvPr/>
        </p:nvSpPr>
        <p:spPr>
          <a:xfrm>
            <a:off x="8668512" y="3136392"/>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Unit tests on balance arithmetic</a:t>
            </a:r>
            <a:endParaRPr lang="en-US" sz="1200" dirty="0"/>
          </a:p>
        </p:txBody>
      </p:sp>
      <p:sp>
        <p:nvSpPr>
          <p:cNvPr id="34" name="Shape 32"/>
          <p:cNvSpPr/>
          <p:nvPr/>
        </p:nvSpPr>
        <p:spPr>
          <a:xfrm>
            <a:off x="8375904" y="3822192"/>
            <a:ext cx="201168" cy="201168"/>
          </a:xfrm>
          <a:prstGeom prst="ellipse">
            <a:avLst/>
          </a:prstGeom>
          <a:solidFill>
            <a:srgbClr val="F2A65A"/>
          </a:solidFill>
          <a:ln/>
        </p:spPr>
      </p:sp>
      <p:sp>
        <p:nvSpPr>
          <p:cNvPr id="35" name="Text 33"/>
          <p:cNvSpPr/>
          <p:nvPr/>
        </p:nvSpPr>
        <p:spPr>
          <a:xfrm>
            <a:off x="8668512" y="3712464"/>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Branch coverage on status state machine</a:t>
            </a:r>
            <a:endParaRPr lang="en-US" sz="1200" dirty="0"/>
          </a:p>
        </p:txBody>
      </p:sp>
      <p:sp>
        <p:nvSpPr>
          <p:cNvPr id="36" name="Shape 34"/>
          <p:cNvSpPr/>
          <p:nvPr/>
        </p:nvSpPr>
        <p:spPr>
          <a:xfrm>
            <a:off x="8375904" y="4398264"/>
            <a:ext cx="201168" cy="201168"/>
          </a:xfrm>
          <a:prstGeom prst="ellipse">
            <a:avLst/>
          </a:prstGeom>
          <a:solidFill>
            <a:srgbClr val="F2A65A"/>
          </a:solidFill>
          <a:ln/>
        </p:spPr>
      </p:sp>
      <p:sp>
        <p:nvSpPr>
          <p:cNvPr id="37" name="Text 35"/>
          <p:cNvSpPr/>
          <p:nvPr/>
        </p:nvSpPr>
        <p:spPr>
          <a:xfrm>
            <a:off x="8668512" y="4288536"/>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Coverage gates on money-movement modules</a:t>
            </a:r>
            <a:endParaRPr lang="en-US" sz="1200" dirty="0"/>
          </a:p>
        </p:txBody>
      </p:sp>
      <p:sp>
        <p:nvSpPr>
          <p:cNvPr id="38" name="Shape 36"/>
          <p:cNvSpPr/>
          <p:nvPr/>
        </p:nvSpPr>
        <p:spPr>
          <a:xfrm>
            <a:off x="8375904" y="4974336"/>
            <a:ext cx="201168" cy="201168"/>
          </a:xfrm>
          <a:prstGeom prst="ellipse">
            <a:avLst/>
          </a:prstGeom>
          <a:solidFill>
            <a:srgbClr val="F2A65A"/>
          </a:solidFill>
          <a:ln/>
        </p:spPr>
      </p:sp>
      <p:sp>
        <p:nvSpPr>
          <p:cNvPr id="39" name="Text 37"/>
          <p:cNvSpPr/>
          <p:nvPr/>
        </p:nvSpPr>
        <p:spPr>
          <a:xfrm>
            <a:off x="8668512" y="4864608"/>
            <a:ext cx="2889504" cy="502920"/>
          </a:xfrm>
          <a:prstGeom prst="rect">
            <a:avLst/>
          </a:prstGeom>
          <a:noFill/>
          <a:ln/>
        </p:spPr>
        <p:txBody>
          <a:bodyPr wrap="square" lIns="0" tIns="0" rIns="0" bIns="0" rtlCol="0" anchor="ctr"/>
          <a:lstStyle/>
          <a:p>
            <a:pPr marL="0" indent="0">
              <a:lnSpc>
                <a:spcPct val="98000"/>
              </a:lnSpc>
              <a:buNone/>
            </a:pPr>
            <a:r>
              <a:rPr lang="en-US" sz="1200" dirty="0">
                <a:solidFill>
                  <a:srgbClr val="1A2330"/>
                </a:solidFill>
                <a:latin typeface="Calibri" pitchFamily="34" charset="0"/>
                <a:ea typeface="Calibri" pitchFamily="34" charset="-122"/>
                <a:cs typeface="Calibri" pitchFamily="34" charset="-120"/>
              </a:rPr>
              <a:t>Static analysis / SAST on ledger code</a:t>
            </a:r>
            <a:endParaRPr lang="en-US" sz="1200" dirty="0"/>
          </a:p>
        </p:txBody>
      </p:sp>
      <p:sp>
        <p:nvSpPr>
          <p:cNvPr id="40" name="Text 38"/>
          <p:cNvSpPr/>
          <p:nvPr/>
        </p:nvSpPr>
        <p:spPr>
          <a:xfrm>
            <a:off x="548640" y="5760720"/>
            <a:ext cx="11064240" cy="502920"/>
          </a:xfrm>
          <a:prstGeom prst="rect">
            <a:avLst/>
          </a:prstGeom>
          <a:solidFill>
            <a:srgbClr val="F4F8FB"/>
          </a:solidFill>
          <a:ln w="12700">
            <a:solidFill>
              <a:srgbClr val="DCE7F0"/>
            </a:solidFill>
          </a:ln>
        </p:spPr>
        <p:txBody>
          <a:bodyPr wrap="square" lIns="101600" tIns="101600" rIns="101600" bIns="101600" rtlCol="0" anchor="ctr"/>
          <a:lstStyle/>
          <a:p>
            <a:pPr marL="0" indent="0" algn="ctr">
              <a:buNone/>
            </a:pPr>
            <a:r>
              <a:rPr lang="en-US" sz="1350" b="1" dirty="0">
                <a:solidFill>
                  <a:srgbClr val="1F3864"/>
                </a:solidFill>
                <a:latin typeface="Calibri" pitchFamily="34" charset="0"/>
                <a:ea typeface="Calibri" pitchFamily="34" charset="-122"/>
                <a:cs typeface="Calibri" pitchFamily="34" charset="-120"/>
              </a:rPr>
              <a:t>The key signal:  </a:t>
            </a:r>
            <a:r>
              <a:rPr lang="en-US" sz="1350" dirty="0">
                <a:solidFill>
                  <a:srgbClr val="1A2330"/>
                </a:solidFill>
                <a:latin typeface="Calibri" pitchFamily="34" charset="0"/>
                <a:ea typeface="Calibri" pitchFamily="34" charset="-122"/>
                <a:cs typeface="Calibri" pitchFamily="34" charset="-120"/>
              </a:rPr>
              <a:t>knowing what you </a:t>
            </a:r>
            <a:r>
              <a:rPr lang="en-US" sz="1350" b="1" i="1" dirty="0">
                <a:solidFill>
                  <a:srgbClr val="F2A65A"/>
                </a:solidFill>
                <a:latin typeface="Calibri" pitchFamily="34" charset="0"/>
                <a:ea typeface="Calibri" pitchFamily="34" charset="-122"/>
                <a:cs typeface="Calibri" pitchFamily="34" charset="-120"/>
              </a:rPr>
              <a:t>can't</a:t>
            </a:r>
            <a:r>
              <a:rPr lang="en-US" sz="1350" dirty="0">
                <a:solidFill>
                  <a:srgbClr val="1A2330"/>
                </a:solidFill>
                <a:latin typeface="Calibri" pitchFamily="34" charset="0"/>
                <a:ea typeface="Calibri" pitchFamily="34" charset="-122"/>
                <a:cs typeface="Calibri" pitchFamily="34" charset="-120"/>
              </a:rPr>
              <a:t> reach — and recommending who should — is what shows Staff-level breadth.</a:t>
            </a:r>
            <a:endParaRPr lang="en-US" sz="1350" dirty="0"/>
          </a:p>
        </p:txBody>
      </p:sp>
      <p:sp>
        <p:nvSpPr>
          <p:cNvPr id="41" name="Text 39"/>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10</a:t>
            </a:r>
            <a:endParaRPr lang="en-US" sz="1000" dirty="0"/>
          </a:p>
        </p:txBody>
      </p:sp>
      <p:sp>
        <p:nvSpPr>
          <p:cNvPr id="42" name="Text 40"/>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75488"/>
            <a:ext cx="10058400" cy="274320"/>
          </a:xfrm>
          <a:prstGeom prst="rect">
            <a:avLst/>
          </a:prstGeom>
          <a:noFill/>
          <a:ln/>
        </p:spPr>
        <p:txBody>
          <a:bodyPr wrap="square" rtlCol="0" anchor="ctr"/>
          <a:lstStyle/>
          <a:p>
            <a:pPr marL="0" indent="0">
              <a:buNone/>
            </a:pPr>
            <a:r>
              <a:rPr lang="en-US" sz="1200" b="1" kern="0" spc="300" dirty="0">
                <a:solidFill>
                  <a:srgbClr val="065A82"/>
                </a:solidFill>
                <a:latin typeface="Calibri" pitchFamily="34" charset="0"/>
                <a:ea typeface="Calibri" pitchFamily="34" charset="-122"/>
                <a:cs typeface="Calibri" pitchFamily="34" charset="-120"/>
              </a:rPr>
              <a:t>WHAT'S NEXT</a:t>
            </a:r>
            <a:endParaRPr lang="en-US" sz="1200" dirty="0"/>
          </a:p>
        </p:txBody>
      </p:sp>
      <p:sp>
        <p:nvSpPr>
          <p:cNvPr id="3" name="Text 1"/>
          <p:cNvSpPr/>
          <p:nvPr/>
        </p:nvSpPr>
        <p:spPr>
          <a:xfrm>
            <a:off x="548640" y="768096"/>
            <a:ext cx="11064240" cy="749808"/>
          </a:xfrm>
          <a:prstGeom prst="rect">
            <a:avLst/>
          </a:prstGeom>
          <a:noFill/>
          <a:ln/>
        </p:spPr>
        <p:txBody>
          <a:bodyPr wrap="square" lIns="0" tIns="0" rIns="0" bIns="0" rtlCol="0" anchor="ctr"/>
          <a:lstStyle/>
          <a:p>
            <a:pPr marL="0" indent="0">
              <a:buNone/>
            </a:pPr>
            <a:r>
              <a:rPr lang="en-US" sz="3000" b="1" dirty="0">
                <a:solidFill>
                  <a:srgbClr val="1A2330"/>
                </a:solidFill>
                <a:latin typeface="Cambria" pitchFamily="34" charset="0"/>
                <a:ea typeface="Cambria" pitchFamily="34" charset="-122"/>
                <a:cs typeface="Cambria" pitchFamily="34" charset="-120"/>
              </a:rPr>
              <a:t>How we'd grow this suite with Berkeley access</a:t>
            </a:r>
            <a:endParaRPr lang="en-US" sz="3000" dirty="0"/>
          </a:p>
        </p:txBody>
      </p:sp>
      <p:sp>
        <p:nvSpPr>
          <p:cNvPr id="4" name="Shape 2"/>
          <p:cNvSpPr/>
          <p:nvPr/>
        </p:nvSpPr>
        <p:spPr>
          <a:xfrm>
            <a:off x="548640" y="1755648"/>
            <a:ext cx="5303520"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5" name="Shape 3"/>
          <p:cNvSpPr/>
          <p:nvPr/>
        </p:nvSpPr>
        <p:spPr>
          <a:xfrm>
            <a:off x="768096" y="2002536"/>
            <a:ext cx="658368" cy="658368"/>
          </a:xfrm>
          <a:prstGeom prst="ellipse">
            <a:avLst/>
          </a:prstGeom>
          <a:solidFill>
            <a:srgbClr val="1F3864"/>
          </a:solidFill>
          <a:ln/>
          <a:effectLst>
            <a:outerShdw blurRad="76200" dist="38100" dir="54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939272" y="2173712"/>
            <a:ext cx="316017" cy="316017"/>
          </a:xfrm>
          <a:prstGeom prst="rect">
            <a:avLst/>
          </a:prstGeom>
        </p:spPr>
      </p:pic>
      <p:sp>
        <p:nvSpPr>
          <p:cNvPr id="7" name="Text 4"/>
          <p:cNvSpPr/>
          <p:nvPr/>
        </p:nvSpPr>
        <p:spPr>
          <a:xfrm>
            <a:off x="1554480" y="1956816"/>
            <a:ext cx="4160520" cy="402336"/>
          </a:xfrm>
          <a:prstGeom prst="rect">
            <a:avLst/>
          </a:prstGeom>
          <a:noFill/>
          <a:ln/>
        </p:spPr>
        <p:txBody>
          <a:bodyPr wrap="square" lIns="0" tIns="0" rIns="0" bIns="0" rtlCol="0" anchor="ctr"/>
          <a:lstStyle/>
          <a:p>
            <a:pPr marL="0" indent="0">
              <a:buNone/>
            </a:pPr>
            <a:r>
              <a:rPr lang="en-US" sz="1500" b="1" dirty="0">
                <a:solidFill>
                  <a:srgbClr val="1A2330"/>
                </a:solidFill>
                <a:latin typeface="Cambria" pitchFamily="34" charset="0"/>
                <a:ea typeface="Cambria" pitchFamily="34" charset="-122"/>
                <a:cs typeface="Cambria" pitchFamily="34" charset="-120"/>
              </a:rPr>
              <a:t>Pact contract testing</a:t>
            </a:r>
            <a:endParaRPr lang="en-US" sz="1500" dirty="0"/>
          </a:p>
        </p:txBody>
      </p:sp>
      <p:sp>
        <p:nvSpPr>
          <p:cNvPr id="8" name="Text 5"/>
          <p:cNvSpPr/>
          <p:nvPr/>
        </p:nvSpPr>
        <p:spPr>
          <a:xfrm>
            <a:off x="1554480" y="2350008"/>
            <a:ext cx="4160520" cy="1188720"/>
          </a:xfrm>
          <a:prstGeom prst="rect">
            <a:avLst/>
          </a:prstGeom>
          <a:noFill/>
          <a:ln/>
        </p:spPr>
        <p:txBody>
          <a:bodyPr wrap="square" lIns="0" tIns="0" rIns="0" bIns="0" rtlCol="0" anchor="ctr"/>
          <a:lstStyle/>
          <a:p>
            <a:pPr marL="0" indent="0">
              <a:lnSpc>
                <a:spcPct val="100000"/>
              </a:lnSpc>
              <a:buNone/>
            </a:pPr>
            <a:r>
              <a:rPr lang="en-US" sz="1200" dirty="0">
                <a:solidFill>
                  <a:srgbClr val="6B7A8D"/>
                </a:solidFill>
                <a:latin typeface="Calibri" pitchFamily="34" charset="0"/>
                <a:ea typeface="Calibri" pitchFamily="34" charset="-122"/>
                <a:cs typeface="Calibri" pitchFamily="34" charset="-120"/>
              </a:rPr>
              <a:t>Publish a consumer contract Berkeley's CI verifies on every deploy. Breaking API changes fail their build before reaching us. This is the most impactful recommendation.</a:t>
            </a:r>
            <a:endParaRPr lang="en-US" sz="1200" dirty="0"/>
          </a:p>
        </p:txBody>
      </p:sp>
      <p:sp>
        <p:nvSpPr>
          <p:cNvPr id="9" name="Shape 6"/>
          <p:cNvSpPr/>
          <p:nvPr/>
        </p:nvSpPr>
        <p:spPr>
          <a:xfrm>
            <a:off x="6108192" y="1755648"/>
            <a:ext cx="5303520"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10" name="Shape 7"/>
          <p:cNvSpPr/>
          <p:nvPr/>
        </p:nvSpPr>
        <p:spPr>
          <a:xfrm>
            <a:off x="6327648" y="2002536"/>
            <a:ext cx="658368" cy="658368"/>
          </a:xfrm>
          <a:prstGeom prst="ellipse">
            <a:avLst/>
          </a:prstGeom>
          <a:solidFill>
            <a:srgbClr val="065A82"/>
          </a:solidFill>
          <a:ln/>
          <a:effectLst>
            <a:outerShdw blurRad="76200" dist="38100" dir="5400000" algn="bl" rotWithShape="0">
              <a:srgbClr val="000000">
                <a:alpha val="12000"/>
              </a:srgbClr>
            </a:outerShdw>
          </a:effectLst>
        </p:spPr>
      </p:sp>
      <p:pic>
        <p:nvPicPr>
          <p:cNvPr id="11" name="Image 1" descr="preencoded.png"/>
          <p:cNvPicPr>
            <a:picLocks noChangeAspect="1"/>
          </p:cNvPicPr>
          <p:nvPr/>
        </p:nvPicPr>
        <p:blipFill>
          <a:blip r:embed="rId4"/>
          <a:stretch>
            <a:fillRect/>
          </a:stretch>
        </p:blipFill>
        <p:spPr>
          <a:xfrm>
            <a:off x="6498824" y="2173712"/>
            <a:ext cx="316017" cy="316017"/>
          </a:xfrm>
          <a:prstGeom prst="rect">
            <a:avLst/>
          </a:prstGeom>
        </p:spPr>
      </p:pic>
      <p:sp>
        <p:nvSpPr>
          <p:cNvPr id="12" name="Text 8"/>
          <p:cNvSpPr/>
          <p:nvPr/>
        </p:nvSpPr>
        <p:spPr>
          <a:xfrm>
            <a:off x="7114032" y="1956816"/>
            <a:ext cx="4160520" cy="402336"/>
          </a:xfrm>
          <a:prstGeom prst="rect">
            <a:avLst/>
          </a:prstGeom>
          <a:noFill/>
          <a:ln/>
        </p:spPr>
        <p:txBody>
          <a:bodyPr wrap="square" lIns="0" tIns="0" rIns="0" bIns="0" rtlCol="0" anchor="ctr"/>
          <a:lstStyle/>
          <a:p>
            <a:pPr marL="0" indent="0">
              <a:buNone/>
            </a:pPr>
            <a:r>
              <a:rPr lang="en-US" sz="1500" b="1" dirty="0">
                <a:solidFill>
                  <a:srgbClr val="1A2330"/>
                </a:solidFill>
                <a:latin typeface="Cambria" pitchFamily="34" charset="0"/>
                <a:ea typeface="Cambria" pitchFamily="34" charset="-122"/>
                <a:cs typeface="Cambria" pitchFamily="34" charset="-120"/>
              </a:rPr>
              <a:t>Concurrent operations testing</a:t>
            </a:r>
            <a:endParaRPr lang="en-US" sz="1500" dirty="0"/>
          </a:p>
        </p:txBody>
      </p:sp>
      <p:sp>
        <p:nvSpPr>
          <p:cNvPr id="13" name="Text 9"/>
          <p:cNvSpPr/>
          <p:nvPr/>
        </p:nvSpPr>
        <p:spPr>
          <a:xfrm>
            <a:off x="7114032" y="2350008"/>
            <a:ext cx="4160520" cy="1188720"/>
          </a:xfrm>
          <a:prstGeom prst="rect">
            <a:avLst/>
          </a:prstGeom>
          <a:noFill/>
          <a:ln/>
        </p:spPr>
        <p:txBody>
          <a:bodyPr wrap="square" lIns="0" tIns="0" rIns="0" bIns="0" rtlCol="0" anchor="ctr"/>
          <a:lstStyle/>
          <a:p>
            <a:pPr marL="0" indent="0">
              <a:lnSpc>
                <a:spcPct val="100000"/>
              </a:lnSpc>
              <a:buNone/>
            </a:pPr>
            <a:r>
              <a:rPr lang="en-US" sz="1200" dirty="0">
                <a:solidFill>
                  <a:srgbClr val="6B7A8D"/>
                </a:solidFill>
                <a:latin typeface="Calibri" pitchFamily="34" charset="0"/>
                <a:ea typeface="Calibri" pitchFamily="34" charset="-122"/>
                <a:cs typeface="Calibri" pitchFamily="34" charset="-120"/>
              </a:rPr>
              <a:t>Two simultaneous loads on one account must not corrupt balance or allow overspend. Requires staging capacity coordination with Berkeley (Issue #13).</a:t>
            </a:r>
            <a:endParaRPr lang="en-US" sz="1200" dirty="0"/>
          </a:p>
        </p:txBody>
      </p:sp>
      <p:sp>
        <p:nvSpPr>
          <p:cNvPr id="14" name="Shape 10"/>
          <p:cNvSpPr/>
          <p:nvPr/>
        </p:nvSpPr>
        <p:spPr>
          <a:xfrm>
            <a:off x="548640" y="3822192"/>
            <a:ext cx="5303520"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15" name="Shape 11"/>
          <p:cNvSpPr/>
          <p:nvPr/>
        </p:nvSpPr>
        <p:spPr>
          <a:xfrm>
            <a:off x="768096" y="4069080"/>
            <a:ext cx="658368" cy="658368"/>
          </a:xfrm>
          <a:prstGeom prst="ellipse">
            <a:avLst/>
          </a:prstGeom>
          <a:solidFill>
            <a:srgbClr val="F2A65A"/>
          </a:solidFill>
          <a:ln/>
          <a:effectLst>
            <a:outerShdw blurRad="76200" dist="38100" dir="5400000" algn="bl" rotWithShape="0">
              <a:srgbClr val="000000">
                <a:alpha val="12000"/>
              </a:srgbClr>
            </a:outerShdw>
          </a:effectLst>
        </p:spPr>
      </p:sp>
      <p:pic>
        <p:nvPicPr>
          <p:cNvPr id="16" name="Image 2" descr="preencoded.png"/>
          <p:cNvPicPr>
            <a:picLocks noChangeAspect="1"/>
          </p:cNvPicPr>
          <p:nvPr/>
        </p:nvPicPr>
        <p:blipFill>
          <a:blip r:embed="rId5"/>
          <a:stretch>
            <a:fillRect/>
          </a:stretch>
        </p:blipFill>
        <p:spPr>
          <a:xfrm>
            <a:off x="939272" y="4240256"/>
            <a:ext cx="316017" cy="316017"/>
          </a:xfrm>
          <a:prstGeom prst="rect">
            <a:avLst/>
          </a:prstGeom>
        </p:spPr>
      </p:pic>
      <p:sp>
        <p:nvSpPr>
          <p:cNvPr id="17" name="Text 12"/>
          <p:cNvSpPr/>
          <p:nvPr/>
        </p:nvSpPr>
        <p:spPr>
          <a:xfrm>
            <a:off x="1554480" y="4023360"/>
            <a:ext cx="4160520" cy="402336"/>
          </a:xfrm>
          <a:prstGeom prst="rect">
            <a:avLst/>
          </a:prstGeom>
          <a:noFill/>
          <a:ln/>
        </p:spPr>
        <p:txBody>
          <a:bodyPr wrap="square" lIns="0" tIns="0" rIns="0" bIns="0" rtlCol="0" anchor="ctr"/>
          <a:lstStyle/>
          <a:p>
            <a:pPr marL="0" indent="0">
              <a:buNone/>
            </a:pPr>
            <a:r>
              <a:rPr lang="en-US" sz="1500" b="1" dirty="0">
                <a:solidFill>
                  <a:srgbClr val="1A2330"/>
                </a:solidFill>
                <a:latin typeface="Cambria" pitchFamily="34" charset="0"/>
                <a:ea typeface="Cambria" pitchFamily="34" charset="-122"/>
                <a:cs typeface="Cambria" pitchFamily="34" charset="-120"/>
              </a:rPr>
              <a:t>KYC / SIN field coverage</a:t>
            </a:r>
            <a:endParaRPr lang="en-US" sz="1500" dirty="0"/>
          </a:p>
        </p:txBody>
      </p:sp>
      <p:sp>
        <p:nvSpPr>
          <p:cNvPr id="18" name="Text 13"/>
          <p:cNvSpPr/>
          <p:nvPr/>
        </p:nvSpPr>
        <p:spPr>
          <a:xfrm>
            <a:off x="1554480" y="4416552"/>
            <a:ext cx="4160520" cy="1188720"/>
          </a:xfrm>
          <a:prstGeom prst="rect">
            <a:avLst/>
          </a:prstGeom>
          <a:noFill/>
          <a:ln/>
        </p:spPr>
        <p:txBody>
          <a:bodyPr wrap="square" lIns="0" tIns="0" rIns="0" bIns="0" rtlCol="0" anchor="ctr"/>
          <a:lstStyle/>
          <a:p>
            <a:pPr marL="0" indent="0">
              <a:lnSpc>
                <a:spcPct val="100000"/>
              </a:lnSpc>
              <a:buNone/>
            </a:pPr>
            <a:r>
              <a:rPr lang="en-US" sz="1200" dirty="0">
                <a:solidFill>
                  <a:srgbClr val="6B7A8D"/>
                </a:solidFill>
                <a:latin typeface="Calibri" pitchFamily="34" charset="0"/>
                <a:ea typeface="Calibri" pitchFamily="34" charset="-122"/>
                <a:cs typeface="Calibri" pitchFamily="34" charset="-120"/>
              </a:rPr>
              <a:t>createCardholder supports full KYC flows (sin field, kyc_additional_client_info, CIP). High compliance risk — out of scope for this project but critical for production readiness.</a:t>
            </a:r>
            <a:endParaRPr lang="en-US" sz="1200" dirty="0"/>
          </a:p>
        </p:txBody>
      </p:sp>
      <p:sp>
        <p:nvSpPr>
          <p:cNvPr id="19" name="Shape 14"/>
          <p:cNvSpPr/>
          <p:nvPr/>
        </p:nvSpPr>
        <p:spPr>
          <a:xfrm>
            <a:off x="6108192" y="3822192"/>
            <a:ext cx="5303520"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20" name="Shape 15"/>
          <p:cNvSpPr/>
          <p:nvPr/>
        </p:nvSpPr>
        <p:spPr>
          <a:xfrm>
            <a:off x="6327648" y="4069080"/>
            <a:ext cx="658368" cy="658368"/>
          </a:xfrm>
          <a:prstGeom prst="ellipse">
            <a:avLst/>
          </a:prstGeom>
          <a:solidFill>
            <a:srgbClr val="375623"/>
          </a:solidFill>
          <a:ln/>
          <a:effectLst>
            <a:outerShdw blurRad="76200" dist="38100" dir="5400000" algn="bl" rotWithShape="0">
              <a:srgbClr val="000000">
                <a:alpha val="12000"/>
              </a:srgbClr>
            </a:outerShdw>
          </a:effectLst>
        </p:spPr>
      </p:sp>
      <p:pic>
        <p:nvPicPr>
          <p:cNvPr id="21" name="Image 3" descr="preencoded.png"/>
          <p:cNvPicPr>
            <a:picLocks noChangeAspect="1"/>
          </p:cNvPicPr>
          <p:nvPr/>
        </p:nvPicPr>
        <p:blipFill>
          <a:blip r:embed="rId6"/>
          <a:stretch>
            <a:fillRect/>
          </a:stretch>
        </p:blipFill>
        <p:spPr>
          <a:xfrm>
            <a:off x="6498824" y="4240256"/>
            <a:ext cx="316017" cy="316017"/>
          </a:xfrm>
          <a:prstGeom prst="rect">
            <a:avLst/>
          </a:prstGeom>
        </p:spPr>
      </p:pic>
      <p:sp>
        <p:nvSpPr>
          <p:cNvPr id="22" name="Text 16"/>
          <p:cNvSpPr/>
          <p:nvPr/>
        </p:nvSpPr>
        <p:spPr>
          <a:xfrm>
            <a:off x="7114032" y="4023360"/>
            <a:ext cx="4160520" cy="402336"/>
          </a:xfrm>
          <a:prstGeom prst="rect">
            <a:avLst/>
          </a:prstGeom>
          <a:noFill/>
          <a:ln/>
        </p:spPr>
        <p:txBody>
          <a:bodyPr wrap="square" lIns="0" tIns="0" rIns="0" bIns="0" rtlCol="0" anchor="ctr"/>
          <a:lstStyle/>
          <a:p>
            <a:pPr marL="0" indent="0">
              <a:buNone/>
            </a:pPr>
            <a:r>
              <a:rPr lang="en-US" sz="1500" b="1" dirty="0">
                <a:solidFill>
                  <a:srgbClr val="1A2330"/>
                </a:solidFill>
                <a:latin typeface="Cambria" pitchFamily="34" charset="0"/>
                <a:ea typeface="Cambria" pitchFamily="34" charset="-122"/>
                <a:cs typeface="Cambria" pitchFamily="34" charset="-120"/>
              </a:rPr>
              <a:t>Production synthetic monitoring</a:t>
            </a:r>
            <a:endParaRPr lang="en-US" sz="1500" dirty="0"/>
          </a:p>
        </p:txBody>
      </p:sp>
      <p:sp>
        <p:nvSpPr>
          <p:cNvPr id="23" name="Text 17"/>
          <p:cNvSpPr/>
          <p:nvPr/>
        </p:nvSpPr>
        <p:spPr>
          <a:xfrm>
            <a:off x="7114032" y="4416552"/>
            <a:ext cx="4160520" cy="1188720"/>
          </a:xfrm>
          <a:prstGeom prst="rect">
            <a:avLst/>
          </a:prstGeom>
          <a:noFill/>
          <a:ln/>
        </p:spPr>
        <p:txBody>
          <a:bodyPr wrap="square" lIns="0" tIns="0" rIns="0" bIns="0" rtlCol="0" anchor="ctr"/>
          <a:lstStyle/>
          <a:p>
            <a:pPr marL="0" indent="0">
              <a:lnSpc>
                <a:spcPct val="100000"/>
              </a:lnSpc>
              <a:buNone/>
            </a:pPr>
            <a:r>
              <a:rPr lang="en-US" sz="1200" dirty="0">
                <a:solidFill>
                  <a:srgbClr val="6B7A8D"/>
                </a:solidFill>
                <a:latin typeface="Calibri" pitchFamily="34" charset="0"/>
                <a:ea typeface="Calibri" pitchFamily="34" charset="-122"/>
                <a:cs typeface="Calibri" pitchFamily="34" charset="-120"/>
              </a:rPr>
              <a:t>A scheduled Playwright suite against production (tiny amounts) to detect degradation before customers do. Runs nightly alongside the staging suite.</a:t>
            </a:r>
            <a:endParaRPr lang="en-US" sz="1200" dirty="0"/>
          </a:p>
        </p:txBody>
      </p:sp>
      <p:sp>
        <p:nvSpPr>
          <p:cNvPr id="24" name="Shape 18"/>
          <p:cNvSpPr/>
          <p:nvPr/>
        </p:nvSpPr>
        <p:spPr>
          <a:xfrm>
            <a:off x="548640" y="5888736"/>
            <a:ext cx="5303520"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25" name="Shape 19"/>
          <p:cNvSpPr/>
          <p:nvPr/>
        </p:nvSpPr>
        <p:spPr>
          <a:xfrm>
            <a:off x="768096" y="6135624"/>
            <a:ext cx="658368" cy="658368"/>
          </a:xfrm>
          <a:prstGeom prst="ellipse">
            <a:avLst/>
          </a:prstGeom>
          <a:solidFill>
            <a:srgbClr val="7F6000"/>
          </a:solidFill>
          <a:ln/>
          <a:effectLst>
            <a:outerShdw blurRad="76200" dist="38100" dir="5400000" algn="bl" rotWithShape="0">
              <a:srgbClr val="000000">
                <a:alpha val="12000"/>
              </a:srgbClr>
            </a:outerShdw>
          </a:effectLst>
        </p:spPr>
      </p:sp>
      <p:pic>
        <p:nvPicPr>
          <p:cNvPr id="26" name="Image 4" descr="preencoded.png"/>
          <p:cNvPicPr>
            <a:picLocks noChangeAspect="1"/>
          </p:cNvPicPr>
          <p:nvPr/>
        </p:nvPicPr>
        <p:blipFill>
          <a:blip r:embed="rId7"/>
          <a:stretch>
            <a:fillRect/>
          </a:stretch>
        </p:blipFill>
        <p:spPr>
          <a:xfrm>
            <a:off x="939272" y="6306800"/>
            <a:ext cx="316017" cy="316017"/>
          </a:xfrm>
          <a:prstGeom prst="rect">
            <a:avLst/>
          </a:prstGeom>
        </p:spPr>
      </p:pic>
      <p:sp>
        <p:nvSpPr>
          <p:cNvPr id="27" name="Text 20"/>
          <p:cNvSpPr/>
          <p:nvPr/>
        </p:nvSpPr>
        <p:spPr>
          <a:xfrm>
            <a:off x="1554480" y="6089904"/>
            <a:ext cx="4160520" cy="402336"/>
          </a:xfrm>
          <a:prstGeom prst="rect">
            <a:avLst/>
          </a:prstGeom>
          <a:noFill/>
          <a:ln/>
        </p:spPr>
        <p:txBody>
          <a:bodyPr wrap="square" lIns="0" tIns="0" rIns="0" bIns="0" rtlCol="0" anchor="ctr"/>
          <a:lstStyle/>
          <a:p>
            <a:pPr marL="0" indent="0">
              <a:buNone/>
            </a:pPr>
            <a:r>
              <a:rPr lang="en-US" sz="1500" b="1" dirty="0">
                <a:solidFill>
                  <a:srgbClr val="1A2330"/>
                </a:solidFill>
                <a:latin typeface="Cambria" pitchFamily="34" charset="0"/>
                <a:ea typeface="Cambria" pitchFamily="34" charset="-122"/>
                <a:cs typeface="Cambria" pitchFamily="34" charset="-120"/>
              </a:rPr>
              <a:t>Sanctioned load testing</a:t>
            </a:r>
            <a:endParaRPr lang="en-US" sz="1500" dirty="0"/>
          </a:p>
        </p:txBody>
      </p:sp>
      <p:sp>
        <p:nvSpPr>
          <p:cNvPr id="28" name="Text 21"/>
          <p:cNvSpPr/>
          <p:nvPr/>
        </p:nvSpPr>
        <p:spPr>
          <a:xfrm>
            <a:off x="1554480" y="6483096"/>
            <a:ext cx="4160520" cy="1188720"/>
          </a:xfrm>
          <a:prstGeom prst="rect">
            <a:avLst/>
          </a:prstGeom>
          <a:noFill/>
          <a:ln/>
        </p:spPr>
        <p:txBody>
          <a:bodyPr wrap="square" lIns="0" tIns="0" rIns="0" bIns="0" rtlCol="0" anchor="ctr"/>
          <a:lstStyle/>
          <a:p>
            <a:pPr marL="0" indent="0">
              <a:lnSpc>
                <a:spcPct val="100000"/>
              </a:lnSpc>
              <a:buNone/>
            </a:pPr>
            <a:r>
              <a:rPr lang="en-US" sz="1200" dirty="0">
                <a:solidFill>
                  <a:srgbClr val="6B7A8D"/>
                </a:solidFill>
                <a:latin typeface="Calibri" pitchFamily="34" charset="0"/>
                <a:ea typeface="Calibri" pitchFamily="34" charset="-122"/>
                <a:cs typeface="Calibri" pitchFamily="34" charset="-120"/>
              </a:rPr>
              <a:t>With Berkeley's sign-off on a dedicated staging slot: stress and soak tests to find the throughput ceiling and verify there's no balance drift under sustained load.</a:t>
            </a:r>
            <a:endParaRPr lang="en-US" sz="1200" dirty="0"/>
          </a:p>
        </p:txBody>
      </p:sp>
      <p:sp>
        <p:nvSpPr>
          <p:cNvPr id="29" name="Shape 22"/>
          <p:cNvSpPr/>
          <p:nvPr/>
        </p:nvSpPr>
        <p:spPr>
          <a:xfrm>
            <a:off x="6108192" y="5888736"/>
            <a:ext cx="5303520" cy="1920240"/>
          </a:xfrm>
          <a:prstGeom prst="roundRect">
            <a:avLst>
              <a:gd name="adj" fmla="val 3333"/>
            </a:avLst>
          </a:prstGeom>
          <a:solidFill>
            <a:srgbClr val="F4F8FB"/>
          </a:solidFill>
          <a:ln w="12700">
            <a:solidFill>
              <a:srgbClr val="DCE7F0"/>
            </a:solidFill>
            <a:prstDash val="solid"/>
          </a:ln>
          <a:effectLst>
            <a:outerShdw blurRad="76200" dist="38100" dir="5400000" algn="bl" rotWithShape="0">
              <a:srgbClr val="000000">
                <a:alpha val="12000"/>
              </a:srgbClr>
            </a:outerShdw>
          </a:effectLst>
        </p:spPr>
      </p:sp>
      <p:sp>
        <p:nvSpPr>
          <p:cNvPr id="30" name="Shape 23"/>
          <p:cNvSpPr/>
          <p:nvPr/>
        </p:nvSpPr>
        <p:spPr>
          <a:xfrm>
            <a:off x="6327648" y="6135624"/>
            <a:ext cx="658368" cy="658368"/>
          </a:xfrm>
          <a:prstGeom prst="ellipse">
            <a:avLst/>
          </a:prstGeom>
          <a:solidFill>
            <a:srgbClr val="6B7A8D"/>
          </a:solidFill>
          <a:ln/>
          <a:effectLst>
            <a:outerShdw blurRad="76200" dist="38100" dir="5400000" algn="bl" rotWithShape="0">
              <a:srgbClr val="000000">
                <a:alpha val="12000"/>
              </a:srgbClr>
            </a:outerShdw>
          </a:effectLst>
        </p:spPr>
      </p:sp>
      <p:pic>
        <p:nvPicPr>
          <p:cNvPr id="31" name="Image 5" descr="preencoded.png"/>
          <p:cNvPicPr>
            <a:picLocks noChangeAspect="1"/>
          </p:cNvPicPr>
          <p:nvPr/>
        </p:nvPicPr>
        <p:blipFill>
          <a:blip r:embed="rId8"/>
          <a:stretch>
            <a:fillRect/>
          </a:stretch>
        </p:blipFill>
        <p:spPr>
          <a:xfrm>
            <a:off x="6498824" y="6306800"/>
            <a:ext cx="316017" cy="316017"/>
          </a:xfrm>
          <a:prstGeom prst="rect">
            <a:avLst/>
          </a:prstGeom>
        </p:spPr>
      </p:pic>
      <p:sp>
        <p:nvSpPr>
          <p:cNvPr id="32" name="Text 24"/>
          <p:cNvSpPr/>
          <p:nvPr/>
        </p:nvSpPr>
        <p:spPr>
          <a:xfrm>
            <a:off x="7114032" y="6089904"/>
            <a:ext cx="4160520" cy="402336"/>
          </a:xfrm>
          <a:prstGeom prst="rect">
            <a:avLst/>
          </a:prstGeom>
          <a:noFill/>
          <a:ln/>
        </p:spPr>
        <p:txBody>
          <a:bodyPr wrap="square" lIns="0" tIns="0" rIns="0" bIns="0" rtlCol="0" anchor="ctr"/>
          <a:lstStyle/>
          <a:p>
            <a:pPr marL="0" indent="0">
              <a:buNone/>
            </a:pPr>
            <a:r>
              <a:rPr lang="en-US" sz="1500" b="1" dirty="0">
                <a:solidFill>
                  <a:srgbClr val="1A2330"/>
                </a:solidFill>
                <a:latin typeface="Cambria" pitchFamily="34" charset="0"/>
                <a:ea typeface="Cambria" pitchFamily="34" charset="-122"/>
                <a:cs typeface="Cambria" pitchFamily="34" charset="-120"/>
              </a:rPr>
              <a:t>Fix the 8 skipped tests</a:t>
            </a:r>
            <a:endParaRPr lang="en-US" sz="1500" dirty="0"/>
          </a:p>
        </p:txBody>
      </p:sp>
      <p:sp>
        <p:nvSpPr>
          <p:cNvPr id="33" name="Text 25"/>
          <p:cNvSpPr/>
          <p:nvPr/>
        </p:nvSpPr>
        <p:spPr>
          <a:xfrm>
            <a:off x="7114032" y="6483096"/>
            <a:ext cx="4160520" cy="1188720"/>
          </a:xfrm>
          <a:prstGeom prst="rect">
            <a:avLst/>
          </a:prstGeom>
          <a:noFill/>
          <a:ln/>
        </p:spPr>
        <p:txBody>
          <a:bodyPr wrap="square" lIns="0" tIns="0" rIns="0" bIns="0" rtlCol="0" anchor="ctr"/>
          <a:lstStyle/>
          <a:p>
            <a:pPr marL="0" indent="0">
              <a:lnSpc>
                <a:spcPct val="100000"/>
              </a:lnSpc>
              <a:buNone/>
            </a:pPr>
            <a:r>
              <a:rPr lang="en-US" sz="1200" dirty="0">
                <a:solidFill>
                  <a:srgbClr val="6B7A8D"/>
                </a:solidFill>
                <a:latin typeface="Calibri" pitchFamily="34" charset="0"/>
                <a:ea typeface="Calibri" pitchFamily="34" charset="-122"/>
                <a:cs typeface="Calibri" pitchFamily="34" charset="-120"/>
              </a:rPr>
              <a:t>All 8 are code-complete. Issues #18, #19, #20 need Berkeley engineering input — once resolved, activation is a one-line change per test (remove test.skip).</a:t>
            </a:r>
            <a:endParaRPr lang="en-US" sz="1200" dirty="0"/>
          </a:p>
        </p:txBody>
      </p:sp>
      <p:sp>
        <p:nvSpPr>
          <p:cNvPr id="34" name="Text 26"/>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11</a:t>
            </a:r>
            <a:endParaRPr lang="en-US" sz="1000" dirty="0"/>
          </a:p>
        </p:txBody>
      </p:sp>
      <p:sp>
        <p:nvSpPr>
          <p:cNvPr id="35" name="Text 27"/>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1645920" y="4114800"/>
            <a:ext cx="5303520" cy="5303520"/>
          </a:xfrm>
          <a:prstGeom prst="ellipse">
            <a:avLst/>
          </a:prstGeom>
          <a:solidFill>
            <a:srgbClr val="065A82">
              <a:alpha val="35000"/>
            </a:srgbClr>
          </a:solidFill>
          <a:ln/>
        </p:spPr>
      </p:sp>
      <p:sp>
        <p:nvSpPr>
          <p:cNvPr id="3" name="Shape 1"/>
          <p:cNvSpPr/>
          <p:nvPr/>
        </p:nvSpPr>
        <p:spPr>
          <a:xfrm>
            <a:off x="9875520" y="-1920240"/>
            <a:ext cx="4389120" cy="4389120"/>
          </a:xfrm>
          <a:prstGeom prst="ellipse">
            <a:avLst/>
          </a:prstGeom>
          <a:solidFill>
            <a:srgbClr val="2E75B6">
              <a:alpha val="40000"/>
            </a:srgbClr>
          </a:solidFill>
          <a:ln/>
        </p:spPr>
      </p:sp>
      <p:sp>
        <p:nvSpPr>
          <p:cNvPr id="4" name="Text 2"/>
          <p:cNvSpPr/>
          <p:nvPr/>
        </p:nvSpPr>
        <p:spPr>
          <a:xfrm>
            <a:off x="731520" y="621792"/>
            <a:ext cx="10058400" cy="347472"/>
          </a:xfrm>
          <a:prstGeom prst="rect">
            <a:avLst/>
          </a:prstGeom>
          <a:noFill/>
          <a:ln/>
        </p:spPr>
        <p:txBody>
          <a:bodyPr wrap="square" rtlCol="0" anchor="ctr"/>
          <a:lstStyle/>
          <a:p>
            <a:pPr marL="0" indent="0">
              <a:buNone/>
            </a:pPr>
            <a:r>
              <a:rPr lang="en-US" sz="1300" b="1" kern="0" spc="400" dirty="0">
                <a:solidFill>
                  <a:srgbClr val="F2A65A"/>
                </a:solidFill>
                <a:latin typeface="Calibri" pitchFamily="34" charset="0"/>
                <a:ea typeface="Calibri" pitchFamily="34" charset="-122"/>
                <a:cs typeface="Calibri" pitchFamily="34" charset="-120"/>
              </a:rPr>
              <a:t>THE FOUR-BEAT CLOSE</a:t>
            </a:r>
            <a:endParaRPr lang="en-US" sz="1300" dirty="0"/>
          </a:p>
        </p:txBody>
      </p:sp>
      <p:sp>
        <p:nvSpPr>
          <p:cNvPr id="5" name="Text 3"/>
          <p:cNvSpPr/>
          <p:nvPr/>
        </p:nvSpPr>
        <p:spPr>
          <a:xfrm>
            <a:off x="731520" y="969264"/>
            <a:ext cx="10058400" cy="694944"/>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Tying it together</a:t>
            </a:r>
            <a:endParaRPr lang="en-US" sz="3000" dirty="0"/>
          </a:p>
        </p:txBody>
      </p:sp>
      <p:sp>
        <p:nvSpPr>
          <p:cNvPr id="6" name="Shape 4"/>
          <p:cNvSpPr/>
          <p:nvPr/>
        </p:nvSpPr>
        <p:spPr>
          <a:xfrm>
            <a:off x="731520" y="1901952"/>
            <a:ext cx="5394960" cy="1371600"/>
          </a:xfrm>
          <a:prstGeom prst="roundRect">
            <a:avLst>
              <a:gd name="adj" fmla="val 5333"/>
            </a:avLst>
          </a:prstGeom>
          <a:solidFill>
            <a:srgbClr val="FFFFFF"/>
          </a:solidFill>
          <a:ln/>
          <a:effectLst>
            <a:outerShdw blurRad="76200" dist="38100" dir="5400000" algn="bl" rotWithShape="0">
              <a:srgbClr val="000000">
                <a:alpha val="12000"/>
              </a:srgbClr>
            </a:outerShdw>
          </a:effectLst>
        </p:spPr>
      </p:sp>
      <p:sp>
        <p:nvSpPr>
          <p:cNvPr id="7" name="Shape 5"/>
          <p:cNvSpPr/>
          <p:nvPr/>
        </p:nvSpPr>
        <p:spPr>
          <a:xfrm>
            <a:off x="987552" y="2240280"/>
            <a:ext cx="658368" cy="658368"/>
          </a:xfrm>
          <a:prstGeom prst="ellipse">
            <a:avLst/>
          </a:prstGeom>
          <a:solidFill>
            <a:srgbClr val="F2A65A"/>
          </a:solidFill>
          <a:ln/>
        </p:spPr>
      </p:sp>
      <p:sp>
        <p:nvSpPr>
          <p:cNvPr id="8" name="Text 6"/>
          <p:cNvSpPr/>
          <p:nvPr/>
        </p:nvSpPr>
        <p:spPr>
          <a:xfrm>
            <a:off x="987552" y="2240280"/>
            <a:ext cx="658368"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73936" y="2084832"/>
            <a:ext cx="4206240" cy="420624"/>
          </a:xfrm>
          <a:prstGeom prst="rect">
            <a:avLst/>
          </a:prstGeom>
          <a:noFill/>
          <a:ln/>
        </p:spPr>
        <p:txBody>
          <a:bodyPr wrap="square" lIns="0" tIns="0" rIns="0" bIns="0" rtlCol="0" anchor="ctr"/>
          <a:lstStyle/>
          <a:p>
            <a:pPr marL="0" indent="0">
              <a:buNone/>
            </a:pPr>
            <a:r>
              <a:rPr lang="en-US" sz="1600" b="1" dirty="0">
                <a:solidFill>
                  <a:srgbClr val="21295C"/>
                </a:solidFill>
                <a:latin typeface="Cambria" pitchFamily="34" charset="0"/>
                <a:ea typeface="Cambria" pitchFamily="34" charset="-122"/>
                <a:cs typeface="Cambria" pitchFamily="34" charset="-120"/>
              </a:rPr>
              <a:t>Frame by risk</a:t>
            </a:r>
            <a:endParaRPr lang="en-US" sz="1600" dirty="0"/>
          </a:p>
        </p:txBody>
      </p:sp>
      <p:sp>
        <p:nvSpPr>
          <p:cNvPr id="10" name="Text 8"/>
          <p:cNvSpPr/>
          <p:nvPr/>
        </p:nvSpPr>
        <p:spPr>
          <a:xfrm>
            <a:off x="1773936" y="2487168"/>
            <a:ext cx="4224528" cy="694944"/>
          </a:xfrm>
          <a:prstGeom prst="rect">
            <a:avLst/>
          </a:prstGeom>
          <a:noFill/>
          <a:ln/>
        </p:spPr>
        <p:txBody>
          <a:bodyPr wrap="square" lIns="0" tIns="0" rIns="0" bIns="0" rtlCol="0" anchor="ctr"/>
          <a:lstStyle/>
          <a:p>
            <a:pPr marL="0" indent="0">
              <a:lnSpc>
                <a:spcPct val="100000"/>
              </a:lnSpc>
              <a:buNone/>
            </a:pPr>
            <a:r>
              <a:rPr lang="en-US" sz="1200" i="1" dirty="0">
                <a:solidFill>
                  <a:srgbClr val="44546A"/>
                </a:solidFill>
                <a:latin typeface="Calibri" pitchFamily="34" charset="0"/>
                <a:ea typeface="Calibri" pitchFamily="34" charset="-122"/>
                <a:cs typeface="Calibri" pitchFamily="34" charset="-120"/>
              </a:rPr>
              <a:t>"Payments platform. I prioritised by money movement — Value Loads deepest, Programs lightest."</a:t>
            </a:r>
            <a:endParaRPr lang="en-US" sz="1200" dirty="0"/>
          </a:p>
        </p:txBody>
      </p:sp>
      <p:sp>
        <p:nvSpPr>
          <p:cNvPr id="11" name="Shape 9"/>
          <p:cNvSpPr/>
          <p:nvPr/>
        </p:nvSpPr>
        <p:spPr>
          <a:xfrm>
            <a:off x="6382512" y="1901952"/>
            <a:ext cx="5394960" cy="1371600"/>
          </a:xfrm>
          <a:prstGeom prst="roundRect">
            <a:avLst>
              <a:gd name="adj" fmla="val 5333"/>
            </a:avLst>
          </a:prstGeom>
          <a:solidFill>
            <a:srgbClr val="FFFFFF"/>
          </a:solidFill>
          <a:ln/>
          <a:effectLst>
            <a:outerShdw blurRad="76200" dist="38100" dir="5400000" algn="bl" rotWithShape="0">
              <a:srgbClr val="000000">
                <a:alpha val="12000"/>
              </a:srgbClr>
            </a:outerShdw>
          </a:effectLst>
        </p:spPr>
      </p:sp>
      <p:sp>
        <p:nvSpPr>
          <p:cNvPr id="12" name="Shape 10"/>
          <p:cNvSpPr/>
          <p:nvPr/>
        </p:nvSpPr>
        <p:spPr>
          <a:xfrm>
            <a:off x="6638544" y="2240280"/>
            <a:ext cx="658368" cy="658368"/>
          </a:xfrm>
          <a:prstGeom prst="ellipse">
            <a:avLst/>
          </a:prstGeom>
          <a:solidFill>
            <a:srgbClr val="F2A65A"/>
          </a:solidFill>
          <a:ln/>
        </p:spPr>
      </p:sp>
      <p:sp>
        <p:nvSpPr>
          <p:cNvPr id="13" name="Text 11"/>
          <p:cNvSpPr/>
          <p:nvPr/>
        </p:nvSpPr>
        <p:spPr>
          <a:xfrm>
            <a:off x="6638544" y="2240280"/>
            <a:ext cx="658368"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2"/>
          <p:cNvSpPr/>
          <p:nvPr/>
        </p:nvSpPr>
        <p:spPr>
          <a:xfrm>
            <a:off x="7424928" y="2084832"/>
            <a:ext cx="4206240" cy="420624"/>
          </a:xfrm>
          <a:prstGeom prst="rect">
            <a:avLst/>
          </a:prstGeom>
          <a:noFill/>
          <a:ln/>
        </p:spPr>
        <p:txBody>
          <a:bodyPr wrap="square" lIns="0" tIns="0" rIns="0" bIns="0" rtlCol="0" anchor="ctr"/>
          <a:lstStyle/>
          <a:p>
            <a:pPr marL="0" indent="0">
              <a:buNone/>
            </a:pPr>
            <a:r>
              <a:rPr lang="en-US" sz="1600" b="1" dirty="0">
                <a:solidFill>
                  <a:srgbClr val="21295C"/>
                </a:solidFill>
                <a:latin typeface="Cambria" pitchFamily="34" charset="0"/>
                <a:ea typeface="Cambria" pitchFamily="34" charset="-122"/>
                <a:cs typeface="Cambria" pitchFamily="34" charset="-120"/>
              </a:rPr>
              <a:t>Show the model</a:t>
            </a:r>
            <a:endParaRPr lang="en-US" sz="1600" dirty="0"/>
          </a:p>
        </p:txBody>
      </p:sp>
      <p:sp>
        <p:nvSpPr>
          <p:cNvPr id="15" name="Text 13"/>
          <p:cNvSpPr/>
          <p:nvPr/>
        </p:nvSpPr>
        <p:spPr>
          <a:xfrm>
            <a:off x="7424928" y="2487168"/>
            <a:ext cx="4224528" cy="694944"/>
          </a:xfrm>
          <a:prstGeom prst="rect">
            <a:avLst/>
          </a:prstGeom>
          <a:noFill/>
          <a:ln/>
        </p:spPr>
        <p:txBody>
          <a:bodyPr wrap="square" lIns="0" tIns="0" rIns="0" bIns="0" rtlCol="0" anchor="ctr"/>
          <a:lstStyle/>
          <a:p>
            <a:pPr marL="0" indent="0">
              <a:lnSpc>
                <a:spcPct val="100000"/>
              </a:lnSpc>
              <a:buNone/>
            </a:pPr>
            <a:r>
              <a:rPr lang="en-US" sz="1200" i="1" dirty="0">
                <a:solidFill>
                  <a:srgbClr val="44546A"/>
                </a:solidFill>
                <a:latin typeface="Calibri" pitchFamily="34" charset="0"/>
                <a:ea typeface="Calibri" pitchFamily="34" charset="-122"/>
                <a:cs typeface="Calibri" pitchFamily="34" charset="-120"/>
              </a:rPr>
              <a:t>"Inverted pyramid for an API consumer: heavy at integration, light at UI I don't own."</a:t>
            </a:r>
            <a:endParaRPr lang="en-US" sz="1200" dirty="0"/>
          </a:p>
        </p:txBody>
      </p:sp>
      <p:sp>
        <p:nvSpPr>
          <p:cNvPr id="16" name="Shape 14"/>
          <p:cNvSpPr/>
          <p:nvPr/>
        </p:nvSpPr>
        <p:spPr>
          <a:xfrm>
            <a:off x="731520" y="3511296"/>
            <a:ext cx="5394960" cy="1371600"/>
          </a:xfrm>
          <a:prstGeom prst="roundRect">
            <a:avLst>
              <a:gd name="adj" fmla="val 5333"/>
            </a:avLst>
          </a:prstGeom>
          <a:solidFill>
            <a:srgbClr val="FFFFFF"/>
          </a:solidFill>
          <a:ln/>
          <a:effectLst>
            <a:outerShdw blurRad="76200" dist="38100" dir="5400000" algn="bl" rotWithShape="0">
              <a:srgbClr val="000000">
                <a:alpha val="12000"/>
              </a:srgbClr>
            </a:outerShdw>
          </a:effectLst>
        </p:spPr>
      </p:sp>
      <p:sp>
        <p:nvSpPr>
          <p:cNvPr id="17" name="Shape 15"/>
          <p:cNvSpPr/>
          <p:nvPr/>
        </p:nvSpPr>
        <p:spPr>
          <a:xfrm>
            <a:off x="987552" y="3849624"/>
            <a:ext cx="658368" cy="658368"/>
          </a:xfrm>
          <a:prstGeom prst="ellipse">
            <a:avLst/>
          </a:prstGeom>
          <a:solidFill>
            <a:srgbClr val="F2A65A"/>
          </a:solidFill>
          <a:ln/>
        </p:spPr>
      </p:sp>
      <p:sp>
        <p:nvSpPr>
          <p:cNvPr id="18" name="Text 16"/>
          <p:cNvSpPr/>
          <p:nvPr/>
        </p:nvSpPr>
        <p:spPr>
          <a:xfrm>
            <a:off x="987552" y="3849624"/>
            <a:ext cx="658368"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1773936" y="3694176"/>
            <a:ext cx="4206240" cy="420624"/>
          </a:xfrm>
          <a:prstGeom prst="rect">
            <a:avLst/>
          </a:prstGeom>
          <a:noFill/>
          <a:ln/>
        </p:spPr>
        <p:txBody>
          <a:bodyPr wrap="square" lIns="0" tIns="0" rIns="0" bIns="0" rtlCol="0" anchor="ctr"/>
          <a:lstStyle/>
          <a:p>
            <a:pPr marL="0" indent="0">
              <a:buNone/>
            </a:pPr>
            <a:r>
              <a:rPr lang="en-US" sz="1600" b="1" dirty="0">
                <a:solidFill>
                  <a:srgbClr val="21295C"/>
                </a:solidFill>
                <a:latin typeface="Cambria" pitchFamily="34" charset="0"/>
                <a:ea typeface="Cambria" pitchFamily="34" charset="-122"/>
                <a:cs typeface="Cambria" pitchFamily="34" charset="-120"/>
              </a:rPr>
              <a:t>Demonstrate depth</a:t>
            </a:r>
            <a:endParaRPr lang="en-US" sz="1600" dirty="0"/>
          </a:p>
        </p:txBody>
      </p:sp>
      <p:sp>
        <p:nvSpPr>
          <p:cNvPr id="20" name="Text 18"/>
          <p:cNvSpPr/>
          <p:nvPr/>
        </p:nvSpPr>
        <p:spPr>
          <a:xfrm>
            <a:off x="1773936" y="4096512"/>
            <a:ext cx="4224528" cy="694944"/>
          </a:xfrm>
          <a:prstGeom prst="rect">
            <a:avLst/>
          </a:prstGeom>
          <a:noFill/>
          <a:ln/>
        </p:spPr>
        <p:txBody>
          <a:bodyPr wrap="square" lIns="0" tIns="0" rIns="0" bIns="0" rtlCol="0" anchor="ctr"/>
          <a:lstStyle/>
          <a:p>
            <a:pPr marL="0" indent="0">
              <a:lnSpc>
                <a:spcPct val="100000"/>
              </a:lnSpc>
              <a:buNone/>
            </a:pPr>
            <a:r>
              <a:rPr lang="en-US" sz="1200" i="1" dirty="0">
                <a:solidFill>
                  <a:srgbClr val="44546A"/>
                </a:solidFill>
                <a:latin typeface="Calibri" pitchFamily="34" charset="0"/>
                <a:ea typeface="Calibri" pitchFamily="34" charset="-122"/>
                <a:cs typeface="Calibri" pitchFamily="34" charset="-120"/>
              </a:rPr>
              <a:t>"98 tests. Binary search. Globally scoped idempotency. Three documented bugs with source URLs."</a:t>
            </a:r>
            <a:endParaRPr lang="en-US" sz="1200" dirty="0"/>
          </a:p>
        </p:txBody>
      </p:sp>
      <p:sp>
        <p:nvSpPr>
          <p:cNvPr id="21" name="Shape 19"/>
          <p:cNvSpPr/>
          <p:nvPr/>
        </p:nvSpPr>
        <p:spPr>
          <a:xfrm>
            <a:off x="6382512" y="3511296"/>
            <a:ext cx="5394960" cy="1371600"/>
          </a:xfrm>
          <a:prstGeom prst="roundRect">
            <a:avLst>
              <a:gd name="adj" fmla="val 5333"/>
            </a:avLst>
          </a:prstGeom>
          <a:solidFill>
            <a:srgbClr val="FFFFFF"/>
          </a:solidFill>
          <a:ln/>
          <a:effectLst>
            <a:outerShdw blurRad="76200" dist="38100" dir="5400000" algn="bl" rotWithShape="0">
              <a:srgbClr val="000000">
                <a:alpha val="12000"/>
              </a:srgbClr>
            </a:outerShdw>
          </a:effectLst>
        </p:spPr>
      </p:sp>
      <p:sp>
        <p:nvSpPr>
          <p:cNvPr id="22" name="Shape 20"/>
          <p:cNvSpPr/>
          <p:nvPr/>
        </p:nvSpPr>
        <p:spPr>
          <a:xfrm>
            <a:off x="6638544" y="3849624"/>
            <a:ext cx="658368" cy="658368"/>
          </a:xfrm>
          <a:prstGeom prst="ellipse">
            <a:avLst/>
          </a:prstGeom>
          <a:solidFill>
            <a:srgbClr val="F2A65A"/>
          </a:solidFill>
          <a:ln/>
        </p:spPr>
      </p:sp>
      <p:sp>
        <p:nvSpPr>
          <p:cNvPr id="23" name="Text 21"/>
          <p:cNvSpPr/>
          <p:nvPr/>
        </p:nvSpPr>
        <p:spPr>
          <a:xfrm>
            <a:off x="6638544" y="3849624"/>
            <a:ext cx="658368"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2"/>
          <p:cNvSpPr/>
          <p:nvPr/>
        </p:nvSpPr>
        <p:spPr>
          <a:xfrm>
            <a:off x="7424928" y="3694176"/>
            <a:ext cx="4206240" cy="420624"/>
          </a:xfrm>
          <a:prstGeom prst="rect">
            <a:avLst/>
          </a:prstGeom>
          <a:noFill/>
          <a:ln/>
        </p:spPr>
        <p:txBody>
          <a:bodyPr wrap="square" lIns="0" tIns="0" rIns="0" bIns="0" rtlCol="0" anchor="ctr"/>
          <a:lstStyle/>
          <a:p>
            <a:pPr marL="0" indent="0">
              <a:buNone/>
            </a:pPr>
            <a:r>
              <a:rPr lang="en-US" sz="1600" b="1" dirty="0">
                <a:solidFill>
                  <a:srgbClr val="21295C"/>
                </a:solidFill>
                <a:latin typeface="Cambria" pitchFamily="34" charset="0"/>
                <a:ea typeface="Cambria" pitchFamily="34" charset="-122"/>
                <a:cs typeface="Cambria" pitchFamily="34" charset="-120"/>
              </a:rPr>
              <a:t>Recommend beyond reach</a:t>
            </a:r>
            <a:endParaRPr lang="en-US" sz="1600" dirty="0"/>
          </a:p>
        </p:txBody>
      </p:sp>
      <p:sp>
        <p:nvSpPr>
          <p:cNvPr id="25" name="Text 23"/>
          <p:cNvSpPr/>
          <p:nvPr/>
        </p:nvSpPr>
        <p:spPr>
          <a:xfrm>
            <a:off x="7424928" y="4096512"/>
            <a:ext cx="4224528" cy="694944"/>
          </a:xfrm>
          <a:prstGeom prst="rect">
            <a:avLst/>
          </a:prstGeom>
          <a:noFill/>
          <a:ln/>
        </p:spPr>
        <p:txBody>
          <a:bodyPr wrap="square" lIns="0" tIns="0" rIns="0" bIns="0" rtlCol="0" anchor="ctr"/>
          <a:lstStyle/>
          <a:p>
            <a:pPr marL="0" indent="0">
              <a:lnSpc>
                <a:spcPct val="100000"/>
              </a:lnSpc>
              <a:buNone/>
            </a:pPr>
            <a:r>
              <a:rPr lang="en-US" sz="1200" i="1" dirty="0">
                <a:solidFill>
                  <a:srgbClr val="44546A"/>
                </a:solidFill>
                <a:latin typeface="Calibri" pitchFamily="34" charset="0"/>
                <a:ea typeface="Calibri" pitchFamily="34" charset="-122"/>
                <a:cs typeface="Calibri" pitchFamily="34" charset="-120"/>
              </a:rPr>
              <a:t>"Pact contract tests, ledger grey-box, unit coverage on Berkeley's balance arithmetic."</a:t>
            </a:r>
            <a:endParaRPr lang="en-US" sz="1200" dirty="0"/>
          </a:p>
        </p:txBody>
      </p:sp>
      <p:sp>
        <p:nvSpPr>
          <p:cNvPr id="26" name="Text 24"/>
          <p:cNvSpPr/>
          <p:nvPr/>
        </p:nvSpPr>
        <p:spPr>
          <a:xfrm>
            <a:off x="731520" y="5394960"/>
            <a:ext cx="10698480" cy="502920"/>
          </a:xfrm>
          <a:prstGeom prst="rect">
            <a:avLst/>
          </a:prstGeom>
          <a:solidFill>
            <a:srgbClr val="F2A65A"/>
          </a:solidFill>
          <a:ln/>
        </p:spPr>
        <p:txBody>
          <a:bodyPr wrap="square" lIns="101600" tIns="101600" rIns="101600" bIns="101600" rtlCol="0" anchor="ctr"/>
          <a:lstStyle/>
          <a:p>
            <a:pPr marL="0" indent="0" algn="ctr">
              <a:buNone/>
            </a:pPr>
            <a:r>
              <a:rPr lang="en-US" sz="1400" b="1" dirty="0">
                <a:solidFill>
                  <a:srgbClr val="21295C"/>
                </a:solidFill>
                <a:latin typeface="Calibri" pitchFamily="34" charset="0"/>
                <a:ea typeface="Calibri" pitchFamily="34" charset="-122"/>
                <a:cs typeface="Calibri" pitchFamily="34" charset="-120"/>
              </a:rPr>
              <a:t>Highest-priority test: money conservation on value load/unload. If that invariant breaks, nothing else matters.</a:t>
            </a:r>
            <a:endParaRPr lang="en-US" sz="1400" dirty="0"/>
          </a:p>
        </p:txBody>
      </p:sp>
      <p:sp>
        <p:nvSpPr>
          <p:cNvPr id="27" name="Text 25"/>
          <p:cNvSpPr/>
          <p:nvPr/>
        </p:nvSpPr>
        <p:spPr>
          <a:xfrm>
            <a:off x="11338560" y="6382512"/>
            <a:ext cx="457200" cy="256032"/>
          </a:xfrm>
          <a:prstGeom prst="rect">
            <a:avLst/>
          </a:prstGeom>
          <a:noFill/>
          <a:ln/>
        </p:spPr>
        <p:txBody>
          <a:bodyPr wrap="square" rtlCol="0" anchor="ctr"/>
          <a:lstStyle/>
          <a:p>
            <a:pPr marL="0" indent="0" algn="r">
              <a:buNone/>
            </a:pPr>
            <a:r>
              <a:rPr lang="en-US" sz="1000" dirty="0">
                <a:solidFill>
                  <a:srgbClr val="6B7A8D"/>
                </a:solidFill>
                <a:latin typeface="Calibri" pitchFamily="34" charset="0"/>
                <a:ea typeface="Calibri" pitchFamily="34" charset="-122"/>
                <a:cs typeface="Calibri" pitchFamily="34" charset="-120"/>
              </a:rPr>
              <a:t>12</a:t>
            </a:r>
            <a:endParaRPr lang="en-US" sz="1000" dirty="0"/>
          </a:p>
        </p:txBody>
      </p:sp>
      <p:sp>
        <p:nvSpPr>
          <p:cNvPr id="28" name="Text 26"/>
          <p:cNvSpPr/>
          <p:nvPr/>
        </p:nvSpPr>
        <p:spPr>
          <a:xfrm>
            <a:off x="457200" y="6382512"/>
            <a:ext cx="6400800" cy="256032"/>
          </a:xfrm>
          <a:prstGeom prst="rect">
            <a:avLst/>
          </a:prstGeom>
          <a:noFill/>
          <a:ln/>
        </p:spPr>
        <p:txBody>
          <a:bodyPr wrap="square" rtlCol="0" anchor="ctr"/>
          <a:lstStyle/>
          <a:p>
            <a:pPr marL="0" indent="0">
              <a:buNone/>
            </a:pPr>
            <a:r>
              <a:rPr lang="en-US" sz="1000" dirty="0">
                <a:solidFill>
                  <a:srgbClr val="6B7A8D"/>
                </a:solidFill>
                <a:latin typeface="Calibri" pitchFamily="34" charset="0"/>
                <a:ea typeface="Calibri" pitchFamily="34" charset="-122"/>
                <a:cs typeface="Calibri" pitchFamily="34" charset="-120"/>
              </a:rPr>
              <a:t>Berkeley Payments · QA Test Strategy &amp; Findings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2518</Words>
  <Application>Microsoft Office PowerPoint</Application>
  <PresentationFormat>Widescreen</PresentationFormat>
  <Paragraphs>263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Berkeley Payments — QA Test Strategy &amp; Findings</dc:title>
  <dc:subject>PptxGenJS Presentation</dc:subject>
  <dc:creator>PptxGenJS</dc:creator>
  <cp:lastModifiedBy>Parvez Islam</cp:lastModifiedBy>
  <cp:revision>2</cp:revision>
  <dcterms:created xsi:type="dcterms:W3CDTF">2026-06-19T16:39:34Z</dcterms:created>
  <dcterms:modified xsi:type="dcterms:W3CDTF">2026-06-19T18:50:45Z</dcterms:modified>
</cp:coreProperties>
</file>